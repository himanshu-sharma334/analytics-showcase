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6" d="100"/>
          <a:sy n="106" d="100"/>
        </p:scale>
        <p:origin x="778"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4918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00D4FF">
              <a:alpha val="8000"/>
            </a:srgbClr>
          </a:solidFill>
          <a:ln w="12700">
            <a:solidFill>
              <a:srgbClr val="00D4FF">
                <a:alpha val="8000"/>
              </a:srgbClr>
            </a:solidFill>
            <a:prstDash val="solid"/>
          </a:ln>
        </p:spPr>
      </p:sp>
      <p:sp>
        <p:nvSpPr>
          <p:cNvPr id="3" name="Shape 1"/>
          <p:cNvSpPr/>
          <p:nvPr/>
        </p:nvSpPr>
        <p:spPr>
          <a:xfrm>
            <a:off x="6400800" y="-1828800"/>
            <a:ext cx="5486400" cy="5486400"/>
          </a:xfrm>
          <a:prstGeom prst="ellipse">
            <a:avLst/>
          </a:prstGeom>
          <a:solidFill>
            <a:srgbClr val="9B7FFF">
              <a:alpha val="8000"/>
            </a:srgbClr>
          </a:solidFill>
          <a:ln w="12700">
            <a:solidFill>
              <a:srgbClr val="9B7FFF">
                <a:alpha val="8000"/>
              </a:srgbClr>
            </a:solidFill>
            <a:prstDash val="solid"/>
          </a:ln>
        </p:spPr>
      </p:sp>
      <p:sp>
        <p:nvSpPr>
          <p:cNvPr id="4" name="Shape 2"/>
          <p:cNvSpPr/>
          <p:nvPr/>
        </p:nvSpPr>
        <p:spPr>
          <a:xfrm>
            <a:off x="0" y="0"/>
            <a:ext cx="64008" cy="5143500"/>
          </a:xfrm>
          <a:prstGeom prst="rect">
            <a:avLst/>
          </a:prstGeom>
          <a:solidFill>
            <a:srgbClr val="00D4FF"/>
          </a:solidFill>
          <a:ln w="12700">
            <a:solidFill>
              <a:srgbClr val="00D4FF"/>
            </a:solidFill>
            <a:prstDash val="solid"/>
          </a:ln>
        </p:spPr>
      </p:sp>
      <p:sp>
        <p:nvSpPr>
          <p:cNvPr id="5" name="Shape 3"/>
          <p:cNvSpPr/>
          <p:nvPr/>
        </p:nvSpPr>
        <p:spPr>
          <a:xfrm>
            <a:off x="502920" y="777240"/>
            <a:ext cx="2743200" cy="292608"/>
          </a:xfrm>
          <a:prstGeom prst="rect">
            <a:avLst/>
          </a:prstGeom>
          <a:solidFill>
            <a:srgbClr val="00D4FF">
              <a:alpha val="85000"/>
            </a:srgbClr>
          </a:solidFill>
          <a:ln w="12700">
            <a:solidFill>
              <a:srgbClr val="00D4FF"/>
            </a:solidFill>
            <a:prstDash val="solid"/>
          </a:ln>
        </p:spPr>
      </p:sp>
      <p:sp>
        <p:nvSpPr>
          <p:cNvPr id="6" name="Text 4"/>
          <p:cNvSpPr/>
          <p:nvPr/>
        </p:nvSpPr>
        <p:spPr>
          <a:xfrm>
            <a:off x="502920" y="795528"/>
            <a:ext cx="2743200" cy="256032"/>
          </a:xfrm>
          <a:prstGeom prst="rect">
            <a:avLst/>
          </a:prstGeom>
          <a:noFill/>
          <a:ln/>
        </p:spPr>
        <p:txBody>
          <a:bodyPr wrap="square" rtlCol="0" anchor="ctr"/>
          <a:lstStyle/>
          <a:p>
            <a:pPr marL="0" indent="0" algn="ctr">
              <a:buNone/>
            </a:pPr>
            <a:r>
              <a:rPr lang="en-US" sz="700" b="1" kern="0" spc="100" dirty="0">
                <a:solidFill>
                  <a:srgbClr val="FFFFFF"/>
                </a:solidFill>
              </a:rPr>
              <a:t>CAPSTONE PROJECT  ·  DATA ANALYTICS  ·  POLAND</a:t>
            </a:r>
            <a:endParaRPr lang="en-US" sz="700" dirty="0"/>
          </a:p>
        </p:txBody>
      </p:sp>
      <p:sp>
        <p:nvSpPr>
          <p:cNvPr id="7" name="Text 5"/>
          <p:cNvSpPr/>
          <p:nvPr/>
        </p:nvSpPr>
        <p:spPr>
          <a:xfrm>
            <a:off x="457200" y="1170432"/>
            <a:ext cx="8229600" cy="713232"/>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Warsaw EV Charging</a:t>
            </a:r>
            <a:endParaRPr lang="en-US" sz="4200" dirty="0"/>
          </a:p>
        </p:txBody>
      </p:sp>
      <p:sp>
        <p:nvSpPr>
          <p:cNvPr id="8" name="Text 6"/>
          <p:cNvSpPr/>
          <p:nvPr/>
        </p:nvSpPr>
        <p:spPr>
          <a:xfrm>
            <a:off x="457200" y="1847088"/>
            <a:ext cx="8229600" cy="566928"/>
          </a:xfrm>
          <a:prstGeom prst="rect">
            <a:avLst/>
          </a:prstGeom>
          <a:noFill/>
          <a:ln/>
        </p:spPr>
        <p:txBody>
          <a:bodyPr wrap="square" rtlCol="0" anchor="ctr"/>
          <a:lstStyle/>
          <a:p>
            <a:pPr marL="0" indent="0">
              <a:buNone/>
            </a:pPr>
            <a:r>
              <a:rPr lang="en-US" sz="3400" b="1" dirty="0">
                <a:solidFill>
                  <a:srgbClr val="00D4FF"/>
                </a:solidFill>
                <a:latin typeface="Calibri" pitchFamily="34" charset="0"/>
                <a:ea typeface="Calibri" pitchFamily="34" charset="-122"/>
                <a:cs typeface="Calibri" pitchFamily="34" charset="-120"/>
              </a:rPr>
              <a:t>Network — Complete Analysis</a:t>
            </a:r>
            <a:endParaRPr lang="en-US" sz="3400" dirty="0"/>
          </a:p>
        </p:txBody>
      </p:sp>
      <p:sp>
        <p:nvSpPr>
          <p:cNvPr id="9" name="Text 7"/>
          <p:cNvSpPr/>
          <p:nvPr/>
        </p:nvSpPr>
        <p:spPr>
          <a:xfrm>
            <a:off x="502920" y="2487168"/>
            <a:ext cx="6858000" cy="292608"/>
          </a:xfrm>
          <a:prstGeom prst="rect">
            <a:avLst/>
          </a:prstGeom>
          <a:noFill/>
          <a:ln/>
        </p:spPr>
        <p:txBody>
          <a:bodyPr wrap="square" rtlCol="0" anchor="ctr"/>
          <a:lstStyle/>
          <a:p>
            <a:pPr marL="0" indent="0">
              <a:buNone/>
            </a:pPr>
            <a:r>
              <a:rPr lang="en-US" sz="1200" dirty="0">
                <a:solidFill>
                  <a:srgbClr val="7A90B0"/>
                </a:solidFill>
              </a:rPr>
              <a:t>SQL Analysis  ·  Power BI Dashboard Insights  ·  Machine Learning Models</a:t>
            </a:r>
            <a:endParaRPr lang="en-US" sz="1200" dirty="0"/>
          </a:p>
        </p:txBody>
      </p:sp>
      <p:sp>
        <p:nvSpPr>
          <p:cNvPr id="10" name="Shape 8"/>
          <p:cNvSpPr/>
          <p:nvPr/>
        </p:nvSpPr>
        <p:spPr>
          <a:xfrm>
            <a:off x="502920" y="2880360"/>
            <a:ext cx="4572000" cy="18288"/>
          </a:xfrm>
          <a:prstGeom prst="rect">
            <a:avLst/>
          </a:prstGeom>
          <a:solidFill>
            <a:srgbClr val="1A2E4A"/>
          </a:solidFill>
          <a:ln w="12700">
            <a:solidFill>
              <a:srgbClr val="1A2E4A"/>
            </a:solidFill>
            <a:prstDash val="solid"/>
          </a:ln>
        </p:spPr>
      </p:sp>
      <p:sp>
        <p:nvSpPr>
          <p:cNvPr id="11" name="Text 9"/>
          <p:cNvSpPr/>
          <p:nvPr/>
        </p:nvSpPr>
        <p:spPr>
          <a:xfrm>
            <a:off x="502920" y="2999232"/>
            <a:ext cx="2743200" cy="237744"/>
          </a:xfrm>
          <a:prstGeom prst="rect">
            <a:avLst/>
          </a:prstGeom>
          <a:noFill/>
          <a:ln/>
        </p:spPr>
        <p:txBody>
          <a:bodyPr wrap="square" rtlCol="0" anchor="ctr"/>
          <a:lstStyle/>
          <a:p>
            <a:pPr marL="0" indent="0">
              <a:buNone/>
            </a:pPr>
            <a:r>
              <a:rPr lang="en-US" sz="1000" dirty="0">
                <a:solidFill>
                  <a:srgbClr val="7A90B0"/>
                </a:solidFill>
              </a:rPr>
              <a:t>Presented by</a:t>
            </a:r>
            <a:endParaRPr lang="en-US" sz="1000" dirty="0"/>
          </a:p>
        </p:txBody>
      </p:sp>
      <p:sp>
        <p:nvSpPr>
          <p:cNvPr id="12" name="Text 10"/>
          <p:cNvSpPr/>
          <p:nvPr/>
        </p:nvSpPr>
        <p:spPr>
          <a:xfrm>
            <a:off x="502920" y="3236976"/>
            <a:ext cx="5029200" cy="438912"/>
          </a:xfrm>
          <a:prstGeom prst="rect">
            <a:avLst/>
          </a:prstGeom>
          <a:noFill/>
          <a:ln/>
        </p:spPr>
        <p:txBody>
          <a:bodyPr wrap="square" rtlCol="0" anchor="ctr"/>
          <a:lstStyle/>
          <a:p>
            <a:pPr marL="0" indent="0">
              <a:buNone/>
            </a:pPr>
            <a:r>
              <a:rPr lang="en-US" sz="2400" b="1" dirty="0">
                <a:solidFill>
                  <a:srgbClr val="FFFFFF"/>
                </a:solidFill>
              </a:rPr>
              <a:t>Himanshu Sharma</a:t>
            </a:r>
          </a:p>
        </p:txBody>
      </p:sp>
      <p:sp>
        <p:nvSpPr>
          <p:cNvPr id="13" name="Text 11"/>
          <p:cNvSpPr/>
          <p:nvPr/>
        </p:nvSpPr>
        <p:spPr>
          <a:xfrm>
            <a:off x="502920" y="3694176"/>
            <a:ext cx="5486400" cy="237744"/>
          </a:xfrm>
          <a:prstGeom prst="rect">
            <a:avLst/>
          </a:prstGeom>
          <a:noFill/>
          <a:ln/>
        </p:spPr>
        <p:txBody>
          <a:bodyPr wrap="square" rtlCol="0" anchor="ctr"/>
          <a:lstStyle/>
          <a:p>
            <a:pPr marL="0" indent="0">
              <a:buNone/>
            </a:pPr>
            <a:r>
              <a:rPr lang="en-US" sz="1100" dirty="0">
                <a:solidFill>
                  <a:srgbClr val="7A90B0"/>
                </a:solidFill>
              </a:rPr>
              <a:t>Data Analyst  ·  Warsaw EV Infrastructure Team</a:t>
            </a:r>
            <a:endParaRPr lang="en-US" sz="1100" dirty="0"/>
          </a:p>
        </p:txBody>
      </p:sp>
      <p:sp>
        <p:nvSpPr>
          <p:cNvPr id="14" name="Shape 12"/>
          <p:cNvSpPr/>
          <p:nvPr/>
        </p:nvSpPr>
        <p:spPr>
          <a:xfrm>
            <a:off x="6217920" y="1371600"/>
            <a:ext cx="914400" cy="1371600"/>
          </a:xfrm>
          <a:prstGeom prst="rect">
            <a:avLst/>
          </a:prstGeom>
          <a:solidFill>
            <a:srgbClr val="111C2E"/>
          </a:solidFill>
          <a:ln w="12700">
            <a:solidFill>
              <a:srgbClr val="00D4FF"/>
            </a:solidFill>
            <a:prstDash val="solid"/>
          </a:ln>
          <a:effectLst>
            <a:outerShdw blurRad="127000" dist="38100" dir="8100000" algn="bl" rotWithShape="0">
              <a:srgbClr val="000000">
                <a:alpha val="30000"/>
              </a:srgbClr>
            </a:outerShdw>
          </a:effectLst>
        </p:spPr>
      </p:sp>
      <p:sp>
        <p:nvSpPr>
          <p:cNvPr id="15" name="Text 13"/>
          <p:cNvSpPr/>
          <p:nvPr/>
        </p:nvSpPr>
        <p:spPr>
          <a:xfrm>
            <a:off x="6217920" y="1426464"/>
            <a:ext cx="914400" cy="274320"/>
          </a:xfrm>
          <a:prstGeom prst="rect">
            <a:avLst/>
          </a:prstGeom>
          <a:noFill/>
          <a:ln/>
        </p:spPr>
        <p:txBody>
          <a:bodyPr wrap="square" rtlCol="0" anchor="ctr"/>
          <a:lstStyle/>
          <a:p>
            <a:pPr marL="0" indent="0" algn="ctr">
              <a:buNone/>
            </a:pPr>
            <a:r>
              <a:rPr lang="en-US" sz="1000" b="1" dirty="0">
                <a:solidFill>
                  <a:srgbClr val="00D4FF"/>
                </a:solidFill>
              </a:rPr>
              <a:t>Part 1</a:t>
            </a:r>
            <a:endParaRPr lang="en-US" sz="1000" dirty="0"/>
          </a:p>
        </p:txBody>
      </p:sp>
      <p:sp>
        <p:nvSpPr>
          <p:cNvPr id="16" name="Text 14"/>
          <p:cNvSpPr/>
          <p:nvPr/>
        </p:nvSpPr>
        <p:spPr>
          <a:xfrm>
            <a:off x="6217920" y="1719072"/>
            <a:ext cx="914400" cy="502920"/>
          </a:xfrm>
          <a:prstGeom prst="rect">
            <a:avLst/>
          </a:prstGeom>
          <a:noFill/>
          <a:ln/>
        </p:spPr>
        <p:txBody>
          <a:bodyPr wrap="square" rtlCol="0" anchor="ctr"/>
          <a:lstStyle/>
          <a:p>
            <a:pPr marL="0" indent="0" algn="ctr">
              <a:buNone/>
            </a:pPr>
            <a:r>
              <a:rPr lang="en-US" sz="900" dirty="0">
                <a:solidFill>
                  <a:srgbClr val="7A90B0"/>
                </a:solidFill>
              </a:rPr>
              <a:t>SQL Queries</a:t>
            </a:r>
            <a:endParaRPr lang="en-US" sz="900" dirty="0"/>
          </a:p>
          <a:p>
            <a:pPr marL="0" indent="0" algn="ctr">
              <a:buNone/>
            </a:pPr>
            <a:r>
              <a:rPr lang="en-US" sz="900" dirty="0">
                <a:solidFill>
                  <a:srgbClr val="7A90B0"/>
                </a:solidFill>
              </a:rPr>
              <a:t>14 Questions</a:t>
            </a:r>
            <a:endParaRPr lang="en-US" sz="900" dirty="0"/>
          </a:p>
        </p:txBody>
      </p:sp>
      <p:sp>
        <p:nvSpPr>
          <p:cNvPr id="17" name="Shape 15"/>
          <p:cNvSpPr/>
          <p:nvPr/>
        </p:nvSpPr>
        <p:spPr>
          <a:xfrm>
            <a:off x="7205472" y="1371600"/>
            <a:ext cx="914400" cy="1371600"/>
          </a:xfrm>
          <a:prstGeom prst="rect">
            <a:avLst/>
          </a:prstGeom>
          <a:solidFill>
            <a:srgbClr val="111C2E"/>
          </a:solidFill>
          <a:ln w="12700">
            <a:solidFill>
              <a:srgbClr val="00E5A0"/>
            </a:solidFill>
            <a:prstDash val="solid"/>
          </a:ln>
          <a:effectLst>
            <a:outerShdw blurRad="127000" dist="38100" dir="8100000" algn="bl" rotWithShape="0">
              <a:srgbClr val="000000">
                <a:alpha val="30000"/>
              </a:srgbClr>
            </a:outerShdw>
          </a:effectLst>
        </p:spPr>
      </p:sp>
      <p:sp>
        <p:nvSpPr>
          <p:cNvPr id="18" name="Text 16"/>
          <p:cNvSpPr/>
          <p:nvPr/>
        </p:nvSpPr>
        <p:spPr>
          <a:xfrm>
            <a:off x="7205472" y="1426464"/>
            <a:ext cx="914400" cy="274320"/>
          </a:xfrm>
          <a:prstGeom prst="rect">
            <a:avLst/>
          </a:prstGeom>
          <a:noFill/>
          <a:ln/>
        </p:spPr>
        <p:txBody>
          <a:bodyPr wrap="square" rtlCol="0" anchor="ctr"/>
          <a:lstStyle/>
          <a:p>
            <a:pPr marL="0" indent="0" algn="ctr">
              <a:buNone/>
            </a:pPr>
            <a:r>
              <a:rPr lang="en-US" sz="1000" b="1" dirty="0">
                <a:solidFill>
                  <a:srgbClr val="00E5A0"/>
                </a:solidFill>
              </a:rPr>
              <a:t>Part 2</a:t>
            </a:r>
            <a:endParaRPr lang="en-US" sz="1000" dirty="0"/>
          </a:p>
        </p:txBody>
      </p:sp>
      <p:sp>
        <p:nvSpPr>
          <p:cNvPr id="19" name="Text 17"/>
          <p:cNvSpPr/>
          <p:nvPr/>
        </p:nvSpPr>
        <p:spPr>
          <a:xfrm>
            <a:off x="7205472" y="1719072"/>
            <a:ext cx="914400" cy="502920"/>
          </a:xfrm>
          <a:prstGeom prst="rect">
            <a:avLst/>
          </a:prstGeom>
          <a:noFill/>
          <a:ln/>
        </p:spPr>
        <p:txBody>
          <a:bodyPr wrap="square" rtlCol="0" anchor="ctr"/>
          <a:lstStyle/>
          <a:p>
            <a:pPr marL="0" indent="0" algn="ctr">
              <a:buNone/>
            </a:pPr>
            <a:r>
              <a:rPr lang="en-US" sz="900" dirty="0">
                <a:solidFill>
                  <a:srgbClr val="7A90B0"/>
                </a:solidFill>
              </a:rPr>
              <a:t>Power BI</a:t>
            </a:r>
            <a:endParaRPr lang="en-US" sz="900" dirty="0"/>
          </a:p>
          <a:p>
            <a:pPr marL="0" indent="0" algn="ctr">
              <a:buNone/>
            </a:pPr>
            <a:r>
              <a:rPr lang="en-US" sz="900" dirty="0">
                <a:solidFill>
                  <a:srgbClr val="7A90B0"/>
                </a:solidFill>
              </a:rPr>
              <a:t>Dashboard</a:t>
            </a:r>
            <a:endParaRPr lang="en-US" sz="900" dirty="0"/>
          </a:p>
        </p:txBody>
      </p:sp>
      <p:sp>
        <p:nvSpPr>
          <p:cNvPr id="20" name="Shape 18"/>
          <p:cNvSpPr/>
          <p:nvPr/>
        </p:nvSpPr>
        <p:spPr>
          <a:xfrm>
            <a:off x="8193024" y="1371600"/>
            <a:ext cx="914400" cy="1371600"/>
          </a:xfrm>
          <a:prstGeom prst="rect">
            <a:avLst/>
          </a:prstGeom>
          <a:solidFill>
            <a:srgbClr val="111C2E"/>
          </a:solidFill>
          <a:ln w="12700">
            <a:solidFill>
              <a:srgbClr val="9B7FFF"/>
            </a:solidFill>
            <a:prstDash val="solid"/>
          </a:ln>
          <a:effectLst>
            <a:outerShdw blurRad="127000" dist="38100" dir="8100000" algn="bl" rotWithShape="0">
              <a:srgbClr val="000000">
                <a:alpha val="30000"/>
              </a:srgbClr>
            </a:outerShdw>
          </a:effectLst>
        </p:spPr>
      </p:sp>
      <p:sp>
        <p:nvSpPr>
          <p:cNvPr id="21" name="Text 19"/>
          <p:cNvSpPr/>
          <p:nvPr/>
        </p:nvSpPr>
        <p:spPr>
          <a:xfrm>
            <a:off x="8193024" y="1426464"/>
            <a:ext cx="914400" cy="274320"/>
          </a:xfrm>
          <a:prstGeom prst="rect">
            <a:avLst/>
          </a:prstGeom>
          <a:noFill/>
          <a:ln/>
        </p:spPr>
        <p:txBody>
          <a:bodyPr wrap="square" rtlCol="0" anchor="ctr"/>
          <a:lstStyle/>
          <a:p>
            <a:pPr marL="0" indent="0" algn="ctr">
              <a:buNone/>
            </a:pPr>
            <a:r>
              <a:rPr lang="en-US" sz="1000" b="1" dirty="0">
                <a:solidFill>
                  <a:srgbClr val="9B7FFF"/>
                </a:solidFill>
              </a:rPr>
              <a:t>Part 3</a:t>
            </a:r>
            <a:endParaRPr lang="en-US" sz="1000" dirty="0"/>
          </a:p>
        </p:txBody>
      </p:sp>
      <p:sp>
        <p:nvSpPr>
          <p:cNvPr id="22" name="Text 20"/>
          <p:cNvSpPr/>
          <p:nvPr/>
        </p:nvSpPr>
        <p:spPr>
          <a:xfrm>
            <a:off x="8193024" y="1719072"/>
            <a:ext cx="914400" cy="502920"/>
          </a:xfrm>
          <a:prstGeom prst="rect">
            <a:avLst/>
          </a:prstGeom>
          <a:noFill/>
          <a:ln/>
        </p:spPr>
        <p:txBody>
          <a:bodyPr wrap="square" rtlCol="0" anchor="ctr"/>
          <a:lstStyle/>
          <a:p>
            <a:pPr marL="0" indent="0" algn="ctr">
              <a:buNone/>
            </a:pPr>
            <a:r>
              <a:rPr lang="en-US" sz="900" dirty="0">
                <a:solidFill>
                  <a:srgbClr val="7A90B0"/>
                </a:solidFill>
              </a:rPr>
              <a:t>Machine</a:t>
            </a:r>
            <a:endParaRPr lang="en-US" sz="900" dirty="0"/>
          </a:p>
          <a:p>
            <a:pPr marL="0" indent="0" algn="ctr">
              <a:buNone/>
            </a:pPr>
            <a:r>
              <a:rPr lang="en-US" sz="900" dirty="0">
                <a:solidFill>
                  <a:srgbClr val="7A90B0"/>
                </a:solidFill>
              </a:rPr>
              <a:t>Learning</a:t>
            </a:r>
            <a:endParaRPr lang="en-US" sz="900" dirty="0"/>
          </a:p>
        </p:txBody>
      </p:sp>
      <p:sp>
        <p:nvSpPr>
          <p:cNvPr id="23" name="Shape 21"/>
          <p:cNvSpPr/>
          <p:nvPr/>
        </p:nvSpPr>
        <p:spPr>
          <a:xfrm>
            <a:off x="6217920" y="3017520"/>
            <a:ext cx="685800" cy="822960"/>
          </a:xfrm>
          <a:prstGeom prst="rect">
            <a:avLst/>
          </a:prstGeom>
          <a:solidFill>
            <a:srgbClr val="0D1829"/>
          </a:solidFill>
          <a:ln w="12700">
            <a:solidFill>
              <a:srgbClr val="1A2E4A"/>
            </a:solidFill>
            <a:prstDash val="solid"/>
          </a:ln>
        </p:spPr>
      </p:sp>
      <p:sp>
        <p:nvSpPr>
          <p:cNvPr id="24" name="Text 22"/>
          <p:cNvSpPr/>
          <p:nvPr/>
        </p:nvSpPr>
        <p:spPr>
          <a:xfrm>
            <a:off x="6217920" y="3054096"/>
            <a:ext cx="685800" cy="329184"/>
          </a:xfrm>
          <a:prstGeom prst="rect">
            <a:avLst/>
          </a:prstGeom>
          <a:noFill/>
          <a:ln/>
        </p:spPr>
        <p:txBody>
          <a:bodyPr wrap="square" rtlCol="0" anchor="ctr"/>
          <a:lstStyle/>
          <a:p>
            <a:pPr marL="0" indent="0" algn="ctr">
              <a:buNone/>
            </a:pPr>
            <a:r>
              <a:rPr lang="en-US" sz="1200" b="1" dirty="0">
                <a:solidFill>
                  <a:srgbClr val="00D4FF"/>
                </a:solidFill>
              </a:rPr>
              <a:t>114K</a:t>
            </a:r>
            <a:endParaRPr lang="en-US" sz="1200" dirty="0"/>
          </a:p>
        </p:txBody>
      </p:sp>
      <p:sp>
        <p:nvSpPr>
          <p:cNvPr id="25" name="Text 23"/>
          <p:cNvSpPr/>
          <p:nvPr/>
        </p:nvSpPr>
        <p:spPr>
          <a:xfrm>
            <a:off x="6217920" y="3383280"/>
            <a:ext cx="685800" cy="219456"/>
          </a:xfrm>
          <a:prstGeom prst="rect">
            <a:avLst/>
          </a:prstGeom>
          <a:noFill/>
          <a:ln/>
        </p:spPr>
        <p:txBody>
          <a:bodyPr wrap="square" rtlCol="0" anchor="ctr"/>
          <a:lstStyle/>
          <a:p>
            <a:pPr marL="0" indent="0" algn="ctr">
              <a:buNone/>
            </a:pPr>
            <a:r>
              <a:rPr lang="en-US" sz="800" dirty="0">
                <a:solidFill>
                  <a:srgbClr val="7A90B0"/>
                </a:solidFill>
              </a:rPr>
              <a:t>Sessions</a:t>
            </a:r>
            <a:endParaRPr lang="en-US" sz="800" dirty="0"/>
          </a:p>
        </p:txBody>
      </p:sp>
      <p:sp>
        <p:nvSpPr>
          <p:cNvPr id="26" name="Shape 24"/>
          <p:cNvSpPr/>
          <p:nvPr/>
        </p:nvSpPr>
        <p:spPr>
          <a:xfrm>
            <a:off x="6967728" y="3017520"/>
            <a:ext cx="685800" cy="822960"/>
          </a:xfrm>
          <a:prstGeom prst="rect">
            <a:avLst/>
          </a:prstGeom>
          <a:solidFill>
            <a:srgbClr val="0D1829"/>
          </a:solidFill>
          <a:ln w="12700">
            <a:solidFill>
              <a:srgbClr val="1A2E4A"/>
            </a:solidFill>
            <a:prstDash val="solid"/>
          </a:ln>
        </p:spPr>
      </p:sp>
      <p:sp>
        <p:nvSpPr>
          <p:cNvPr id="27" name="Text 25"/>
          <p:cNvSpPr/>
          <p:nvPr/>
        </p:nvSpPr>
        <p:spPr>
          <a:xfrm>
            <a:off x="6967728" y="3054096"/>
            <a:ext cx="685800" cy="329184"/>
          </a:xfrm>
          <a:prstGeom prst="rect">
            <a:avLst/>
          </a:prstGeom>
          <a:noFill/>
          <a:ln/>
        </p:spPr>
        <p:txBody>
          <a:bodyPr wrap="square" rtlCol="0" anchor="ctr"/>
          <a:lstStyle/>
          <a:p>
            <a:pPr marL="0" indent="0" algn="ctr">
              <a:buNone/>
            </a:pPr>
            <a:r>
              <a:rPr lang="en-US" sz="1200" b="1" dirty="0">
                <a:solidFill>
                  <a:srgbClr val="00D4FF"/>
                </a:solidFill>
              </a:rPr>
              <a:t>65</a:t>
            </a:r>
            <a:endParaRPr lang="en-US" sz="1200" dirty="0"/>
          </a:p>
        </p:txBody>
      </p:sp>
      <p:sp>
        <p:nvSpPr>
          <p:cNvPr id="28" name="Text 26"/>
          <p:cNvSpPr/>
          <p:nvPr/>
        </p:nvSpPr>
        <p:spPr>
          <a:xfrm>
            <a:off x="6967728" y="3383280"/>
            <a:ext cx="685800" cy="219456"/>
          </a:xfrm>
          <a:prstGeom prst="rect">
            <a:avLst/>
          </a:prstGeom>
          <a:noFill/>
          <a:ln/>
        </p:spPr>
        <p:txBody>
          <a:bodyPr wrap="square" rtlCol="0" anchor="ctr"/>
          <a:lstStyle/>
          <a:p>
            <a:pPr marL="0" indent="0" algn="ctr">
              <a:buNone/>
            </a:pPr>
            <a:r>
              <a:rPr lang="en-US" sz="800" dirty="0">
                <a:solidFill>
                  <a:srgbClr val="7A90B0"/>
                </a:solidFill>
              </a:rPr>
              <a:t>Stations</a:t>
            </a:r>
            <a:endParaRPr lang="en-US" sz="800" dirty="0"/>
          </a:p>
        </p:txBody>
      </p:sp>
      <p:sp>
        <p:nvSpPr>
          <p:cNvPr id="29" name="Shape 27"/>
          <p:cNvSpPr/>
          <p:nvPr/>
        </p:nvSpPr>
        <p:spPr>
          <a:xfrm>
            <a:off x="7717536" y="3017520"/>
            <a:ext cx="685800" cy="822960"/>
          </a:xfrm>
          <a:prstGeom prst="rect">
            <a:avLst/>
          </a:prstGeom>
          <a:solidFill>
            <a:srgbClr val="0D1829"/>
          </a:solidFill>
          <a:ln w="12700">
            <a:solidFill>
              <a:srgbClr val="1A2E4A"/>
            </a:solidFill>
            <a:prstDash val="solid"/>
          </a:ln>
        </p:spPr>
      </p:sp>
      <p:sp>
        <p:nvSpPr>
          <p:cNvPr id="30" name="Text 28"/>
          <p:cNvSpPr/>
          <p:nvPr/>
        </p:nvSpPr>
        <p:spPr>
          <a:xfrm>
            <a:off x="7717536" y="3054096"/>
            <a:ext cx="685800" cy="329184"/>
          </a:xfrm>
          <a:prstGeom prst="rect">
            <a:avLst/>
          </a:prstGeom>
          <a:noFill/>
          <a:ln/>
        </p:spPr>
        <p:txBody>
          <a:bodyPr wrap="square" rtlCol="0" anchor="ctr"/>
          <a:lstStyle/>
          <a:p>
            <a:pPr marL="0" indent="0" algn="ctr">
              <a:buNone/>
            </a:pPr>
            <a:r>
              <a:rPr lang="en-US" sz="1200" b="1" dirty="0">
                <a:solidFill>
                  <a:srgbClr val="00D4FF"/>
                </a:solidFill>
              </a:rPr>
              <a:t>18</a:t>
            </a:r>
            <a:endParaRPr lang="en-US" sz="1200" dirty="0"/>
          </a:p>
        </p:txBody>
      </p:sp>
      <p:sp>
        <p:nvSpPr>
          <p:cNvPr id="31" name="Text 29"/>
          <p:cNvSpPr/>
          <p:nvPr/>
        </p:nvSpPr>
        <p:spPr>
          <a:xfrm>
            <a:off x="7717536" y="3383280"/>
            <a:ext cx="685800" cy="219456"/>
          </a:xfrm>
          <a:prstGeom prst="rect">
            <a:avLst/>
          </a:prstGeom>
          <a:noFill/>
          <a:ln/>
        </p:spPr>
        <p:txBody>
          <a:bodyPr wrap="square" rtlCol="0" anchor="ctr"/>
          <a:lstStyle/>
          <a:p>
            <a:pPr marL="0" indent="0" algn="ctr">
              <a:buNone/>
            </a:pPr>
            <a:r>
              <a:rPr lang="en-US" sz="800" dirty="0">
                <a:solidFill>
                  <a:srgbClr val="7A90B0"/>
                </a:solidFill>
              </a:rPr>
              <a:t>Districts</a:t>
            </a:r>
            <a:endParaRPr lang="en-US" sz="800" dirty="0"/>
          </a:p>
        </p:txBody>
      </p:sp>
      <p:sp>
        <p:nvSpPr>
          <p:cNvPr id="32" name="Shape 30"/>
          <p:cNvSpPr/>
          <p:nvPr/>
        </p:nvSpPr>
        <p:spPr>
          <a:xfrm>
            <a:off x="8467344" y="3017520"/>
            <a:ext cx="685800" cy="822960"/>
          </a:xfrm>
          <a:prstGeom prst="rect">
            <a:avLst/>
          </a:prstGeom>
          <a:solidFill>
            <a:srgbClr val="0D1829"/>
          </a:solidFill>
          <a:ln w="12700">
            <a:solidFill>
              <a:srgbClr val="1A2E4A"/>
            </a:solidFill>
            <a:prstDash val="solid"/>
          </a:ln>
        </p:spPr>
      </p:sp>
      <p:sp>
        <p:nvSpPr>
          <p:cNvPr id="33" name="Text 31"/>
          <p:cNvSpPr/>
          <p:nvPr/>
        </p:nvSpPr>
        <p:spPr>
          <a:xfrm>
            <a:off x="8467344" y="3054096"/>
            <a:ext cx="685800" cy="329184"/>
          </a:xfrm>
          <a:prstGeom prst="rect">
            <a:avLst/>
          </a:prstGeom>
          <a:noFill/>
          <a:ln/>
        </p:spPr>
        <p:txBody>
          <a:bodyPr wrap="square" rtlCol="0" anchor="ctr"/>
          <a:lstStyle/>
          <a:p>
            <a:pPr marL="0" indent="0" algn="ctr">
              <a:buNone/>
            </a:pPr>
            <a:r>
              <a:rPr lang="en-US" sz="1200" b="1" dirty="0">
                <a:solidFill>
                  <a:srgbClr val="00D4FF"/>
                </a:solidFill>
              </a:rPr>
              <a:t>8K</a:t>
            </a:r>
            <a:endParaRPr lang="en-US" sz="1200" dirty="0"/>
          </a:p>
        </p:txBody>
      </p:sp>
      <p:sp>
        <p:nvSpPr>
          <p:cNvPr id="34" name="Text 32"/>
          <p:cNvSpPr/>
          <p:nvPr/>
        </p:nvSpPr>
        <p:spPr>
          <a:xfrm>
            <a:off x="8467344" y="3383280"/>
            <a:ext cx="685800" cy="219456"/>
          </a:xfrm>
          <a:prstGeom prst="rect">
            <a:avLst/>
          </a:prstGeom>
          <a:noFill/>
          <a:ln/>
        </p:spPr>
        <p:txBody>
          <a:bodyPr wrap="square" rtlCol="0" anchor="ctr"/>
          <a:lstStyle/>
          <a:p>
            <a:pPr marL="0" indent="0" algn="ctr">
              <a:buNone/>
            </a:pPr>
            <a:r>
              <a:rPr lang="en-US" sz="800" dirty="0">
                <a:solidFill>
                  <a:srgbClr val="7A90B0"/>
                </a:solidFill>
              </a:rPr>
              <a:t>Customers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120"/>
          </a:solidFill>
          <a:ln w="12700">
            <a:solidFill>
              <a:srgbClr val="0B1120"/>
            </a:solidFill>
            <a:prstDash val="solid"/>
          </a:ln>
        </p:spPr>
      </p:sp>
      <p:sp>
        <p:nvSpPr>
          <p:cNvPr id="3" name="Shape 1"/>
          <p:cNvSpPr/>
          <p:nvPr/>
        </p:nvSpPr>
        <p:spPr>
          <a:xfrm>
            <a:off x="-1371600" y="1828800"/>
            <a:ext cx="4572000" cy="4572000"/>
          </a:xfrm>
          <a:prstGeom prst="ellipse">
            <a:avLst/>
          </a:prstGeom>
          <a:solidFill>
            <a:srgbClr val="00D4FF">
              <a:alpha val="8000"/>
            </a:srgbClr>
          </a:solidFill>
          <a:ln w="12700">
            <a:solidFill>
              <a:srgbClr val="00D4FF">
                <a:alpha val="8000"/>
              </a:srgbClr>
            </a:solidFill>
            <a:prstDash val="solid"/>
          </a:ln>
        </p:spPr>
      </p:sp>
      <p:sp>
        <p:nvSpPr>
          <p:cNvPr id="4" name="Shape 2"/>
          <p:cNvSpPr/>
          <p:nvPr/>
        </p:nvSpPr>
        <p:spPr>
          <a:xfrm>
            <a:off x="6400800" y="-914400"/>
            <a:ext cx="4572000" cy="4572000"/>
          </a:xfrm>
          <a:prstGeom prst="ellipse">
            <a:avLst/>
          </a:prstGeom>
          <a:solidFill>
            <a:srgbClr val="00D4FF">
              <a:alpha val="8000"/>
            </a:srgbClr>
          </a:solidFill>
          <a:ln w="12700">
            <a:solidFill>
              <a:srgbClr val="00D4FF">
                <a:alpha val="8000"/>
              </a:srgbClr>
            </a:solidFill>
            <a:prstDash val="solid"/>
          </a:ln>
        </p:spPr>
      </p:sp>
      <p:sp>
        <p:nvSpPr>
          <p:cNvPr id="5" name="Shape 3"/>
          <p:cNvSpPr/>
          <p:nvPr/>
        </p:nvSpPr>
        <p:spPr>
          <a:xfrm>
            <a:off x="0" y="0"/>
            <a:ext cx="64008" cy="5143500"/>
          </a:xfrm>
          <a:prstGeom prst="rect">
            <a:avLst/>
          </a:prstGeom>
          <a:solidFill>
            <a:srgbClr val="00D4FF"/>
          </a:solidFill>
          <a:ln w="12700">
            <a:solidFill>
              <a:srgbClr val="00D4FF"/>
            </a:solidFill>
            <a:prstDash val="solid"/>
          </a:ln>
        </p:spPr>
      </p:sp>
      <p:sp>
        <p:nvSpPr>
          <p:cNvPr id="6" name="Shape 4"/>
          <p:cNvSpPr/>
          <p:nvPr/>
        </p:nvSpPr>
        <p:spPr>
          <a:xfrm>
            <a:off x="2286000" y="1645920"/>
            <a:ext cx="4572000" cy="18288"/>
          </a:xfrm>
          <a:prstGeom prst="rect">
            <a:avLst/>
          </a:prstGeom>
          <a:solidFill>
            <a:srgbClr val="1A2E4A"/>
          </a:solidFill>
          <a:ln w="12700">
            <a:solidFill>
              <a:srgbClr val="1A2E4A"/>
            </a:solidFill>
            <a:prstDash val="solid"/>
          </a:ln>
        </p:spPr>
      </p:sp>
      <p:sp>
        <p:nvSpPr>
          <p:cNvPr id="7" name="Text 5"/>
          <p:cNvSpPr/>
          <p:nvPr/>
        </p:nvSpPr>
        <p:spPr>
          <a:xfrm>
            <a:off x="2286000" y="1737360"/>
            <a:ext cx="4572000" cy="292608"/>
          </a:xfrm>
          <a:prstGeom prst="rect">
            <a:avLst/>
          </a:prstGeom>
          <a:noFill/>
          <a:ln/>
        </p:spPr>
        <p:txBody>
          <a:bodyPr wrap="square" rtlCol="0" anchor="ctr"/>
          <a:lstStyle/>
          <a:p>
            <a:pPr marL="0" indent="0" algn="ctr">
              <a:buNone/>
            </a:pPr>
            <a:r>
              <a:rPr lang="en-US" sz="1100" b="1" kern="0" spc="400" dirty="0">
                <a:solidFill>
                  <a:srgbClr val="00D4FF"/>
                </a:solidFill>
              </a:rPr>
              <a:t>PART 1</a:t>
            </a:r>
            <a:endParaRPr lang="en-US" sz="1100" dirty="0"/>
          </a:p>
        </p:txBody>
      </p:sp>
      <p:sp>
        <p:nvSpPr>
          <p:cNvPr id="8" name="Text 6"/>
          <p:cNvSpPr/>
          <p:nvPr/>
        </p:nvSpPr>
        <p:spPr>
          <a:xfrm>
            <a:off x="1097280" y="2029968"/>
            <a:ext cx="6949440" cy="685800"/>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SQL Analysis</a:t>
            </a:r>
            <a:endParaRPr lang="en-US" sz="3800" dirty="0"/>
          </a:p>
        </p:txBody>
      </p:sp>
      <p:sp>
        <p:nvSpPr>
          <p:cNvPr id="9" name="Text 7"/>
          <p:cNvSpPr/>
          <p:nvPr/>
        </p:nvSpPr>
        <p:spPr>
          <a:xfrm>
            <a:off x="1371600" y="2788920"/>
            <a:ext cx="6400800" cy="347472"/>
          </a:xfrm>
          <a:prstGeom prst="rect">
            <a:avLst/>
          </a:prstGeom>
          <a:noFill/>
          <a:ln/>
        </p:spPr>
        <p:txBody>
          <a:bodyPr wrap="square" rtlCol="0" anchor="ctr"/>
          <a:lstStyle/>
          <a:p>
            <a:pPr marL="0" indent="0" algn="ctr">
              <a:buNone/>
            </a:pPr>
            <a:r>
              <a:rPr lang="en-US" sz="1300" i="1" dirty="0">
                <a:solidFill>
                  <a:srgbClr val="7A90B0"/>
                </a:solidFill>
              </a:rPr>
              <a:t>14 Queries — Basic to Advanced · Verified Results</a:t>
            </a:r>
            <a:endParaRPr lang="en-US" sz="1300" dirty="0"/>
          </a:p>
        </p:txBody>
      </p:sp>
      <p:sp>
        <p:nvSpPr>
          <p:cNvPr id="10" name="Shape 8"/>
          <p:cNvSpPr/>
          <p:nvPr/>
        </p:nvSpPr>
        <p:spPr>
          <a:xfrm>
            <a:off x="2286000" y="3200400"/>
            <a:ext cx="4572000" cy="18288"/>
          </a:xfrm>
          <a:prstGeom prst="rect">
            <a:avLst/>
          </a:prstGeom>
          <a:solidFill>
            <a:srgbClr val="1A2E4A"/>
          </a:solidFill>
          <a:ln w="12700">
            <a:solidFill>
              <a:srgbClr val="1A2E4A"/>
            </a:solidFill>
            <a:prstDash val="solid"/>
          </a:ln>
        </p:spPr>
      </p:sp>
      <p:sp>
        <p:nvSpPr>
          <p:cNvPr id="11" name="Shape 9"/>
          <p:cNvSpPr/>
          <p:nvPr/>
        </p:nvSpPr>
        <p:spPr>
          <a:xfrm>
            <a:off x="731520" y="3401568"/>
            <a:ext cx="2606040" cy="1444752"/>
          </a:xfrm>
          <a:prstGeom prst="rect">
            <a:avLst/>
          </a:prstGeom>
          <a:solidFill>
            <a:srgbClr val="111C2E"/>
          </a:solidFill>
          <a:ln w="12700">
            <a:solidFill>
              <a:srgbClr val="00E5A0"/>
            </a:solidFill>
            <a:prstDash val="solid"/>
          </a:ln>
          <a:effectLst>
            <a:outerShdw blurRad="127000" dist="38100" dir="8100000" algn="bl" rotWithShape="0">
              <a:srgbClr val="000000">
                <a:alpha val="30000"/>
              </a:srgbClr>
            </a:outerShdw>
          </a:effectLst>
        </p:spPr>
      </p:sp>
      <p:sp>
        <p:nvSpPr>
          <p:cNvPr id="12" name="Shape 10"/>
          <p:cNvSpPr/>
          <p:nvPr/>
        </p:nvSpPr>
        <p:spPr>
          <a:xfrm>
            <a:off x="731520" y="3401568"/>
            <a:ext cx="2606040" cy="36576"/>
          </a:xfrm>
          <a:prstGeom prst="rect">
            <a:avLst/>
          </a:prstGeom>
          <a:solidFill>
            <a:srgbClr val="00E5A0"/>
          </a:solidFill>
          <a:ln w="12700">
            <a:solidFill>
              <a:srgbClr val="00E5A0"/>
            </a:solidFill>
            <a:prstDash val="solid"/>
          </a:ln>
        </p:spPr>
      </p:sp>
      <p:sp>
        <p:nvSpPr>
          <p:cNvPr id="13" name="Text 11"/>
          <p:cNvSpPr/>
          <p:nvPr/>
        </p:nvSpPr>
        <p:spPr>
          <a:xfrm>
            <a:off x="822960" y="3493008"/>
            <a:ext cx="2423160" cy="274320"/>
          </a:xfrm>
          <a:prstGeom prst="rect">
            <a:avLst/>
          </a:prstGeom>
          <a:noFill/>
          <a:ln/>
        </p:spPr>
        <p:txBody>
          <a:bodyPr wrap="square" rtlCol="0" anchor="ctr"/>
          <a:lstStyle/>
          <a:p>
            <a:pPr marL="0" indent="0">
              <a:buNone/>
            </a:pPr>
            <a:r>
              <a:rPr lang="en-US" sz="1100" b="1" dirty="0">
                <a:solidFill>
                  <a:srgbClr val="00E5A0"/>
                </a:solidFill>
              </a:rPr>
              <a:t>Basic (Q1–Q5)</a:t>
            </a:r>
            <a:endParaRPr lang="en-US" sz="1100" dirty="0"/>
          </a:p>
        </p:txBody>
      </p:sp>
      <p:sp>
        <p:nvSpPr>
          <p:cNvPr id="14" name="Text 12"/>
          <p:cNvSpPr/>
          <p:nvPr/>
        </p:nvSpPr>
        <p:spPr>
          <a:xfrm>
            <a:off x="822960" y="3803904"/>
            <a:ext cx="2423160" cy="594360"/>
          </a:xfrm>
          <a:prstGeom prst="rect">
            <a:avLst/>
          </a:prstGeom>
          <a:noFill/>
          <a:ln/>
        </p:spPr>
        <p:txBody>
          <a:bodyPr wrap="square" rtlCol="0" anchor="ctr"/>
          <a:lstStyle/>
          <a:p>
            <a:pPr marL="0" indent="0">
              <a:lnSpc>
                <a:spcPct val="130000"/>
              </a:lnSpc>
              <a:buNone/>
            </a:pPr>
            <a:r>
              <a:rPr lang="en-US" sz="950" dirty="0">
                <a:solidFill>
                  <a:srgbClr val="7A90B0"/>
                </a:solidFill>
              </a:rPr>
              <a:t>Districts, Stations, Plugs, Sessions, Avg kWh</a:t>
            </a:r>
            <a:endParaRPr lang="en-US" sz="950" dirty="0"/>
          </a:p>
        </p:txBody>
      </p:sp>
      <p:sp>
        <p:nvSpPr>
          <p:cNvPr id="15" name="Shape 13"/>
          <p:cNvSpPr/>
          <p:nvPr/>
        </p:nvSpPr>
        <p:spPr>
          <a:xfrm>
            <a:off x="3566160" y="3401568"/>
            <a:ext cx="2606040" cy="1444752"/>
          </a:xfrm>
          <a:prstGeom prst="rect">
            <a:avLst/>
          </a:prstGeom>
          <a:solidFill>
            <a:srgbClr val="111C2E"/>
          </a:solidFill>
          <a:ln w="12700">
            <a:solidFill>
              <a:srgbClr val="FF9B3B"/>
            </a:solidFill>
            <a:prstDash val="solid"/>
          </a:ln>
          <a:effectLst>
            <a:outerShdw blurRad="127000" dist="38100" dir="8100000" algn="bl" rotWithShape="0">
              <a:srgbClr val="000000">
                <a:alpha val="30000"/>
              </a:srgbClr>
            </a:outerShdw>
          </a:effectLst>
        </p:spPr>
      </p:sp>
      <p:sp>
        <p:nvSpPr>
          <p:cNvPr id="16" name="Shape 14"/>
          <p:cNvSpPr/>
          <p:nvPr/>
        </p:nvSpPr>
        <p:spPr>
          <a:xfrm>
            <a:off x="3566160" y="3401568"/>
            <a:ext cx="2606040" cy="36576"/>
          </a:xfrm>
          <a:prstGeom prst="rect">
            <a:avLst/>
          </a:prstGeom>
          <a:solidFill>
            <a:srgbClr val="FF9B3B"/>
          </a:solidFill>
          <a:ln w="12700">
            <a:solidFill>
              <a:srgbClr val="FF9B3B"/>
            </a:solidFill>
            <a:prstDash val="solid"/>
          </a:ln>
        </p:spPr>
      </p:sp>
      <p:sp>
        <p:nvSpPr>
          <p:cNvPr id="17" name="Text 15"/>
          <p:cNvSpPr/>
          <p:nvPr/>
        </p:nvSpPr>
        <p:spPr>
          <a:xfrm>
            <a:off x="3657600" y="3493008"/>
            <a:ext cx="2423160" cy="274320"/>
          </a:xfrm>
          <a:prstGeom prst="rect">
            <a:avLst/>
          </a:prstGeom>
          <a:noFill/>
          <a:ln/>
        </p:spPr>
        <p:txBody>
          <a:bodyPr wrap="square" rtlCol="0" anchor="ctr"/>
          <a:lstStyle/>
          <a:p>
            <a:pPr marL="0" indent="0">
              <a:buNone/>
            </a:pPr>
            <a:r>
              <a:rPr lang="en-US" sz="1100" b="1" dirty="0">
                <a:solidFill>
                  <a:srgbClr val="FF9B3B"/>
                </a:solidFill>
              </a:rPr>
              <a:t>Intermediate (Q6–Q10)</a:t>
            </a:r>
            <a:endParaRPr lang="en-US" sz="1100" dirty="0"/>
          </a:p>
        </p:txBody>
      </p:sp>
      <p:sp>
        <p:nvSpPr>
          <p:cNvPr id="18" name="Text 16"/>
          <p:cNvSpPr/>
          <p:nvPr/>
        </p:nvSpPr>
        <p:spPr>
          <a:xfrm>
            <a:off x="3657600" y="3803904"/>
            <a:ext cx="2423160" cy="594360"/>
          </a:xfrm>
          <a:prstGeom prst="rect">
            <a:avLst/>
          </a:prstGeom>
          <a:noFill/>
          <a:ln/>
        </p:spPr>
        <p:txBody>
          <a:bodyPr wrap="square" rtlCol="0" anchor="ctr"/>
          <a:lstStyle/>
          <a:p>
            <a:pPr marL="0" indent="0">
              <a:lnSpc>
                <a:spcPct val="130000"/>
              </a:lnSpc>
              <a:buNone/>
            </a:pPr>
            <a:r>
              <a:rPr lang="en-US" sz="950" dirty="0">
                <a:solidFill>
                  <a:srgbClr val="7A90B0"/>
                </a:solidFill>
              </a:rPr>
              <a:t>Revenue, Top Stations, Energy by District, Cost by Tier</a:t>
            </a:r>
            <a:endParaRPr lang="en-US" sz="950" dirty="0"/>
          </a:p>
        </p:txBody>
      </p:sp>
      <p:sp>
        <p:nvSpPr>
          <p:cNvPr id="19" name="Shape 17"/>
          <p:cNvSpPr/>
          <p:nvPr/>
        </p:nvSpPr>
        <p:spPr>
          <a:xfrm>
            <a:off x="6400800" y="3401568"/>
            <a:ext cx="2606040" cy="1444752"/>
          </a:xfrm>
          <a:prstGeom prst="rect">
            <a:avLst/>
          </a:prstGeom>
          <a:solidFill>
            <a:srgbClr val="111C2E"/>
          </a:solidFill>
          <a:ln w="12700">
            <a:solidFill>
              <a:srgbClr val="FF4B6E"/>
            </a:solidFill>
            <a:prstDash val="solid"/>
          </a:ln>
          <a:effectLst>
            <a:outerShdw blurRad="127000" dist="38100" dir="8100000" algn="bl" rotWithShape="0">
              <a:srgbClr val="000000">
                <a:alpha val="30000"/>
              </a:srgbClr>
            </a:outerShdw>
          </a:effectLst>
        </p:spPr>
      </p:sp>
      <p:sp>
        <p:nvSpPr>
          <p:cNvPr id="20" name="Shape 18"/>
          <p:cNvSpPr/>
          <p:nvPr/>
        </p:nvSpPr>
        <p:spPr>
          <a:xfrm>
            <a:off x="6400800" y="3401568"/>
            <a:ext cx="2606040" cy="36576"/>
          </a:xfrm>
          <a:prstGeom prst="rect">
            <a:avLst/>
          </a:prstGeom>
          <a:solidFill>
            <a:srgbClr val="FF4B6E"/>
          </a:solidFill>
          <a:ln w="12700">
            <a:solidFill>
              <a:srgbClr val="FF4B6E"/>
            </a:solidFill>
            <a:prstDash val="solid"/>
          </a:ln>
        </p:spPr>
      </p:sp>
      <p:sp>
        <p:nvSpPr>
          <p:cNvPr id="21" name="Text 19"/>
          <p:cNvSpPr/>
          <p:nvPr/>
        </p:nvSpPr>
        <p:spPr>
          <a:xfrm>
            <a:off x="6492240" y="3493008"/>
            <a:ext cx="2423160" cy="274320"/>
          </a:xfrm>
          <a:prstGeom prst="rect">
            <a:avLst/>
          </a:prstGeom>
          <a:noFill/>
          <a:ln/>
        </p:spPr>
        <p:txBody>
          <a:bodyPr wrap="square" rtlCol="0" anchor="ctr"/>
          <a:lstStyle/>
          <a:p>
            <a:pPr marL="0" indent="0">
              <a:buNone/>
            </a:pPr>
            <a:r>
              <a:rPr lang="en-US" sz="1100" b="1" dirty="0">
                <a:solidFill>
                  <a:srgbClr val="FF4B6E"/>
                </a:solidFill>
              </a:rPr>
              <a:t>Advanced (Q11–Q14)</a:t>
            </a:r>
            <a:endParaRPr lang="en-US" sz="1100" dirty="0"/>
          </a:p>
        </p:txBody>
      </p:sp>
      <p:sp>
        <p:nvSpPr>
          <p:cNvPr id="22" name="Text 20"/>
          <p:cNvSpPr/>
          <p:nvPr/>
        </p:nvSpPr>
        <p:spPr>
          <a:xfrm>
            <a:off x="6492240" y="3803904"/>
            <a:ext cx="2423160" cy="594360"/>
          </a:xfrm>
          <a:prstGeom prst="rect">
            <a:avLst/>
          </a:prstGeom>
          <a:noFill/>
          <a:ln/>
        </p:spPr>
        <p:txBody>
          <a:bodyPr wrap="square" rtlCol="0" anchor="ctr"/>
          <a:lstStyle/>
          <a:p>
            <a:pPr marL="0" indent="0">
              <a:lnSpc>
                <a:spcPct val="130000"/>
              </a:lnSpc>
              <a:buNone/>
            </a:pPr>
            <a:r>
              <a:rPr lang="en-US" sz="950" dirty="0">
                <a:solidFill>
                  <a:srgbClr val="7A90B0"/>
                </a:solidFill>
              </a:rPr>
              <a:t>Gap Analysis, Infrastructure Readiness Rankings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D4FF"/>
          </a:solidFill>
          <a:ln w="12700">
            <a:solidFill>
              <a:srgbClr val="00D4FF"/>
            </a:solidFill>
            <a:prstDash val="solid"/>
          </a:ln>
        </p:spPr>
      </p:sp>
      <p:sp>
        <p:nvSpPr>
          <p:cNvPr id="3" name="Text 1"/>
          <p:cNvSpPr/>
          <p:nvPr/>
        </p:nvSpPr>
        <p:spPr>
          <a:xfrm>
            <a:off x="256032" y="146304"/>
            <a:ext cx="8686800" cy="237744"/>
          </a:xfrm>
          <a:prstGeom prst="rect">
            <a:avLst/>
          </a:prstGeom>
          <a:noFill/>
          <a:ln/>
        </p:spPr>
        <p:txBody>
          <a:bodyPr wrap="square" rtlCol="0" anchor="ctr"/>
          <a:lstStyle/>
          <a:p>
            <a:pPr marL="0" indent="0">
              <a:buNone/>
            </a:pPr>
            <a:r>
              <a:rPr lang="en-US" sz="800" b="1" kern="0" spc="250" dirty="0">
                <a:solidFill>
                  <a:srgbClr val="00D4FF"/>
                </a:solidFill>
              </a:rPr>
              <a:t>SQL PART 1  ·  BASIC QUERIES (Q1–Q5)</a:t>
            </a:r>
            <a:endParaRPr lang="en-US" sz="800" dirty="0"/>
          </a:p>
        </p:txBody>
      </p:sp>
      <p:sp>
        <p:nvSpPr>
          <p:cNvPr id="4" name="Text 2"/>
          <p:cNvSpPr/>
          <p:nvPr/>
        </p:nvSpPr>
        <p:spPr>
          <a:xfrm>
            <a:off x="256032" y="384048"/>
            <a:ext cx="8595360" cy="530352"/>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Foundational Data Exploration</a:t>
            </a:r>
            <a:endParaRPr lang="en-US" sz="2800" dirty="0"/>
          </a:p>
        </p:txBody>
      </p:sp>
      <p:sp>
        <p:nvSpPr>
          <p:cNvPr id="5" name="Text 3"/>
          <p:cNvSpPr/>
          <p:nvPr/>
        </p:nvSpPr>
        <p:spPr>
          <a:xfrm>
            <a:off x="256032" y="914400"/>
            <a:ext cx="8595360" cy="256032"/>
          </a:xfrm>
          <a:prstGeom prst="rect">
            <a:avLst/>
          </a:prstGeom>
          <a:noFill/>
          <a:ln/>
        </p:spPr>
        <p:txBody>
          <a:bodyPr wrap="square" rtlCol="0" anchor="ctr"/>
          <a:lstStyle/>
          <a:p>
            <a:pPr marL="0" indent="0">
              <a:buNone/>
            </a:pPr>
            <a:r>
              <a:rPr lang="en-US" sz="1100" i="1" dirty="0">
                <a:solidFill>
                  <a:srgbClr val="7A90B0"/>
                </a:solidFill>
              </a:rPr>
              <a:t>Setting the baseline — districts, stations, plugs, sessions, and average energy</a:t>
            </a:r>
            <a:endParaRPr lang="en-US" sz="1100" dirty="0"/>
          </a:p>
        </p:txBody>
      </p:sp>
      <p:sp>
        <p:nvSpPr>
          <p:cNvPr id="6" name="Shape 4"/>
          <p:cNvSpPr/>
          <p:nvPr/>
        </p:nvSpPr>
        <p:spPr>
          <a:xfrm>
            <a:off x="256032" y="1207008"/>
            <a:ext cx="8631936" cy="18288"/>
          </a:xfrm>
          <a:prstGeom prst="rect">
            <a:avLst/>
          </a:prstGeom>
          <a:solidFill>
            <a:srgbClr val="1A2E4A"/>
          </a:solidFill>
          <a:ln w="12700">
            <a:solidFill>
              <a:srgbClr val="1A2E4A"/>
            </a:solidFill>
            <a:prstDash val="solid"/>
          </a:ln>
        </p:spPr>
      </p:sp>
      <p:sp>
        <p:nvSpPr>
          <p:cNvPr id="7" name="Shape 5"/>
          <p:cNvSpPr/>
          <p:nvPr/>
        </p:nvSpPr>
        <p:spPr>
          <a:xfrm>
            <a:off x="256032" y="1298448"/>
            <a:ext cx="4160520" cy="1719072"/>
          </a:xfrm>
          <a:prstGeom prst="rect">
            <a:avLst/>
          </a:prstGeom>
          <a:solidFill>
            <a:srgbClr val="0F1F35"/>
          </a:solidFill>
          <a:ln w="12700">
            <a:solidFill>
              <a:srgbClr val="00D4FF"/>
            </a:solidFill>
            <a:prstDash val="solid"/>
          </a:ln>
          <a:effectLst>
            <a:outerShdw blurRad="127000" dist="38100" dir="8100000" algn="bl" rotWithShape="0">
              <a:srgbClr val="000000">
                <a:alpha val="30000"/>
              </a:srgbClr>
            </a:outerShdw>
          </a:effectLst>
        </p:spPr>
      </p:sp>
      <p:sp>
        <p:nvSpPr>
          <p:cNvPr id="8" name="Shape 6"/>
          <p:cNvSpPr/>
          <p:nvPr/>
        </p:nvSpPr>
        <p:spPr>
          <a:xfrm>
            <a:off x="256032" y="1298448"/>
            <a:ext cx="4160520" cy="274320"/>
          </a:xfrm>
          <a:prstGeom prst="rect">
            <a:avLst/>
          </a:prstGeom>
          <a:solidFill>
            <a:srgbClr val="00D4FF">
              <a:alpha val="80000"/>
            </a:srgbClr>
          </a:solidFill>
          <a:ln w="12700">
            <a:solidFill>
              <a:srgbClr val="1A2E4A"/>
            </a:solidFill>
            <a:prstDash val="solid"/>
          </a:ln>
        </p:spPr>
      </p:sp>
      <p:sp>
        <p:nvSpPr>
          <p:cNvPr id="9" name="Text 7"/>
          <p:cNvSpPr/>
          <p:nvPr/>
        </p:nvSpPr>
        <p:spPr>
          <a:xfrm>
            <a:off x="347472" y="1335024"/>
            <a:ext cx="3977640" cy="201168"/>
          </a:xfrm>
          <a:prstGeom prst="rect">
            <a:avLst/>
          </a:prstGeom>
          <a:noFill/>
          <a:ln/>
        </p:spPr>
        <p:txBody>
          <a:bodyPr wrap="square" rtlCol="0" anchor="ctr"/>
          <a:lstStyle/>
          <a:p>
            <a:pPr marL="0" indent="0">
              <a:buNone/>
            </a:pPr>
            <a:r>
              <a:rPr lang="en-US" sz="1000" b="1" dirty="0">
                <a:solidFill>
                  <a:srgbClr val="00D4FF"/>
                </a:solidFill>
              </a:rPr>
              <a:t>Q1 · Districts &amp; Income Tiers</a:t>
            </a:r>
            <a:endParaRPr lang="en-US" sz="1000" dirty="0"/>
          </a:p>
        </p:txBody>
      </p:sp>
      <p:sp>
        <p:nvSpPr>
          <p:cNvPr id="10" name="Text 8"/>
          <p:cNvSpPr/>
          <p:nvPr/>
        </p:nvSpPr>
        <p:spPr>
          <a:xfrm>
            <a:off x="347472" y="1609344"/>
            <a:ext cx="3977640" cy="475488"/>
          </a:xfrm>
          <a:prstGeom prst="rect">
            <a:avLst/>
          </a:prstGeom>
          <a:noFill/>
          <a:ln/>
        </p:spPr>
        <p:txBody>
          <a:bodyPr wrap="square" rtlCol="0" anchor="ctr"/>
          <a:lstStyle/>
          <a:p>
            <a:pPr marL="0" indent="0">
              <a:buNone/>
            </a:pPr>
            <a:r>
              <a:rPr lang="en-US" sz="900" dirty="0">
                <a:solidFill>
                  <a:srgbClr val="98C379"/>
                </a:solidFill>
                <a:latin typeface="Courier New" pitchFamily="34" charset="0"/>
                <a:ea typeface="Courier New" pitchFamily="34" charset="-122"/>
                <a:cs typeface="Courier New" pitchFamily="34" charset="-120"/>
              </a:rPr>
              <a:t>SELECT district_name, income_tier</a:t>
            </a:r>
            <a:endParaRPr lang="en-US" sz="900" dirty="0"/>
          </a:p>
          <a:p>
            <a:pPr marL="0" indent="0">
              <a:buNone/>
            </a:pPr>
            <a:r>
              <a:rPr lang="en-US" sz="900" dirty="0">
                <a:solidFill>
                  <a:srgbClr val="98C379"/>
                </a:solidFill>
                <a:latin typeface="Courier New" pitchFamily="34" charset="0"/>
                <a:ea typeface="Courier New" pitchFamily="34" charset="-122"/>
                <a:cs typeface="Courier New" pitchFamily="34" charset="-120"/>
              </a:rPr>
              <a:t>FROM districts</a:t>
            </a:r>
            <a:endParaRPr lang="en-US" sz="900" dirty="0"/>
          </a:p>
          <a:p>
            <a:pPr marL="0" indent="0">
              <a:buNone/>
            </a:pPr>
            <a:r>
              <a:rPr lang="en-US" sz="900" dirty="0">
                <a:solidFill>
                  <a:srgbClr val="98C379"/>
                </a:solidFill>
                <a:latin typeface="Courier New" pitchFamily="34" charset="0"/>
                <a:ea typeface="Courier New" pitchFamily="34" charset="-122"/>
                <a:cs typeface="Courier New" pitchFamily="34" charset="-120"/>
              </a:rPr>
              <a:t>ORDER BY income_tier;</a:t>
            </a:r>
            <a:endParaRPr lang="en-US" sz="900" dirty="0"/>
          </a:p>
        </p:txBody>
      </p:sp>
      <p:sp>
        <p:nvSpPr>
          <p:cNvPr id="11" name="Text 9"/>
          <p:cNvSpPr/>
          <p:nvPr/>
        </p:nvSpPr>
        <p:spPr>
          <a:xfrm>
            <a:off x="347472" y="2121408"/>
            <a:ext cx="3977640" cy="777240"/>
          </a:xfrm>
          <a:prstGeom prst="rect">
            <a:avLst/>
          </a:prstGeom>
          <a:noFill/>
          <a:ln/>
        </p:spPr>
        <p:txBody>
          <a:bodyPr wrap="square" rtlCol="0" anchor="ctr"/>
          <a:lstStyle/>
          <a:p>
            <a:pPr marL="0" indent="0">
              <a:lnSpc>
                <a:spcPct val="130000"/>
              </a:lnSpc>
              <a:buNone/>
            </a:pPr>
            <a:r>
              <a:rPr lang="en-US" sz="950" dirty="0">
                <a:solidFill>
                  <a:srgbClr val="7A90B0"/>
                </a:solidFill>
              </a:rPr>
              <a:t>📊 Result: 18 districts — 3 High, 6 Mid-Range, 9 Low-Mid income tiers.</a:t>
            </a:r>
            <a:endParaRPr lang="en-US" sz="950" dirty="0"/>
          </a:p>
          <a:p>
            <a:pPr marL="0" indent="0">
              <a:lnSpc>
                <a:spcPct val="130000"/>
              </a:lnSpc>
              <a:buNone/>
            </a:pPr>
            <a:r>
              <a:rPr lang="en-US" sz="950" dirty="0">
                <a:solidFill>
                  <a:srgbClr val="7A90B0"/>
                </a:solidFill>
              </a:rPr>
              <a:t>High: Wilanów, Śródmieście, Żoliborz | Mid: Ursynów, Mokotów, Wola...</a:t>
            </a:r>
            <a:endParaRPr lang="en-US" sz="950" dirty="0"/>
          </a:p>
        </p:txBody>
      </p:sp>
      <p:sp>
        <p:nvSpPr>
          <p:cNvPr id="12" name="Shape 10"/>
          <p:cNvSpPr/>
          <p:nvPr/>
        </p:nvSpPr>
        <p:spPr>
          <a:xfrm>
            <a:off x="4690872" y="1298448"/>
            <a:ext cx="4197096" cy="1719072"/>
          </a:xfrm>
          <a:prstGeom prst="rect">
            <a:avLst/>
          </a:prstGeom>
          <a:solidFill>
            <a:srgbClr val="0F1F35"/>
          </a:solidFill>
          <a:ln w="12700">
            <a:solidFill>
              <a:srgbClr val="00E5A0"/>
            </a:solidFill>
            <a:prstDash val="solid"/>
          </a:ln>
          <a:effectLst>
            <a:outerShdw blurRad="127000" dist="38100" dir="8100000" algn="bl" rotWithShape="0">
              <a:srgbClr val="000000">
                <a:alpha val="30000"/>
              </a:srgbClr>
            </a:outerShdw>
          </a:effectLst>
        </p:spPr>
      </p:sp>
      <p:sp>
        <p:nvSpPr>
          <p:cNvPr id="13" name="Shape 11"/>
          <p:cNvSpPr/>
          <p:nvPr/>
        </p:nvSpPr>
        <p:spPr>
          <a:xfrm>
            <a:off x="4690872" y="1298448"/>
            <a:ext cx="4197096" cy="274320"/>
          </a:xfrm>
          <a:prstGeom prst="rect">
            <a:avLst/>
          </a:prstGeom>
          <a:solidFill>
            <a:srgbClr val="00E5A0">
              <a:alpha val="80000"/>
            </a:srgbClr>
          </a:solidFill>
          <a:ln w="12700">
            <a:solidFill>
              <a:srgbClr val="1A2E4A"/>
            </a:solidFill>
            <a:prstDash val="solid"/>
          </a:ln>
        </p:spPr>
      </p:sp>
      <p:sp>
        <p:nvSpPr>
          <p:cNvPr id="14" name="Text 12"/>
          <p:cNvSpPr/>
          <p:nvPr/>
        </p:nvSpPr>
        <p:spPr>
          <a:xfrm>
            <a:off x="4782312" y="1335024"/>
            <a:ext cx="3977640" cy="201168"/>
          </a:xfrm>
          <a:prstGeom prst="rect">
            <a:avLst/>
          </a:prstGeom>
          <a:noFill/>
          <a:ln/>
        </p:spPr>
        <p:txBody>
          <a:bodyPr wrap="square" rtlCol="0" anchor="ctr"/>
          <a:lstStyle/>
          <a:p>
            <a:pPr marL="0" indent="0">
              <a:buNone/>
            </a:pPr>
            <a:r>
              <a:rPr lang="en-US" sz="1000" b="1" dirty="0">
                <a:solidFill>
                  <a:srgbClr val="00E5A0"/>
                </a:solidFill>
              </a:rPr>
              <a:t>Q2 · Stations per District</a:t>
            </a:r>
            <a:endParaRPr lang="en-US" sz="1000" dirty="0"/>
          </a:p>
        </p:txBody>
      </p:sp>
      <p:sp>
        <p:nvSpPr>
          <p:cNvPr id="15" name="Text 13"/>
          <p:cNvSpPr/>
          <p:nvPr/>
        </p:nvSpPr>
        <p:spPr>
          <a:xfrm>
            <a:off x="4782312" y="1609344"/>
            <a:ext cx="3977640" cy="475488"/>
          </a:xfrm>
          <a:prstGeom prst="rect">
            <a:avLst/>
          </a:prstGeom>
          <a:noFill/>
          <a:ln/>
        </p:spPr>
        <p:txBody>
          <a:bodyPr wrap="square" rtlCol="0" anchor="ctr"/>
          <a:lstStyle/>
          <a:p>
            <a:pPr marL="0" indent="0">
              <a:buNone/>
            </a:pPr>
            <a:r>
              <a:rPr lang="en-US" sz="900" dirty="0">
                <a:solidFill>
                  <a:srgbClr val="98C379"/>
                </a:solidFill>
                <a:latin typeface="Courier New" pitchFamily="34" charset="0"/>
                <a:ea typeface="Courier New" pitchFamily="34" charset="-122"/>
                <a:cs typeface="Courier New" pitchFamily="34" charset="-120"/>
              </a:rPr>
              <a:t>SELECT district_name, COUNT(*) AS total_stations</a:t>
            </a:r>
            <a:endParaRPr lang="en-US" sz="900" dirty="0"/>
          </a:p>
          <a:p>
            <a:pPr marL="0" indent="0">
              <a:buNone/>
            </a:pPr>
            <a:r>
              <a:rPr lang="en-US" sz="900" dirty="0">
                <a:solidFill>
                  <a:srgbClr val="98C379"/>
                </a:solidFill>
                <a:latin typeface="Courier New" pitchFamily="34" charset="0"/>
                <a:ea typeface="Courier New" pitchFamily="34" charset="-122"/>
                <a:cs typeface="Courier New" pitchFamily="34" charset="-120"/>
              </a:rPr>
              <a:t>FROM charging_stations</a:t>
            </a:r>
            <a:endParaRPr lang="en-US" sz="900" dirty="0"/>
          </a:p>
          <a:p>
            <a:pPr marL="0" indent="0">
              <a:buNone/>
            </a:pPr>
            <a:r>
              <a:rPr lang="en-US" sz="900" dirty="0">
                <a:solidFill>
                  <a:srgbClr val="98C379"/>
                </a:solidFill>
                <a:latin typeface="Courier New" pitchFamily="34" charset="0"/>
                <a:ea typeface="Courier New" pitchFamily="34" charset="-122"/>
                <a:cs typeface="Courier New" pitchFamily="34" charset="-120"/>
              </a:rPr>
              <a:t>GROUP BY district_name</a:t>
            </a:r>
            <a:endParaRPr lang="en-US" sz="900" dirty="0"/>
          </a:p>
          <a:p>
            <a:pPr marL="0" indent="0">
              <a:buNone/>
            </a:pPr>
            <a:r>
              <a:rPr lang="en-US" sz="900" dirty="0">
                <a:solidFill>
                  <a:srgbClr val="98C379"/>
                </a:solidFill>
                <a:latin typeface="Courier New" pitchFamily="34" charset="0"/>
                <a:ea typeface="Courier New" pitchFamily="34" charset="-122"/>
                <a:cs typeface="Courier New" pitchFamily="34" charset="-120"/>
              </a:rPr>
              <a:t>ORDER BY total_stations DESC;</a:t>
            </a:r>
            <a:endParaRPr lang="en-US" sz="900" dirty="0"/>
          </a:p>
        </p:txBody>
      </p:sp>
      <p:sp>
        <p:nvSpPr>
          <p:cNvPr id="16" name="Text 14"/>
          <p:cNvSpPr/>
          <p:nvPr/>
        </p:nvSpPr>
        <p:spPr>
          <a:xfrm>
            <a:off x="4782312" y="2121408"/>
            <a:ext cx="3977640" cy="777240"/>
          </a:xfrm>
          <a:prstGeom prst="rect">
            <a:avLst/>
          </a:prstGeom>
          <a:noFill/>
          <a:ln/>
        </p:spPr>
        <p:txBody>
          <a:bodyPr wrap="square" rtlCol="0" anchor="ctr"/>
          <a:lstStyle/>
          <a:p>
            <a:pPr marL="0" indent="0">
              <a:lnSpc>
                <a:spcPct val="130000"/>
              </a:lnSpc>
              <a:buNone/>
            </a:pPr>
            <a:r>
              <a:rPr lang="en-US" sz="950" dirty="0">
                <a:solidFill>
                  <a:srgbClr val="7A90B0"/>
                </a:solidFill>
              </a:rPr>
              <a:t>📊 Result: Ursynów leads with 12 stations, Wesoła has 11.</a:t>
            </a:r>
            <a:endParaRPr lang="en-US" sz="950" dirty="0"/>
          </a:p>
          <a:p>
            <a:pPr marL="0" indent="0">
              <a:lnSpc>
                <a:spcPct val="130000"/>
              </a:lnSpc>
              <a:buNone/>
            </a:pPr>
            <a:r>
              <a:rPr lang="en-US" sz="950" dirty="0">
                <a:solidFill>
                  <a:srgbClr val="7A90B0"/>
                </a:solidFill>
              </a:rPr>
              <a:t>5 districts have 0 stations (Bielany, Praga Południe, Białołęka, Wawer, Praga Północ).</a:t>
            </a:r>
            <a:endParaRPr lang="en-US" sz="950" dirty="0"/>
          </a:p>
        </p:txBody>
      </p:sp>
      <p:sp>
        <p:nvSpPr>
          <p:cNvPr id="17" name="Shape 15"/>
          <p:cNvSpPr/>
          <p:nvPr/>
        </p:nvSpPr>
        <p:spPr>
          <a:xfrm>
            <a:off x="256032" y="3127248"/>
            <a:ext cx="2697480" cy="1783080"/>
          </a:xfrm>
          <a:prstGeom prst="rect">
            <a:avLst/>
          </a:prstGeom>
          <a:solidFill>
            <a:srgbClr val="0F1F35"/>
          </a:solidFill>
          <a:ln w="12700">
            <a:solidFill>
              <a:srgbClr val="FF9B3B"/>
            </a:solidFill>
            <a:prstDash val="solid"/>
          </a:ln>
          <a:effectLst>
            <a:outerShdw blurRad="127000" dist="38100" dir="8100000" algn="bl" rotWithShape="0">
              <a:srgbClr val="000000">
                <a:alpha val="30000"/>
              </a:srgbClr>
            </a:outerShdw>
          </a:effectLst>
        </p:spPr>
      </p:sp>
      <p:sp>
        <p:nvSpPr>
          <p:cNvPr id="18" name="Shape 16"/>
          <p:cNvSpPr/>
          <p:nvPr/>
        </p:nvSpPr>
        <p:spPr>
          <a:xfrm>
            <a:off x="256032" y="3127248"/>
            <a:ext cx="2697480" cy="256032"/>
          </a:xfrm>
          <a:prstGeom prst="rect">
            <a:avLst/>
          </a:prstGeom>
          <a:solidFill>
            <a:srgbClr val="FF9B3B">
              <a:alpha val="80000"/>
            </a:srgbClr>
          </a:solidFill>
          <a:ln w="12700">
            <a:solidFill>
              <a:srgbClr val="1A2E4A"/>
            </a:solidFill>
            <a:prstDash val="solid"/>
          </a:ln>
        </p:spPr>
      </p:sp>
      <p:sp>
        <p:nvSpPr>
          <p:cNvPr id="19" name="Text 17"/>
          <p:cNvSpPr/>
          <p:nvPr/>
        </p:nvSpPr>
        <p:spPr>
          <a:xfrm>
            <a:off x="347472" y="3163824"/>
            <a:ext cx="2514600" cy="182880"/>
          </a:xfrm>
          <a:prstGeom prst="rect">
            <a:avLst/>
          </a:prstGeom>
          <a:noFill/>
          <a:ln/>
        </p:spPr>
        <p:txBody>
          <a:bodyPr wrap="square" rtlCol="0" anchor="ctr"/>
          <a:lstStyle/>
          <a:p>
            <a:pPr marL="0" indent="0">
              <a:buNone/>
            </a:pPr>
            <a:r>
              <a:rPr lang="en-US" sz="1000" b="1" dirty="0">
                <a:solidFill>
                  <a:srgbClr val="FF9B3B"/>
                </a:solidFill>
              </a:rPr>
              <a:t>Q3 · Plugs per District</a:t>
            </a:r>
            <a:endParaRPr lang="en-US" sz="1000" dirty="0"/>
          </a:p>
        </p:txBody>
      </p:sp>
      <p:sp>
        <p:nvSpPr>
          <p:cNvPr id="20" name="Text 18"/>
          <p:cNvSpPr/>
          <p:nvPr/>
        </p:nvSpPr>
        <p:spPr>
          <a:xfrm>
            <a:off x="347472" y="3419856"/>
            <a:ext cx="2514600" cy="594360"/>
          </a:xfrm>
          <a:prstGeom prst="rect">
            <a:avLst/>
          </a:prstGeom>
          <a:noFill/>
          <a:ln/>
        </p:spPr>
        <p:txBody>
          <a:bodyPr wrap="square" rtlCol="0" anchor="ctr"/>
          <a:lstStyle/>
          <a:p>
            <a:pPr marL="0" indent="0">
              <a:buNone/>
            </a:pPr>
            <a:r>
              <a:rPr lang="en-US" sz="880" dirty="0">
                <a:solidFill>
                  <a:srgbClr val="98C379"/>
                </a:solidFill>
                <a:latin typeface="Courier New" pitchFamily="34" charset="0"/>
                <a:ea typeface="Courier New" pitchFamily="34" charset="-122"/>
                <a:cs typeface="Courier New" pitchFamily="34" charset="-120"/>
              </a:rPr>
              <a:t>SELECT district_name,</a:t>
            </a:r>
            <a:endParaRPr lang="en-US" sz="880" dirty="0"/>
          </a:p>
          <a:p>
            <a:pPr marL="0" indent="0">
              <a:buNone/>
            </a:pPr>
            <a:r>
              <a:rPr lang="en-US" sz="880" dirty="0">
                <a:solidFill>
                  <a:srgbClr val="98C379"/>
                </a:solidFill>
                <a:latin typeface="Courier New" pitchFamily="34" charset="0"/>
                <a:ea typeface="Courier New" pitchFamily="34" charset="-122"/>
                <a:cs typeface="Courier New" pitchFamily="34" charset="-120"/>
              </a:rPr>
              <a:t>SUM(plugs_count) AS total_plugs</a:t>
            </a:r>
            <a:endParaRPr lang="en-US" sz="880" dirty="0"/>
          </a:p>
          <a:p>
            <a:pPr marL="0" indent="0">
              <a:buNone/>
            </a:pPr>
            <a:r>
              <a:rPr lang="en-US" sz="880" dirty="0">
                <a:solidFill>
                  <a:srgbClr val="98C379"/>
                </a:solidFill>
                <a:latin typeface="Courier New" pitchFamily="34" charset="0"/>
                <a:ea typeface="Courier New" pitchFamily="34" charset="-122"/>
                <a:cs typeface="Courier New" pitchFamily="34" charset="-120"/>
              </a:rPr>
              <a:t>FROM charging_stations</a:t>
            </a:r>
            <a:endParaRPr lang="en-US" sz="880" dirty="0"/>
          </a:p>
          <a:p>
            <a:pPr marL="0" indent="0">
              <a:buNone/>
            </a:pPr>
            <a:r>
              <a:rPr lang="en-US" sz="880" dirty="0">
                <a:solidFill>
                  <a:srgbClr val="98C379"/>
                </a:solidFill>
                <a:latin typeface="Courier New" pitchFamily="34" charset="0"/>
                <a:ea typeface="Courier New" pitchFamily="34" charset="-122"/>
                <a:cs typeface="Courier New" pitchFamily="34" charset="-120"/>
              </a:rPr>
              <a:t>GROUP BY district_name</a:t>
            </a:r>
            <a:endParaRPr lang="en-US" sz="880" dirty="0"/>
          </a:p>
          <a:p>
            <a:pPr marL="0" indent="0">
              <a:buNone/>
            </a:pPr>
            <a:r>
              <a:rPr lang="en-US" sz="880" dirty="0">
                <a:solidFill>
                  <a:srgbClr val="98C379"/>
                </a:solidFill>
                <a:latin typeface="Courier New" pitchFamily="34" charset="0"/>
                <a:ea typeface="Courier New" pitchFamily="34" charset="-122"/>
                <a:cs typeface="Courier New" pitchFamily="34" charset="-120"/>
              </a:rPr>
              <a:t>ORDER BY total_plugs DESC;</a:t>
            </a:r>
            <a:endParaRPr lang="en-US" sz="880" dirty="0"/>
          </a:p>
        </p:txBody>
      </p:sp>
      <p:sp>
        <p:nvSpPr>
          <p:cNvPr id="21" name="Text 19"/>
          <p:cNvSpPr/>
          <p:nvPr/>
        </p:nvSpPr>
        <p:spPr>
          <a:xfrm>
            <a:off x="347472" y="4059936"/>
            <a:ext cx="2514600" cy="749808"/>
          </a:xfrm>
          <a:prstGeom prst="rect">
            <a:avLst/>
          </a:prstGeom>
          <a:noFill/>
          <a:ln/>
        </p:spPr>
        <p:txBody>
          <a:bodyPr wrap="square" rtlCol="0" anchor="ctr"/>
          <a:lstStyle/>
          <a:p>
            <a:pPr marL="0" indent="0">
              <a:lnSpc>
                <a:spcPct val="130000"/>
              </a:lnSpc>
              <a:buNone/>
            </a:pPr>
            <a:r>
              <a:rPr lang="en-US" sz="950" dirty="0">
                <a:solidFill>
                  <a:srgbClr val="7A90B0"/>
                </a:solidFill>
              </a:rPr>
              <a:t>📊 Ursynów: 72 plugs</a:t>
            </a:r>
            <a:endParaRPr lang="en-US" sz="950" dirty="0"/>
          </a:p>
          <a:p>
            <a:pPr marL="0" indent="0">
              <a:lnSpc>
                <a:spcPct val="130000"/>
              </a:lnSpc>
              <a:buNone/>
            </a:pPr>
            <a:r>
              <a:rPr lang="en-US" sz="950" dirty="0">
                <a:solidFill>
                  <a:srgbClr val="7A90B0"/>
                </a:solidFill>
              </a:rPr>
              <a:t>Wesoła: 66 | Wilanów: 48</a:t>
            </a:r>
            <a:endParaRPr lang="en-US" sz="950" dirty="0"/>
          </a:p>
          <a:p>
            <a:pPr marL="0" indent="0">
              <a:lnSpc>
                <a:spcPct val="130000"/>
              </a:lnSpc>
              <a:buNone/>
            </a:pPr>
            <a:r>
              <a:rPr lang="en-US" sz="950" dirty="0">
                <a:solidFill>
                  <a:srgbClr val="7A90B0"/>
                </a:solidFill>
              </a:rPr>
              <a:t>Total: 390 plugs across</a:t>
            </a:r>
            <a:endParaRPr lang="en-US" sz="950" dirty="0"/>
          </a:p>
          <a:p>
            <a:pPr marL="0" indent="0">
              <a:lnSpc>
                <a:spcPct val="130000"/>
              </a:lnSpc>
              <a:buNone/>
            </a:pPr>
            <a:r>
              <a:rPr lang="en-US" sz="950" dirty="0">
                <a:solidFill>
                  <a:srgbClr val="7A90B0"/>
                </a:solidFill>
              </a:rPr>
              <a:t>13 active districts.</a:t>
            </a:r>
            <a:endParaRPr lang="en-US" sz="950" dirty="0"/>
          </a:p>
        </p:txBody>
      </p:sp>
      <p:sp>
        <p:nvSpPr>
          <p:cNvPr id="22" name="Shape 20"/>
          <p:cNvSpPr/>
          <p:nvPr/>
        </p:nvSpPr>
        <p:spPr>
          <a:xfrm>
            <a:off x="3090672" y="3127248"/>
            <a:ext cx="2697480" cy="1783080"/>
          </a:xfrm>
          <a:prstGeom prst="rect">
            <a:avLst/>
          </a:prstGeom>
          <a:solidFill>
            <a:srgbClr val="0F1F35"/>
          </a:solidFill>
          <a:ln w="12700">
            <a:solidFill>
              <a:srgbClr val="9B7FFF"/>
            </a:solidFill>
            <a:prstDash val="solid"/>
          </a:ln>
          <a:effectLst>
            <a:outerShdw blurRad="127000" dist="38100" dir="8100000" algn="bl" rotWithShape="0">
              <a:srgbClr val="000000">
                <a:alpha val="30000"/>
              </a:srgbClr>
            </a:outerShdw>
          </a:effectLst>
        </p:spPr>
      </p:sp>
      <p:sp>
        <p:nvSpPr>
          <p:cNvPr id="23" name="Shape 21"/>
          <p:cNvSpPr/>
          <p:nvPr/>
        </p:nvSpPr>
        <p:spPr>
          <a:xfrm>
            <a:off x="3090672" y="3127248"/>
            <a:ext cx="2697480" cy="256032"/>
          </a:xfrm>
          <a:prstGeom prst="rect">
            <a:avLst/>
          </a:prstGeom>
          <a:solidFill>
            <a:srgbClr val="9B7FFF">
              <a:alpha val="80000"/>
            </a:srgbClr>
          </a:solidFill>
          <a:ln w="12700">
            <a:solidFill>
              <a:srgbClr val="1A2E4A"/>
            </a:solidFill>
            <a:prstDash val="solid"/>
          </a:ln>
        </p:spPr>
      </p:sp>
      <p:sp>
        <p:nvSpPr>
          <p:cNvPr id="24" name="Text 22"/>
          <p:cNvSpPr/>
          <p:nvPr/>
        </p:nvSpPr>
        <p:spPr>
          <a:xfrm>
            <a:off x="3182112" y="3163824"/>
            <a:ext cx="2514600" cy="182880"/>
          </a:xfrm>
          <a:prstGeom prst="rect">
            <a:avLst/>
          </a:prstGeom>
          <a:noFill/>
          <a:ln/>
        </p:spPr>
        <p:txBody>
          <a:bodyPr wrap="square" rtlCol="0" anchor="ctr"/>
          <a:lstStyle/>
          <a:p>
            <a:pPr marL="0" indent="0">
              <a:buNone/>
            </a:pPr>
            <a:r>
              <a:rPr lang="en-US" sz="1000" b="1" dirty="0">
                <a:solidFill>
                  <a:srgbClr val="9B7FFF"/>
                </a:solidFill>
              </a:rPr>
              <a:t>Q4 · Total Sessions</a:t>
            </a:r>
            <a:endParaRPr lang="en-US" sz="1000" dirty="0"/>
          </a:p>
        </p:txBody>
      </p:sp>
      <p:sp>
        <p:nvSpPr>
          <p:cNvPr id="25" name="Text 23"/>
          <p:cNvSpPr/>
          <p:nvPr/>
        </p:nvSpPr>
        <p:spPr>
          <a:xfrm>
            <a:off x="3182112" y="3419856"/>
            <a:ext cx="2514600" cy="384048"/>
          </a:xfrm>
          <a:prstGeom prst="rect">
            <a:avLst/>
          </a:prstGeom>
          <a:noFill/>
          <a:ln/>
        </p:spPr>
        <p:txBody>
          <a:bodyPr wrap="square" rtlCol="0" anchor="ctr"/>
          <a:lstStyle/>
          <a:p>
            <a:pPr marL="0" indent="0">
              <a:buNone/>
            </a:pPr>
            <a:r>
              <a:rPr lang="en-US" sz="880" dirty="0">
                <a:solidFill>
                  <a:srgbClr val="98C379"/>
                </a:solidFill>
                <a:latin typeface="Courier New" pitchFamily="34" charset="0"/>
                <a:ea typeface="Courier New" pitchFamily="34" charset="-122"/>
                <a:cs typeface="Courier New" pitchFamily="34" charset="-120"/>
              </a:rPr>
              <a:t>SELECT COUNT(*) AS</a:t>
            </a:r>
            <a:endParaRPr lang="en-US" sz="880" dirty="0"/>
          </a:p>
          <a:p>
            <a:pPr marL="0" indent="0">
              <a:buNone/>
            </a:pPr>
            <a:r>
              <a:rPr lang="en-US" sz="880" dirty="0">
                <a:solidFill>
                  <a:srgbClr val="98C379"/>
                </a:solidFill>
                <a:latin typeface="Courier New" pitchFamily="34" charset="0"/>
                <a:ea typeface="Courier New" pitchFamily="34" charset="-122"/>
                <a:cs typeface="Courier New" pitchFamily="34" charset="-120"/>
              </a:rPr>
              <a:t>total_sessions</a:t>
            </a:r>
            <a:endParaRPr lang="en-US" sz="880" dirty="0"/>
          </a:p>
          <a:p>
            <a:pPr marL="0" indent="0">
              <a:buNone/>
            </a:pPr>
            <a:r>
              <a:rPr lang="en-US" sz="880" dirty="0">
                <a:solidFill>
                  <a:srgbClr val="98C379"/>
                </a:solidFill>
                <a:latin typeface="Courier New" pitchFamily="34" charset="0"/>
                <a:ea typeface="Courier New" pitchFamily="34" charset="-122"/>
                <a:cs typeface="Courier New" pitchFamily="34" charset="-120"/>
              </a:rPr>
              <a:t>FROM charging_sessions;</a:t>
            </a:r>
            <a:endParaRPr lang="en-US" sz="880" dirty="0"/>
          </a:p>
        </p:txBody>
      </p:sp>
      <p:sp>
        <p:nvSpPr>
          <p:cNvPr id="26" name="Text 24"/>
          <p:cNvSpPr/>
          <p:nvPr/>
        </p:nvSpPr>
        <p:spPr>
          <a:xfrm>
            <a:off x="3182112" y="3858768"/>
            <a:ext cx="2514600" cy="822960"/>
          </a:xfrm>
          <a:prstGeom prst="rect">
            <a:avLst/>
          </a:prstGeom>
          <a:noFill/>
          <a:ln/>
        </p:spPr>
        <p:txBody>
          <a:bodyPr wrap="square" rtlCol="0" anchor="ctr"/>
          <a:lstStyle/>
          <a:p>
            <a:pPr marL="0" indent="0">
              <a:lnSpc>
                <a:spcPct val="130000"/>
              </a:lnSpc>
              <a:buNone/>
            </a:pPr>
            <a:r>
              <a:rPr lang="en-US" sz="950" dirty="0">
                <a:solidFill>
                  <a:srgbClr val="7A90B0"/>
                </a:solidFill>
              </a:rPr>
              <a:t>📊 Result: 114,000 total</a:t>
            </a:r>
            <a:endParaRPr lang="en-US" sz="950" dirty="0"/>
          </a:p>
          <a:p>
            <a:pPr marL="0" indent="0">
              <a:lnSpc>
                <a:spcPct val="130000"/>
              </a:lnSpc>
              <a:buNone/>
            </a:pPr>
            <a:r>
              <a:rPr lang="en-US" sz="950" dirty="0">
                <a:solidFill>
                  <a:srgbClr val="7A90B0"/>
                </a:solidFill>
              </a:rPr>
              <a:t>charging sessions recorded</a:t>
            </a:r>
            <a:endParaRPr lang="en-US" sz="950" dirty="0"/>
          </a:p>
          <a:p>
            <a:pPr marL="0" indent="0">
              <a:lnSpc>
                <a:spcPct val="130000"/>
              </a:lnSpc>
              <a:buNone/>
            </a:pPr>
            <a:r>
              <a:rPr lang="en-US" sz="950" dirty="0">
                <a:solidFill>
                  <a:srgbClr val="7A90B0"/>
                </a:solidFill>
              </a:rPr>
              <a:t>across all stations and</a:t>
            </a:r>
            <a:endParaRPr lang="en-US" sz="950" dirty="0"/>
          </a:p>
          <a:p>
            <a:pPr marL="0" indent="0">
              <a:lnSpc>
                <a:spcPct val="130000"/>
              </a:lnSpc>
              <a:buNone/>
            </a:pPr>
            <a:r>
              <a:rPr lang="en-US" sz="950" dirty="0">
                <a:solidFill>
                  <a:srgbClr val="7A90B0"/>
                </a:solidFill>
              </a:rPr>
              <a:t>districts in Warsaw.</a:t>
            </a:r>
            <a:endParaRPr lang="en-US" sz="950" dirty="0"/>
          </a:p>
        </p:txBody>
      </p:sp>
      <p:sp>
        <p:nvSpPr>
          <p:cNvPr id="27" name="Shape 25"/>
          <p:cNvSpPr/>
          <p:nvPr/>
        </p:nvSpPr>
        <p:spPr>
          <a:xfrm>
            <a:off x="5897880" y="3127248"/>
            <a:ext cx="2990088" cy="1783080"/>
          </a:xfrm>
          <a:prstGeom prst="rect">
            <a:avLst/>
          </a:prstGeom>
          <a:solidFill>
            <a:srgbClr val="0F1F35"/>
          </a:solidFill>
          <a:ln w="12700">
            <a:solidFill>
              <a:srgbClr val="FFD93D"/>
            </a:solidFill>
            <a:prstDash val="solid"/>
          </a:ln>
          <a:effectLst>
            <a:outerShdw blurRad="127000" dist="38100" dir="8100000" algn="bl" rotWithShape="0">
              <a:srgbClr val="000000">
                <a:alpha val="30000"/>
              </a:srgbClr>
            </a:outerShdw>
          </a:effectLst>
        </p:spPr>
      </p:sp>
      <p:sp>
        <p:nvSpPr>
          <p:cNvPr id="28" name="Shape 26"/>
          <p:cNvSpPr/>
          <p:nvPr/>
        </p:nvSpPr>
        <p:spPr>
          <a:xfrm>
            <a:off x="5897880" y="3127248"/>
            <a:ext cx="2990088" cy="256032"/>
          </a:xfrm>
          <a:prstGeom prst="rect">
            <a:avLst/>
          </a:prstGeom>
          <a:solidFill>
            <a:srgbClr val="FFD93D">
              <a:alpha val="80000"/>
            </a:srgbClr>
          </a:solidFill>
          <a:ln w="12700">
            <a:solidFill>
              <a:srgbClr val="1A2E4A"/>
            </a:solidFill>
            <a:prstDash val="solid"/>
          </a:ln>
        </p:spPr>
      </p:sp>
      <p:sp>
        <p:nvSpPr>
          <p:cNvPr id="29" name="Text 27"/>
          <p:cNvSpPr/>
          <p:nvPr/>
        </p:nvSpPr>
        <p:spPr>
          <a:xfrm>
            <a:off x="5989320" y="3163824"/>
            <a:ext cx="2788920" cy="182880"/>
          </a:xfrm>
          <a:prstGeom prst="rect">
            <a:avLst/>
          </a:prstGeom>
          <a:noFill/>
          <a:ln/>
        </p:spPr>
        <p:txBody>
          <a:bodyPr wrap="square" rtlCol="0" anchor="ctr"/>
          <a:lstStyle/>
          <a:p>
            <a:pPr marL="0" indent="0">
              <a:buNone/>
            </a:pPr>
            <a:r>
              <a:rPr lang="en-US" sz="1000" b="1" dirty="0">
                <a:solidFill>
                  <a:srgbClr val="FFD93D"/>
                </a:solidFill>
              </a:rPr>
              <a:t>Q5 · Avg kWh per Session</a:t>
            </a:r>
            <a:endParaRPr lang="en-US" sz="1000" dirty="0"/>
          </a:p>
        </p:txBody>
      </p:sp>
      <p:sp>
        <p:nvSpPr>
          <p:cNvPr id="30" name="Text 28"/>
          <p:cNvSpPr/>
          <p:nvPr/>
        </p:nvSpPr>
        <p:spPr>
          <a:xfrm>
            <a:off x="5989320" y="3419856"/>
            <a:ext cx="2788920" cy="384048"/>
          </a:xfrm>
          <a:prstGeom prst="rect">
            <a:avLst/>
          </a:prstGeom>
          <a:noFill/>
          <a:ln/>
        </p:spPr>
        <p:txBody>
          <a:bodyPr wrap="square" rtlCol="0" anchor="ctr"/>
          <a:lstStyle/>
          <a:p>
            <a:pPr marL="0" indent="0">
              <a:buNone/>
            </a:pPr>
            <a:r>
              <a:rPr lang="en-US" sz="880" dirty="0">
                <a:solidFill>
                  <a:srgbClr val="98C379"/>
                </a:solidFill>
                <a:latin typeface="Courier New" pitchFamily="34" charset="0"/>
                <a:ea typeface="Courier New" pitchFamily="34" charset="-122"/>
                <a:cs typeface="Courier New" pitchFamily="34" charset="-120"/>
              </a:rPr>
              <a:t>SELECT ROUND(AVG(kwh_charged),2)</a:t>
            </a:r>
            <a:endParaRPr lang="en-US" sz="880" dirty="0"/>
          </a:p>
          <a:p>
            <a:pPr marL="0" indent="0">
              <a:buNone/>
            </a:pPr>
            <a:r>
              <a:rPr lang="en-US" sz="880" dirty="0">
                <a:solidFill>
                  <a:srgbClr val="98C379"/>
                </a:solidFill>
                <a:latin typeface="Courier New" pitchFamily="34" charset="0"/>
                <a:ea typeface="Courier New" pitchFamily="34" charset="-122"/>
                <a:cs typeface="Courier New" pitchFamily="34" charset="-120"/>
              </a:rPr>
              <a:t>AS avg_kwh_per_session</a:t>
            </a:r>
            <a:endParaRPr lang="en-US" sz="880" dirty="0"/>
          </a:p>
          <a:p>
            <a:pPr marL="0" indent="0">
              <a:buNone/>
            </a:pPr>
            <a:r>
              <a:rPr lang="en-US" sz="880" dirty="0">
                <a:solidFill>
                  <a:srgbClr val="98C379"/>
                </a:solidFill>
                <a:latin typeface="Courier New" pitchFamily="34" charset="0"/>
                <a:ea typeface="Courier New" pitchFamily="34" charset="-122"/>
                <a:cs typeface="Courier New" pitchFamily="34" charset="-120"/>
              </a:rPr>
              <a:t>FROM charging_sessions;</a:t>
            </a:r>
            <a:endParaRPr lang="en-US" sz="880" dirty="0"/>
          </a:p>
        </p:txBody>
      </p:sp>
      <p:sp>
        <p:nvSpPr>
          <p:cNvPr id="31" name="Text 29"/>
          <p:cNvSpPr/>
          <p:nvPr/>
        </p:nvSpPr>
        <p:spPr>
          <a:xfrm>
            <a:off x="5989320" y="3858768"/>
            <a:ext cx="2788920" cy="822960"/>
          </a:xfrm>
          <a:prstGeom prst="rect">
            <a:avLst/>
          </a:prstGeom>
          <a:noFill/>
          <a:ln/>
        </p:spPr>
        <p:txBody>
          <a:bodyPr wrap="square" rtlCol="0" anchor="ctr"/>
          <a:lstStyle/>
          <a:p>
            <a:pPr marL="0" indent="0">
              <a:lnSpc>
                <a:spcPct val="130000"/>
              </a:lnSpc>
              <a:buNone/>
            </a:pPr>
            <a:r>
              <a:rPr lang="en-US" sz="950" dirty="0">
                <a:solidFill>
                  <a:srgbClr val="7A90B0"/>
                </a:solidFill>
              </a:rPr>
              <a:t>📊 Result: 39.13 kWh avg per session</a:t>
            </a:r>
            <a:endParaRPr lang="en-US" sz="950" dirty="0"/>
          </a:p>
          <a:p>
            <a:pPr marL="0" indent="0">
              <a:lnSpc>
                <a:spcPct val="130000"/>
              </a:lnSpc>
              <a:buNone/>
            </a:pPr>
            <a:r>
              <a:rPr lang="en-US" sz="950" dirty="0">
                <a:solidFill>
                  <a:srgbClr val="7A90B0"/>
                </a:solidFill>
              </a:rPr>
              <a:t>This is high, driven by premium EVs</a:t>
            </a:r>
            <a:endParaRPr lang="en-US" sz="950" dirty="0"/>
          </a:p>
          <a:p>
            <a:pPr marL="0" indent="0">
              <a:lnSpc>
                <a:spcPct val="130000"/>
              </a:lnSpc>
              <a:buNone/>
            </a:pPr>
            <a:r>
              <a:rPr lang="en-US" sz="950" dirty="0">
                <a:solidFill>
                  <a:srgbClr val="7A90B0"/>
                </a:solidFill>
              </a:rPr>
              <a:t>(Audi e-tron 61.6 kWh, Porsche 60.3 kWh)</a:t>
            </a:r>
            <a:endParaRPr lang="en-US" sz="950" dirty="0"/>
          </a:p>
          <a:p>
            <a:pPr marL="0" indent="0">
              <a:lnSpc>
                <a:spcPct val="130000"/>
              </a:lnSpc>
              <a:buNone/>
            </a:pPr>
            <a:r>
              <a:rPr lang="en-US" sz="950" dirty="0">
                <a:solidFill>
                  <a:srgbClr val="7A90B0"/>
                </a:solidFill>
              </a:rPr>
              <a:t>boosting the network average upward.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F9B3B"/>
          </a:solidFill>
          <a:ln w="12700">
            <a:solidFill>
              <a:srgbClr val="FF9B3B"/>
            </a:solidFill>
            <a:prstDash val="solid"/>
          </a:ln>
        </p:spPr>
      </p:sp>
      <p:sp>
        <p:nvSpPr>
          <p:cNvPr id="3" name="Text 1"/>
          <p:cNvSpPr/>
          <p:nvPr/>
        </p:nvSpPr>
        <p:spPr>
          <a:xfrm>
            <a:off x="256032" y="146304"/>
            <a:ext cx="8686800" cy="237744"/>
          </a:xfrm>
          <a:prstGeom prst="rect">
            <a:avLst/>
          </a:prstGeom>
          <a:noFill/>
          <a:ln/>
        </p:spPr>
        <p:txBody>
          <a:bodyPr wrap="square" rtlCol="0" anchor="ctr"/>
          <a:lstStyle/>
          <a:p>
            <a:pPr marL="0" indent="0">
              <a:buNone/>
            </a:pPr>
            <a:r>
              <a:rPr lang="en-US" sz="800" b="1" kern="0" spc="250" dirty="0">
                <a:solidFill>
                  <a:srgbClr val="FF9B3B"/>
                </a:solidFill>
              </a:rPr>
              <a:t>SQL PART 2  ·  INTERMEDIATE QUERIES (Q6–Q10)</a:t>
            </a:r>
            <a:endParaRPr lang="en-US" sz="800" dirty="0"/>
          </a:p>
        </p:txBody>
      </p:sp>
      <p:sp>
        <p:nvSpPr>
          <p:cNvPr id="4" name="Text 2"/>
          <p:cNvSpPr/>
          <p:nvPr/>
        </p:nvSpPr>
        <p:spPr>
          <a:xfrm>
            <a:off x="256032" y="384048"/>
            <a:ext cx="8595360" cy="530352"/>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Revenue, Energy &amp; Behavioral Analysis</a:t>
            </a:r>
            <a:endParaRPr lang="en-US" sz="2800" dirty="0"/>
          </a:p>
        </p:txBody>
      </p:sp>
      <p:sp>
        <p:nvSpPr>
          <p:cNvPr id="5" name="Text 3"/>
          <p:cNvSpPr/>
          <p:nvPr/>
        </p:nvSpPr>
        <p:spPr>
          <a:xfrm>
            <a:off x="256032" y="914400"/>
            <a:ext cx="8595360" cy="256032"/>
          </a:xfrm>
          <a:prstGeom prst="rect">
            <a:avLst/>
          </a:prstGeom>
          <a:noFill/>
          <a:ln/>
        </p:spPr>
        <p:txBody>
          <a:bodyPr wrap="square" rtlCol="0" anchor="ctr"/>
          <a:lstStyle/>
          <a:p>
            <a:pPr marL="0" indent="0">
              <a:buNone/>
            </a:pPr>
            <a:r>
              <a:rPr lang="en-US" sz="1100" i="1" dirty="0">
                <a:solidFill>
                  <a:srgbClr val="7A90B0"/>
                </a:solidFill>
              </a:rPr>
              <a:t>Aggregating business-critical metrics across districts, stations and customer segments</a:t>
            </a:r>
            <a:endParaRPr lang="en-US" sz="1100" dirty="0"/>
          </a:p>
        </p:txBody>
      </p:sp>
      <p:sp>
        <p:nvSpPr>
          <p:cNvPr id="6" name="Shape 4"/>
          <p:cNvSpPr/>
          <p:nvPr/>
        </p:nvSpPr>
        <p:spPr>
          <a:xfrm>
            <a:off x="256032" y="1207008"/>
            <a:ext cx="8631936" cy="18288"/>
          </a:xfrm>
          <a:prstGeom prst="rect">
            <a:avLst/>
          </a:prstGeom>
          <a:solidFill>
            <a:srgbClr val="1A2E4A"/>
          </a:solidFill>
          <a:ln w="12700">
            <a:solidFill>
              <a:srgbClr val="1A2E4A"/>
            </a:solidFill>
            <a:prstDash val="solid"/>
          </a:ln>
        </p:spPr>
      </p:sp>
      <p:sp>
        <p:nvSpPr>
          <p:cNvPr id="7" name="Shape 5"/>
          <p:cNvSpPr/>
          <p:nvPr/>
        </p:nvSpPr>
        <p:spPr>
          <a:xfrm>
            <a:off x="256032" y="1298448"/>
            <a:ext cx="2798064" cy="1828800"/>
          </a:xfrm>
          <a:prstGeom prst="rect">
            <a:avLst/>
          </a:prstGeom>
          <a:solidFill>
            <a:srgbClr val="0F1F35"/>
          </a:solidFill>
          <a:ln w="12700">
            <a:solidFill>
              <a:srgbClr val="FF9B3B"/>
            </a:solidFill>
            <a:prstDash val="solid"/>
          </a:ln>
          <a:effectLst>
            <a:outerShdw blurRad="127000" dist="38100" dir="8100000" algn="bl" rotWithShape="0">
              <a:srgbClr val="000000">
                <a:alpha val="30000"/>
              </a:srgbClr>
            </a:outerShdw>
          </a:effectLst>
        </p:spPr>
      </p:sp>
      <p:sp>
        <p:nvSpPr>
          <p:cNvPr id="8" name="Shape 6"/>
          <p:cNvSpPr/>
          <p:nvPr/>
        </p:nvSpPr>
        <p:spPr>
          <a:xfrm>
            <a:off x="256032" y="1298448"/>
            <a:ext cx="2798064" cy="256032"/>
          </a:xfrm>
          <a:prstGeom prst="rect">
            <a:avLst/>
          </a:prstGeom>
          <a:solidFill>
            <a:srgbClr val="FF9B3B">
              <a:alpha val="80000"/>
            </a:srgbClr>
          </a:solidFill>
          <a:ln w="12700">
            <a:solidFill>
              <a:srgbClr val="1A2E4A"/>
            </a:solidFill>
            <a:prstDash val="solid"/>
          </a:ln>
        </p:spPr>
      </p:sp>
      <p:sp>
        <p:nvSpPr>
          <p:cNvPr id="9" name="Text 7"/>
          <p:cNvSpPr/>
          <p:nvPr/>
        </p:nvSpPr>
        <p:spPr>
          <a:xfrm>
            <a:off x="347472" y="1335024"/>
            <a:ext cx="2615184" cy="182880"/>
          </a:xfrm>
          <a:prstGeom prst="rect">
            <a:avLst/>
          </a:prstGeom>
          <a:noFill/>
          <a:ln/>
        </p:spPr>
        <p:txBody>
          <a:bodyPr wrap="square" rtlCol="0" anchor="ctr"/>
          <a:lstStyle/>
          <a:p>
            <a:pPr marL="0" indent="0">
              <a:buNone/>
            </a:pPr>
            <a:r>
              <a:rPr lang="en-US" sz="950" b="1" dirty="0">
                <a:solidFill>
                  <a:srgbClr val="FF9B3B"/>
                </a:solidFill>
              </a:rPr>
              <a:t>Q6 · kWh by District</a:t>
            </a:r>
            <a:endParaRPr lang="en-US" sz="950" dirty="0"/>
          </a:p>
        </p:txBody>
      </p:sp>
      <p:sp>
        <p:nvSpPr>
          <p:cNvPr id="10" name="Text 8"/>
          <p:cNvSpPr/>
          <p:nvPr/>
        </p:nvSpPr>
        <p:spPr>
          <a:xfrm>
            <a:off x="347472" y="1591056"/>
            <a:ext cx="2633472" cy="822960"/>
          </a:xfrm>
          <a:prstGeom prst="rect">
            <a:avLst/>
          </a:prstGeom>
          <a:noFill/>
          <a:ln/>
        </p:spPr>
        <p:txBody>
          <a:bodyPr wrap="square" rtlCol="0" anchor="ctr"/>
          <a:lstStyle/>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SELECT cs.district_name,</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ROUND(SUM(se.kwh_charged),2)</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FROM charging_sessions se</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JOIN charging_stations cs</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  ON se.station_id=cs.station_id</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GROUP BY cs.district_name</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ORDER BY SUM(se.kwh_charged) DESC;</a:t>
            </a:r>
            <a:endParaRPr lang="en-US" sz="800" dirty="0"/>
          </a:p>
        </p:txBody>
      </p:sp>
      <p:sp>
        <p:nvSpPr>
          <p:cNvPr id="11" name="Shape 9"/>
          <p:cNvSpPr/>
          <p:nvPr/>
        </p:nvSpPr>
        <p:spPr>
          <a:xfrm>
            <a:off x="347472" y="2432304"/>
            <a:ext cx="2615184" cy="18288"/>
          </a:xfrm>
          <a:prstGeom prst="rect">
            <a:avLst/>
          </a:prstGeom>
          <a:solidFill>
            <a:srgbClr val="1A2E4A"/>
          </a:solidFill>
          <a:ln w="12700">
            <a:solidFill>
              <a:srgbClr val="1A2E4A"/>
            </a:solidFill>
            <a:prstDash val="solid"/>
          </a:ln>
        </p:spPr>
      </p:sp>
      <p:sp>
        <p:nvSpPr>
          <p:cNvPr id="12" name="Text 10"/>
          <p:cNvSpPr/>
          <p:nvPr/>
        </p:nvSpPr>
        <p:spPr>
          <a:xfrm>
            <a:off x="347472" y="2487168"/>
            <a:ext cx="2633472" cy="585216"/>
          </a:xfrm>
          <a:prstGeom prst="rect">
            <a:avLst/>
          </a:prstGeom>
          <a:noFill/>
          <a:ln/>
        </p:spPr>
        <p:txBody>
          <a:bodyPr wrap="square" rtlCol="0" anchor="ctr"/>
          <a:lstStyle/>
          <a:p>
            <a:pPr marL="0" indent="0">
              <a:lnSpc>
                <a:spcPct val="125000"/>
              </a:lnSpc>
              <a:buNone/>
            </a:pPr>
            <a:r>
              <a:rPr lang="en-US" sz="900" dirty="0">
                <a:solidFill>
                  <a:srgbClr val="7A90B0"/>
                </a:solidFill>
              </a:rPr>
              <a:t>📊 Top: Ursynów 820,630 kWh</a:t>
            </a:r>
            <a:endParaRPr lang="en-US" sz="900" dirty="0"/>
          </a:p>
          <a:p>
            <a:pPr marL="0" indent="0">
              <a:lnSpc>
                <a:spcPct val="125000"/>
              </a:lnSpc>
              <a:buNone/>
            </a:pPr>
            <a:r>
              <a:rPr lang="en-US" sz="900" dirty="0">
                <a:solidFill>
                  <a:srgbClr val="7A90B0"/>
                </a:solidFill>
              </a:rPr>
              <a:t>Wesoła 767,641 kWh</a:t>
            </a:r>
            <a:endParaRPr lang="en-US" sz="900" dirty="0"/>
          </a:p>
          <a:p>
            <a:pPr marL="0" indent="0">
              <a:lnSpc>
                <a:spcPct val="125000"/>
              </a:lnSpc>
              <a:buNone/>
            </a:pPr>
            <a:r>
              <a:rPr lang="en-US" sz="900" dirty="0">
                <a:solidFill>
                  <a:srgbClr val="7A90B0"/>
                </a:solidFill>
              </a:rPr>
              <a:t>Wilanów 546,042 kWh</a:t>
            </a:r>
            <a:endParaRPr lang="en-US" sz="900" dirty="0"/>
          </a:p>
          <a:p>
            <a:pPr marL="0" indent="0">
              <a:lnSpc>
                <a:spcPct val="125000"/>
              </a:lnSpc>
              <a:buNone/>
            </a:pPr>
            <a:r>
              <a:rPr lang="en-US" sz="900" dirty="0">
                <a:solidFill>
                  <a:srgbClr val="7A90B0"/>
                </a:solidFill>
              </a:rPr>
              <a:t>5 districts: 0 kWh (no stations)</a:t>
            </a:r>
            <a:endParaRPr lang="en-US" sz="900" dirty="0"/>
          </a:p>
        </p:txBody>
      </p:sp>
      <p:sp>
        <p:nvSpPr>
          <p:cNvPr id="13" name="Shape 11"/>
          <p:cNvSpPr/>
          <p:nvPr/>
        </p:nvSpPr>
        <p:spPr>
          <a:xfrm>
            <a:off x="3218688" y="1298448"/>
            <a:ext cx="2798064" cy="1828800"/>
          </a:xfrm>
          <a:prstGeom prst="rect">
            <a:avLst/>
          </a:prstGeom>
          <a:solidFill>
            <a:srgbClr val="0F1F35"/>
          </a:solidFill>
          <a:ln w="12700">
            <a:solidFill>
              <a:srgbClr val="00D4FF"/>
            </a:solidFill>
            <a:prstDash val="solid"/>
          </a:ln>
          <a:effectLst>
            <a:outerShdw blurRad="127000" dist="38100" dir="8100000" algn="bl" rotWithShape="0">
              <a:srgbClr val="000000">
                <a:alpha val="30000"/>
              </a:srgbClr>
            </a:outerShdw>
          </a:effectLst>
        </p:spPr>
      </p:sp>
      <p:sp>
        <p:nvSpPr>
          <p:cNvPr id="14" name="Shape 12"/>
          <p:cNvSpPr/>
          <p:nvPr/>
        </p:nvSpPr>
        <p:spPr>
          <a:xfrm>
            <a:off x="3218688" y="1298448"/>
            <a:ext cx="2798064" cy="256032"/>
          </a:xfrm>
          <a:prstGeom prst="rect">
            <a:avLst/>
          </a:prstGeom>
          <a:solidFill>
            <a:srgbClr val="00D4FF">
              <a:alpha val="80000"/>
            </a:srgbClr>
          </a:solidFill>
          <a:ln w="12700">
            <a:solidFill>
              <a:srgbClr val="1A2E4A"/>
            </a:solidFill>
            <a:prstDash val="solid"/>
          </a:ln>
        </p:spPr>
      </p:sp>
      <p:sp>
        <p:nvSpPr>
          <p:cNvPr id="15" name="Text 13"/>
          <p:cNvSpPr/>
          <p:nvPr/>
        </p:nvSpPr>
        <p:spPr>
          <a:xfrm>
            <a:off x="3310128" y="1335024"/>
            <a:ext cx="2615184" cy="182880"/>
          </a:xfrm>
          <a:prstGeom prst="rect">
            <a:avLst/>
          </a:prstGeom>
          <a:noFill/>
          <a:ln/>
        </p:spPr>
        <p:txBody>
          <a:bodyPr wrap="square" rtlCol="0" anchor="ctr"/>
          <a:lstStyle/>
          <a:p>
            <a:pPr marL="0" indent="0">
              <a:buNone/>
            </a:pPr>
            <a:r>
              <a:rPr lang="en-US" sz="950" b="1" dirty="0">
                <a:solidFill>
                  <a:srgbClr val="00D4FF"/>
                </a:solidFill>
              </a:rPr>
              <a:t>Q7 · Top 5 Stations by Sessions</a:t>
            </a:r>
            <a:endParaRPr lang="en-US" sz="950" dirty="0"/>
          </a:p>
        </p:txBody>
      </p:sp>
      <p:sp>
        <p:nvSpPr>
          <p:cNvPr id="16" name="Text 14"/>
          <p:cNvSpPr/>
          <p:nvPr/>
        </p:nvSpPr>
        <p:spPr>
          <a:xfrm>
            <a:off x="3310128" y="1591056"/>
            <a:ext cx="2633472" cy="822960"/>
          </a:xfrm>
          <a:prstGeom prst="rect">
            <a:avLst/>
          </a:prstGeom>
          <a:noFill/>
          <a:ln/>
        </p:spPr>
        <p:txBody>
          <a:bodyPr wrap="square" rtlCol="0" anchor="ctr"/>
          <a:lstStyle/>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SELECT station_id,</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COUNT(*) AS total_sessions</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FROM charging_sessions</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GROUP BY station_id</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ORDER BY total_sessions DESC</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LIMIT 5;</a:t>
            </a:r>
            <a:endParaRPr lang="en-US" sz="800" dirty="0"/>
          </a:p>
        </p:txBody>
      </p:sp>
      <p:sp>
        <p:nvSpPr>
          <p:cNvPr id="17" name="Shape 15"/>
          <p:cNvSpPr/>
          <p:nvPr/>
        </p:nvSpPr>
        <p:spPr>
          <a:xfrm>
            <a:off x="3310128" y="2432304"/>
            <a:ext cx="2615184" cy="18288"/>
          </a:xfrm>
          <a:prstGeom prst="rect">
            <a:avLst/>
          </a:prstGeom>
          <a:solidFill>
            <a:srgbClr val="1A2E4A"/>
          </a:solidFill>
          <a:ln w="12700">
            <a:solidFill>
              <a:srgbClr val="1A2E4A"/>
            </a:solidFill>
            <a:prstDash val="solid"/>
          </a:ln>
        </p:spPr>
      </p:sp>
      <p:sp>
        <p:nvSpPr>
          <p:cNvPr id="18" name="Text 16"/>
          <p:cNvSpPr/>
          <p:nvPr/>
        </p:nvSpPr>
        <p:spPr>
          <a:xfrm>
            <a:off x="3310128" y="2487168"/>
            <a:ext cx="2633472" cy="585216"/>
          </a:xfrm>
          <a:prstGeom prst="rect">
            <a:avLst/>
          </a:prstGeom>
          <a:noFill/>
          <a:ln/>
        </p:spPr>
        <p:txBody>
          <a:bodyPr wrap="square" rtlCol="0" anchor="ctr"/>
          <a:lstStyle/>
          <a:p>
            <a:pPr marL="0" indent="0">
              <a:lnSpc>
                <a:spcPct val="125000"/>
              </a:lnSpc>
              <a:buNone/>
            </a:pPr>
            <a:r>
              <a:rPr lang="en-US" sz="900" dirty="0">
                <a:solidFill>
                  <a:srgbClr val="7A90B0"/>
                </a:solidFill>
              </a:rPr>
              <a:t>📊 #1 Station 163: 1,856</a:t>
            </a:r>
            <a:endParaRPr lang="en-US" sz="900" dirty="0"/>
          </a:p>
          <a:p>
            <a:pPr marL="0" indent="0">
              <a:lnSpc>
                <a:spcPct val="125000"/>
              </a:lnSpc>
              <a:buNone/>
            </a:pPr>
            <a:r>
              <a:rPr lang="en-US" sz="900" dirty="0">
                <a:solidFill>
                  <a:srgbClr val="7A90B0"/>
                </a:solidFill>
              </a:rPr>
              <a:t>#2 Station 150: 1,851</a:t>
            </a:r>
            <a:endParaRPr lang="en-US" sz="900" dirty="0"/>
          </a:p>
          <a:p>
            <a:pPr marL="0" indent="0">
              <a:lnSpc>
                <a:spcPct val="125000"/>
              </a:lnSpc>
              <a:buNone/>
            </a:pPr>
            <a:r>
              <a:rPr lang="en-US" sz="900" dirty="0">
                <a:solidFill>
                  <a:srgbClr val="7A90B0"/>
                </a:solidFill>
              </a:rPr>
              <a:t>#3 Station 27: 1,825</a:t>
            </a:r>
            <a:endParaRPr lang="en-US" sz="900" dirty="0"/>
          </a:p>
          <a:p>
            <a:pPr marL="0" indent="0">
              <a:lnSpc>
                <a:spcPct val="125000"/>
              </a:lnSpc>
              <a:buNone/>
            </a:pPr>
            <a:r>
              <a:rPr lang="en-US" sz="900" dirty="0">
                <a:solidFill>
                  <a:srgbClr val="7A90B0"/>
                </a:solidFill>
              </a:rPr>
              <a:t>#4 Station 92: 1,824</a:t>
            </a:r>
            <a:endParaRPr lang="en-US" sz="900" dirty="0"/>
          </a:p>
          <a:p>
            <a:pPr marL="0" indent="0">
              <a:lnSpc>
                <a:spcPct val="125000"/>
              </a:lnSpc>
              <a:buNone/>
            </a:pPr>
            <a:r>
              <a:rPr lang="en-US" sz="900" dirty="0">
                <a:solidFill>
                  <a:srgbClr val="7A90B0"/>
                </a:solidFill>
              </a:rPr>
              <a:t>#5 Station 68: 1,811</a:t>
            </a:r>
            <a:endParaRPr lang="en-US" sz="900" dirty="0"/>
          </a:p>
        </p:txBody>
      </p:sp>
      <p:sp>
        <p:nvSpPr>
          <p:cNvPr id="19" name="Shape 17"/>
          <p:cNvSpPr/>
          <p:nvPr/>
        </p:nvSpPr>
        <p:spPr>
          <a:xfrm>
            <a:off x="6181344" y="1298448"/>
            <a:ext cx="2798064" cy="1828800"/>
          </a:xfrm>
          <a:prstGeom prst="rect">
            <a:avLst/>
          </a:prstGeom>
          <a:solidFill>
            <a:srgbClr val="0F1F35"/>
          </a:solidFill>
          <a:ln w="12700">
            <a:solidFill>
              <a:srgbClr val="00E5A0"/>
            </a:solidFill>
            <a:prstDash val="solid"/>
          </a:ln>
          <a:effectLst>
            <a:outerShdw blurRad="127000" dist="38100" dir="8100000" algn="bl" rotWithShape="0">
              <a:srgbClr val="000000">
                <a:alpha val="30000"/>
              </a:srgbClr>
            </a:outerShdw>
          </a:effectLst>
        </p:spPr>
      </p:sp>
      <p:sp>
        <p:nvSpPr>
          <p:cNvPr id="20" name="Shape 18"/>
          <p:cNvSpPr/>
          <p:nvPr/>
        </p:nvSpPr>
        <p:spPr>
          <a:xfrm>
            <a:off x="6181344" y="1298448"/>
            <a:ext cx="2798064" cy="256032"/>
          </a:xfrm>
          <a:prstGeom prst="rect">
            <a:avLst/>
          </a:prstGeom>
          <a:solidFill>
            <a:srgbClr val="00E5A0">
              <a:alpha val="80000"/>
            </a:srgbClr>
          </a:solidFill>
          <a:ln w="12700">
            <a:solidFill>
              <a:srgbClr val="1A2E4A"/>
            </a:solidFill>
            <a:prstDash val="solid"/>
          </a:ln>
        </p:spPr>
      </p:sp>
      <p:sp>
        <p:nvSpPr>
          <p:cNvPr id="21" name="Text 19"/>
          <p:cNvSpPr/>
          <p:nvPr/>
        </p:nvSpPr>
        <p:spPr>
          <a:xfrm>
            <a:off x="6272784" y="1335024"/>
            <a:ext cx="2615184" cy="182880"/>
          </a:xfrm>
          <a:prstGeom prst="rect">
            <a:avLst/>
          </a:prstGeom>
          <a:noFill/>
          <a:ln/>
        </p:spPr>
        <p:txBody>
          <a:bodyPr wrap="square" rtlCol="0" anchor="ctr"/>
          <a:lstStyle/>
          <a:p>
            <a:pPr marL="0" indent="0">
              <a:buNone/>
            </a:pPr>
            <a:r>
              <a:rPr lang="en-US" sz="950" b="1" dirty="0">
                <a:solidFill>
                  <a:srgbClr val="00E5A0"/>
                </a:solidFill>
              </a:rPr>
              <a:t>Q8 · Revenue by District</a:t>
            </a:r>
            <a:endParaRPr lang="en-US" sz="950" dirty="0"/>
          </a:p>
        </p:txBody>
      </p:sp>
      <p:sp>
        <p:nvSpPr>
          <p:cNvPr id="22" name="Text 20"/>
          <p:cNvSpPr/>
          <p:nvPr/>
        </p:nvSpPr>
        <p:spPr>
          <a:xfrm>
            <a:off x="6272784" y="1591056"/>
            <a:ext cx="2633472" cy="822960"/>
          </a:xfrm>
          <a:prstGeom prst="rect">
            <a:avLst/>
          </a:prstGeom>
          <a:noFill/>
          <a:ln/>
        </p:spPr>
        <p:txBody>
          <a:bodyPr wrap="square" rtlCol="0" anchor="ctr"/>
          <a:lstStyle/>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SELECT cs.district_name,</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ROUND(SUM(se.total_cost),2)</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  AS total_revenue</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FROM charging_sessions se</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JOIN charging_stations cs</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  ON se.station_id=cs.station_id</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GROUP BY district_name</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ORDER BY total_revenue DESC;</a:t>
            </a:r>
            <a:endParaRPr lang="en-US" sz="800" dirty="0"/>
          </a:p>
        </p:txBody>
      </p:sp>
      <p:sp>
        <p:nvSpPr>
          <p:cNvPr id="23" name="Shape 21"/>
          <p:cNvSpPr/>
          <p:nvPr/>
        </p:nvSpPr>
        <p:spPr>
          <a:xfrm>
            <a:off x="6272784" y="2432304"/>
            <a:ext cx="2615184" cy="18288"/>
          </a:xfrm>
          <a:prstGeom prst="rect">
            <a:avLst/>
          </a:prstGeom>
          <a:solidFill>
            <a:srgbClr val="1A2E4A"/>
          </a:solidFill>
          <a:ln w="12700">
            <a:solidFill>
              <a:srgbClr val="1A2E4A"/>
            </a:solidFill>
            <a:prstDash val="solid"/>
          </a:ln>
        </p:spPr>
      </p:sp>
      <p:sp>
        <p:nvSpPr>
          <p:cNvPr id="24" name="Text 22"/>
          <p:cNvSpPr/>
          <p:nvPr/>
        </p:nvSpPr>
        <p:spPr>
          <a:xfrm>
            <a:off x="6272784" y="2487168"/>
            <a:ext cx="2633472" cy="585216"/>
          </a:xfrm>
          <a:prstGeom prst="rect">
            <a:avLst/>
          </a:prstGeom>
          <a:noFill/>
          <a:ln/>
        </p:spPr>
        <p:txBody>
          <a:bodyPr wrap="square" rtlCol="0" anchor="ctr"/>
          <a:lstStyle/>
          <a:p>
            <a:pPr marL="0" indent="0">
              <a:lnSpc>
                <a:spcPct val="125000"/>
              </a:lnSpc>
              <a:buNone/>
            </a:pPr>
            <a:r>
              <a:rPr lang="en-US" sz="900" dirty="0">
                <a:solidFill>
                  <a:srgbClr val="7A90B0"/>
                </a:solidFill>
              </a:rPr>
              <a:t>📊 Ursynów: zł2,101,300</a:t>
            </a:r>
            <a:endParaRPr lang="en-US" sz="900" dirty="0"/>
          </a:p>
          <a:p>
            <a:pPr marL="0" indent="0">
              <a:lnSpc>
                <a:spcPct val="125000"/>
              </a:lnSpc>
              <a:buNone/>
            </a:pPr>
            <a:r>
              <a:rPr lang="en-US" sz="900" dirty="0">
                <a:solidFill>
                  <a:srgbClr val="7A90B0"/>
                </a:solidFill>
              </a:rPr>
              <a:t>Wesoła: zł1,964,951</a:t>
            </a:r>
            <a:endParaRPr lang="en-US" sz="900" dirty="0"/>
          </a:p>
          <a:p>
            <a:pPr marL="0" indent="0">
              <a:lnSpc>
                <a:spcPct val="125000"/>
              </a:lnSpc>
              <a:buNone/>
            </a:pPr>
            <a:r>
              <a:rPr lang="en-US" sz="900" dirty="0">
                <a:solidFill>
                  <a:srgbClr val="7A90B0"/>
                </a:solidFill>
              </a:rPr>
              <a:t>Wilanów: zł1,398,086</a:t>
            </a:r>
            <a:endParaRPr lang="en-US" sz="900" dirty="0"/>
          </a:p>
          <a:p>
            <a:pPr marL="0" indent="0">
              <a:lnSpc>
                <a:spcPct val="125000"/>
              </a:lnSpc>
              <a:buNone/>
            </a:pPr>
            <a:r>
              <a:rPr lang="en-US" sz="900" dirty="0">
                <a:solidFill>
                  <a:srgbClr val="7A90B0"/>
                </a:solidFill>
              </a:rPr>
              <a:t>Włochy: zł1,051,340</a:t>
            </a:r>
            <a:endParaRPr lang="en-US" sz="900" dirty="0"/>
          </a:p>
        </p:txBody>
      </p:sp>
      <p:sp>
        <p:nvSpPr>
          <p:cNvPr id="25" name="Shape 23"/>
          <p:cNvSpPr/>
          <p:nvPr/>
        </p:nvSpPr>
        <p:spPr>
          <a:xfrm>
            <a:off x="256032" y="3236976"/>
            <a:ext cx="2798064" cy="1828800"/>
          </a:xfrm>
          <a:prstGeom prst="rect">
            <a:avLst/>
          </a:prstGeom>
          <a:solidFill>
            <a:srgbClr val="0F1F35"/>
          </a:solidFill>
          <a:ln w="12700">
            <a:solidFill>
              <a:srgbClr val="9B7FFF"/>
            </a:solidFill>
            <a:prstDash val="solid"/>
          </a:ln>
          <a:effectLst>
            <a:outerShdw blurRad="127000" dist="38100" dir="8100000" algn="bl" rotWithShape="0">
              <a:srgbClr val="000000">
                <a:alpha val="30000"/>
              </a:srgbClr>
            </a:outerShdw>
          </a:effectLst>
        </p:spPr>
      </p:sp>
      <p:sp>
        <p:nvSpPr>
          <p:cNvPr id="26" name="Shape 24"/>
          <p:cNvSpPr/>
          <p:nvPr/>
        </p:nvSpPr>
        <p:spPr>
          <a:xfrm>
            <a:off x="256032" y="3236976"/>
            <a:ext cx="2798064" cy="256032"/>
          </a:xfrm>
          <a:prstGeom prst="rect">
            <a:avLst/>
          </a:prstGeom>
          <a:solidFill>
            <a:srgbClr val="9B7FFF">
              <a:alpha val="80000"/>
            </a:srgbClr>
          </a:solidFill>
          <a:ln w="12700">
            <a:solidFill>
              <a:srgbClr val="1A2E4A"/>
            </a:solidFill>
            <a:prstDash val="solid"/>
          </a:ln>
        </p:spPr>
      </p:sp>
      <p:sp>
        <p:nvSpPr>
          <p:cNvPr id="27" name="Text 25"/>
          <p:cNvSpPr/>
          <p:nvPr/>
        </p:nvSpPr>
        <p:spPr>
          <a:xfrm>
            <a:off x="347472" y="3273552"/>
            <a:ext cx="2615184" cy="182880"/>
          </a:xfrm>
          <a:prstGeom prst="rect">
            <a:avLst/>
          </a:prstGeom>
          <a:noFill/>
          <a:ln/>
        </p:spPr>
        <p:txBody>
          <a:bodyPr wrap="square" rtlCol="0" anchor="ctr"/>
          <a:lstStyle/>
          <a:p>
            <a:pPr marL="0" indent="0">
              <a:buNone/>
            </a:pPr>
            <a:r>
              <a:rPr lang="en-US" sz="950" b="1" dirty="0">
                <a:solidFill>
                  <a:srgbClr val="9B7FFF"/>
                </a:solidFill>
              </a:rPr>
              <a:t>Q9 · Avg Cost by Income Tier</a:t>
            </a:r>
            <a:endParaRPr lang="en-US" sz="950" dirty="0"/>
          </a:p>
        </p:txBody>
      </p:sp>
      <p:sp>
        <p:nvSpPr>
          <p:cNvPr id="28" name="Text 26"/>
          <p:cNvSpPr/>
          <p:nvPr/>
        </p:nvSpPr>
        <p:spPr>
          <a:xfrm>
            <a:off x="347472" y="3529584"/>
            <a:ext cx="2633472" cy="822960"/>
          </a:xfrm>
          <a:prstGeom prst="rect">
            <a:avLst/>
          </a:prstGeom>
          <a:noFill/>
          <a:ln/>
        </p:spPr>
        <p:txBody>
          <a:bodyPr wrap="square" rtlCol="0" anchor="ctr"/>
          <a:lstStyle/>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SELECT c.income_tier,</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ROUND(AVG(s.total_cost),2)</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  AS avg_cost_per_session</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FROM charging_sessions s</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JOIN customers c</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  ON s.customer_id=c.customer_id</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GROUP BY c.income_tier;</a:t>
            </a:r>
            <a:endParaRPr lang="en-US" sz="800" dirty="0"/>
          </a:p>
        </p:txBody>
      </p:sp>
      <p:sp>
        <p:nvSpPr>
          <p:cNvPr id="29" name="Shape 27"/>
          <p:cNvSpPr/>
          <p:nvPr/>
        </p:nvSpPr>
        <p:spPr>
          <a:xfrm>
            <a:off x="347472" y="4370832"/>
            <a:ext cx="2615184" cy="18288"/>
          </a:xfrm>
          <a:prstGeom prst="rect">
            <a:avLst/>
          </a:prstGeom>
          <a:solidFill>
            <a:srgbClr val="1A2E4A"/>
          </a:solidFill>
          <a:ln w="12700">
            <a:solidFill>
              <a:srgbClr val="1A2E4A"/>
            </a:solidFill>
            <a:prstDash val="solid"/>
          </a:ln>
        </p:spPr>
      </p:sp>
      <p:sp>
        <p:nvSpPr>
          <p:cNvPr id="30" name="Text 28"/>
          <p:cNvSpPr/>
          <p:nvPr/>
        </p:nvSpPr>
        <p:spPr>
          <a:xfrm>
            <a:off x="347472" y="4425696"/>
            <a:ext cx="2633472" cy="585216"/>
          </a:xfrm>
          <a:prstGeom prst="rect">
            <a:avLst/>
          </a:prstGeom>
          <a:noFill/>
          <a:ln/>
        </p:spPr>
        <p:txBody>
          <a:bodyPr wrap="square" rtlCol="0" anchor="ctr"/>
          <a:lstStyle/>
          <a:p>
            <a:pPr marL="0" indent="0">
              <a:lnSpc>
                <a:spcPct val="125000"/>
              </a:lnSpc>
              <a:buNone/>
            </a:pPr>
            <a:r>
              <a:rPr lang="en-US" sz="900" dirty="0">
                <a:solidFill>
                  <a:srgbClr val="7A90B0"/>
                </a:solidFill>
              </a:rPr>
              <a:t>📊 High: zł142.45/session</a:t>
            </a:r>
            <a:endParaRPr lang="en-US" sz="900" dirty="0"/>
          </a:p>
          <a:p>
            <a:pPr marL="0" indent="0">
              <a:lnSpc>
                <a:spcPct val="125000"/>
              </a:lnSpc>
              <a:buNone/>
            </a:pPr>
            <a:r>
              <a:rPr lang="en-US" sz="900" dirty="0">
                <a:solidFill>
                  <a:srgbClr val="7A90B0"/>
                </a:solidFill>
              </a:rPr>
              <a:t>Mid-Range: zł117.78/session</a:t>
            </a:r>
            <a:endParaRPr lang="en-US" sz="900" dirty="0"/>
          </a:p>
          <a:p>
            <a:pPr marL="0" indent="0">
              <a:lnSpc>
                <a:spcPct val="125000"/>
              </a:lnSpc>
              <a:buNone/>
            </a:pPr>
            <a:r>
              <a:rPr lang="en-US" sz="900" dirty="0">
                <a:solidFill>
                  <a:srgbClr val="7A90B0"/>
                </a:solidFill>
              </a:rPr>
              <a:t>Low-Mid: zł75.19/session</a:t>
            </a:r>
            <a:endParaRPr lang="en-US" sz="900" dirty="0"/>
          </a:p>
          <a:p>
            <a:pPr marL="0" indent="0">
              <a:lnSpc>
                <a:spcPct val="125000"/>
              </a:lnSpc>
              <a:buNone/>
            </a:pPr>
            <a:r>
              <a:rPr lang="en-US" sz="900" dirty="0">
                <a:solidFill>
                  <a:srgbClr val="7A90B0"/>
                </a:solidFill>
              </a:rPr>
              <a:t>+89% premium for High tier</a:t>
            </a:r>
            <a:endParaRPr lang="en-US" sz="900" dirty="0"/>
          </a:p>
        </p:txBody>
      </p:sp>
      <p:sp>
        <p:nvSpPr>
          <p:cNvPr id="31" name="Shape 29"/>
          <p:cNvSpPr/>
          <p:nvPr/>
        </p:nvSpPr>
        <p:spPr>
          <a:xfrm>
            <a:off x="3218688" y="3236976"/>
            <a:ext cx="2798064" cy="1828800"/>
          </a:xfrm>
          <a:prstGeom prst="rect">
            <a:avLst/>
          </a:prstGeom>
          <a:solidFill>
            <a:srgbClr val="0F1F35"/>
          </a:solidFill>
          <a:ln w="12700">
            <a:solidFill>
              <a:srgbClr val="FF4B6E"/>
            </a:solidFill>
            <a:prstDash val="solid"/>
          </a:ln>
          <a:effectLst>
            <a:outerShdw blurRad="127000" dist="38100" dir="8100000" algn="bl" rotWithShape="0">
              <a:srgbClr val="000000">
                <a:alpha val="30000"/>
              </a:srgbClr>
            </a:outerShdw>
          </a:effectLst>
        </p:spPr>
      </p:sp>
      <p:sp>
        <p:nvSpPr>
          <p:cNvPr id="32" name="Shape 30"/>
          <p:cNvSpPr/>
          <p:nvPr/>
        </p:nvSpPr>
        <p:spPr>
          <a:xfrm>
            <a:off x="3218688" y="3236976"/>
            <a:ext cx="2798064" cy="256032"/>
          </a:xfrm>
          <a:prstGeom prst="rect">
            <a:avLst/>
          </a:prstGeom>
          <a:solidFill>
            <a:srgbClr val="FF4B6E">
              <a:alpha val="80000"/>
            </a:srgbClr>
          </a:solidFill>
          <a:ln w="12700">
            <a:solidFill>
              <a:srgbClr val="1A2E4A"/>
            </a:solidFill>
            <a:prstDash val="solid"/>
          </a:ln>
        </p:spPr>
      </p:sp>
      <p:sp>
        <p:nvSpPr>
          <p:cNvPr id="33" name="Text 31"/>
          <p:cNvSpPr/>
          <p:nvPr/>
        </p:nvSpPr>
        <p:spPr>
          <a:xfrm>
            <a:off x="3310128" y="3273552"/>
            <a:ext cx="2615184" cy="182880"/>
          </a:xfrm>
          <a:prstGeom prst="rect">
            <a:avLst/>
          </a:prstGeom>
          <a:noFill/>
          <a:ln/>
        </p:spPr>
        <p:txBody>
          <a:bodyPr wrap="square" rtlCol="0" anchor="ctr"/>
          <a:lstStyle/>
          <a:p>
            <a:pPr marL="0" indent="0">
              <a:buNone/>
            </a:pPr>
            <a:r>
              <a:rPr lang="en-US" sz="950" b="1" dirty="0">
                <a:solidFill>
                  <a:srgbClr val="FF4B6E"/>
                </a:solidFill>
              </a:rPr>
              <a:t>Q10 · Avg Energy per Customer</a:t>
            </a:r>
            <a:endParaRPr lang="en-US" sz="950" dirty="0"/>
          </a:p>
        </p:txBody>
      </p:sp>
      <p:sp>
        <p:nvSpPr>
          <p:cNvPr id="34" name="Text 32"/>
          <p:cNvSpPr/>
          <p:nvPr/>
        </p:nvSpPr>
        <p:spPr>
          <a:xfrm>
            <a:off x="3310128" y="3529584"/>
            <a:ext cx="2633472" cy="822960"/>
          </a:xfrm>
          <a:prstGeom prst="rect">
            <a:avLst/>
          </a:prstGeom>
          <a:noFill/>
          <a:ln/>
        </p:spPr>
        <p:txBody>
          <a:bodyPr wrap="square" rtlCol="0" anchor="ctr"/>
          <a:lstStyle/>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SELECT ROUND(AVG(total_kwh),2)</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  AS avg_kwh_per_customer</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FROM (</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  SELECT customer_id,</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  SUM(kwh_charged) AS total_kwh</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  FROM charging_sessions</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  GROUP BY customer_id</a:t>
            </a:r>
            <a:endParaRPr lang="en-US" sz="800" dirty="0"/>
          </a:p>
          <a:p>
            <a:pPr marL="0" indent="0">
              <a:lnSpc>
                <a:spcPct val="120000"/>
              </a:lnSpc>
              <a:buNone/>
            </a:pPr>
            <a:r>
              <a:rPr lang="en-US" sz="800" dirty="0">
                <a:solidFill>
                  <a:srgbClr val="98C379"/>
                </a:solidFill>
                <a:latin typeface="Courier New" pitchFamily="34" charset="0"/>
                <a:ea typeface="Courier New" pitchFamily="34" charset="-122"/>
                <a:cs typeface="Courier New" pitchFamily="34" charset="-120"/>
              </a:rPr>
              <a:t>) sub;</a:t>
            </a:r>
            <a:endParaRPr lang="en-US" sz="800" dirty="0"/>
          </a:p>
        </p:txBody>
      </p:sp>
      <p:sp>
        <p:nvSpPr>
          <p:cNvPr id="35" name="Shape 33"/>
          <p:cNvSpPr/>
          <p:nvPr/>
        </p:nvSpPr>
        <p:spPr>
          <a:xfrm>
            <a:off x="3310128" y="4370832"/>
            <a:ext cx="2615184" cy="18288"/>
          </a:xfrm>
          <a:prstGeom prst="rect">
            <a:avLst/>
          </a:prstGeom>
          <a:solidFill>
            <a:srgbClr val="1A2E4A"/>
          </a:solidFill>
          <a:ln w="12700">
            <a:solidFill>
              <a:srgbClr val="1A2E4A"/>
            </a:solidFill>
            <a:prstDash val="solid"/>
          </a:ln>
        </p:spPr>
      </p:sp>
      <p:sp>
        <p:nvSpPr>
          <p:cNvPr id="36" name="Text 34"/>
          <p:cNvSpPr/>
          <p:nvPr/>
        </p:nvSpPr>
        <p:spPr>
          <a:xfrm>
            <a:off x="3310128" y="4425696"/>
            <a:ext cx="2633472" cy="585216"/>
          </a:xfrm>
          <a:prstGeom prst="rect">
            <a:avLst/>
          </a:prstGeom>
          <a:noFill/>
          <a:ln/>
        </p:spPr>
        <p:txBody>
          <a:bodyPr wrap="square" rtlCol="0" anchor="ctr"/>
          <a:lstStyle/>
          <a:p>
            <a:pPr marL="0" indent="0">
              <a:lnSpc>
                <a:spcPct val="125000"/>
              </a:lnSpc>
              <a:buNone/>
            </a:pPr>
            <a:r>
              <a:rPr lang="en-US" sz="900" dirty="0">
                <a:solidFill>
                  <a:srgbClr val="7A90B0"/>
                </a:solidFill>
              </a:rPr>
              <a:t>📊 Result: 557.53 kWh</a:t>
            </a:r>
            <a:endParaRPr lang="en-US" sz="900" dirty="0"/>
          </a:p>
          <a:p>
            <a:pPr marL="0" indent="0">
              <a:lnSpc>
                <a:spcPct val="125000"/>
              </a:lnSpc>
              <a:buNone/>
            </a:pPr>
            <a:r>
              <a:rPr lang="en-US" sz="900" dirty="0">
                <a:solidFill>
                  <a:srgbClr val="7A90B0"/>
                </a:solidFill>
              </a:rPr>
              <a:t>per customer lifetime</a:t>
            </a:r>
            <a:endParaRPr lang="en-US" sz="900" dirty="0"/>
          </a:p>
          <a:p>
            <a:pPr marL="0" indent="0">
              <a:lnSpc>
                <a:spcPct val="125000"/>
              </a:lnSpc>
              <a:buNone/>
            </a:pPr>
            <a:r>
              <a:rPr lang="en-US" sz="900" dirty="0">
                <a:solidFill>
                  <a:srgbClr val="7A90B0"/>
                </a:solidFill>
              </a:rPr>
              <a:t>Equiv. ~9 full charge</a:t>
            </a:r>
            <a:endParaRPr lang="en-US" sz="900" dirty="0"/>
          </a:p>
          <a:p>
            <a:pPr marL="0" indent="0">
              <a:lnSpc>
                <a:spcPct val="125000"/>
              </a:lnSpc>
              <a:buNone/>
            </a:pPr>
            <a:r>
              <a:rPr lang="en-US" sz="900" dirty="0">
                <a:solidFill>
                  <a:srgbClr val="7A90B0"/>
                </a:solidFill>
              </a:rPr>
              <a:t>cycles for 60 kWh EV</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F4B6E"/>
          </a:solidFill>
          <a:ln w="12700">
            <a:solidFill>
              <a:srgbClr val="FF4B6E"/>
            </a:solidFill>
            <a:prstDash val="solid"/>
          </a:ln>
        </p:spPr>
      </p:sp>
      <p:sp>
        <p:nvSpPr>
          <p:cNvPr id="3" name="Text 1"/>
          <p:cNvSpPr/>
          <p:nvPr/>
        </p:nvSpPr>
        <p:spPr>
          <a:xfrm>
            <a:off x="256032" y="146304"/>
            <a:ext cx="8686800" cy="237744"/>
          </a:xfrm>
          <a:prstGeom prst="rect">
            <a:avLst/>
          </a:prstGeom>
          <a:noFill/>
          <a:ln/>
        </p:spPr>
        <p:txBody>
          <a:bodyPr wrap="square" rtlCol="0" anchor="ctr"/>
          <a:lstStyle/>
          <a:p>
            <a:pPr marL="0" indent="0">
              <a:buNone/>
            </a:pPr>
            <a:r>
              <a:rPr lang="en-US" sz="800" b="1" kern="0" spc="250" dirty="0">
                <a:solidFill>
                  <a:srgbClr val="FF4B6E"/>
                </a:solidFill>
              </a:rPr>
              <a:t>SQL PART 3  ·  ADVANCED QUERIES (Q11–Q14)</a:t>
            </a:r>
            <a:endParaRPr lang="en-US" sz="800" dirty="0"/>
          </a:p>
        </p:txBody>
      </p:sp>
      <p:sp>
        <p:nvSpPr>
          <p:cNvPr id="4" name="Text 2"/>
          <p:cNvSpPr/>
          <p:nvPr/>
        </p:nvSpPr>
        <p:spPr>
          <a:xfrm>
            <a:off x="256032" y="384048"/>
            <a:ext cx="8595360" cy="530352"/>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Infrastructure Gap &amp; Readiness Analysis</a:t>
            </a:r>
            <a:endParaRPr lang="en-US" sz="2800" dirty="0"/>
          </a:p>
        </p:txBody>
      </p:sp>
      <p:sp>
        <p:nvSpPr>
          <p:cNvPr id="5" name="Text 3"/>
          <p:cNvSpPr/>
          <p:nvPr/>
        </p:nvSpPr>
        <p:spPr>
          <a:xfrm>
            <a:off x="256032" y="914400"/>
            <a:ext cx="8595360" cy="256032"/>
          </a:xfrm>
          <a:prstGeom prst="rect">
            <a:avLst/>
          </a:prstGeom>
          <a:noFill/>
          <a:ln/>
        </p:spPr>
        <p:txBody>
          <a:bodyPr wrap="square" rtlCol="0" anchor="ctr"/>
          <a:lstStyle/>
          <a:p>
            <a:pPr marL="0" indent="0">
              <a:buNone/>
            </a:pPr>
            <a:r>
              <a:rPr lang="en-US" sz="1100" i="1" dirty="0">
                <a:solidFill>
                  <a:srgbClr val="7A90B0"/>
                </a:solidFill>
              </a:rPr>
              <a:t>Comparing projections against reality — Warsaw's infrastructure readiness crisis quantified</a:t>
            </a:r>
            <a:endParaRPr lang="en-US" sz="1100" dirty="0"/>
          </a:p>
        </p:txBody>
      </p:sp>
      <p:sp>
        <p:nvSpPr>
          <p:cNvPr id="6" name="Shape 4"/>
          <p:cNvSpPr/>
          <p:nvPr/>
        </p:nvSpPr>
        <p:spPr>
          <a:xfrm>
            <a:off x="256032" y="1207008"/>
            <a:ext cx="8631936" cy="18288"/>
          </a:xfrm>
          <a:prstGeom prst="rect">
            <a:avLst/>
          </a:prstGeom>
          <a:solidFill>
            <a:srgbClr val="1A2E4A"/>
          </a:solidFill>
          <a:ln w="12700">
            <a:solidFill>
              <a:srgbClr val="1A2E4A"/>
            </a:solidFill>
            <a:prstDash val="solid"/>
          </a:ln>
        </p:spPr>
      </p:sp>
      <p:sp>
        <p:nvSpPr>
          <p:cNvPr id="7" name="Shape 5"/>
          <p:cNvSpPr/>
          <p:nvPr/>
        </p:nvSpPr>
        <p:spPr>
          <a:xfrm>
            <a:off x="256032" y="1353312"/>
            <a:ext cx="4251960" cy="1737360"/>
          </a:xfrm>
          <a:prstGeom prst="rect">
            <a:avLst/>
          </a:prstGeom>
          <a:solidFill>
            <a:srgbClr val="0F1F35"/>
          </a:solidFill>
          <a:ln w="15240">
            <a:solidFill>
              <a:srgbClr val="FF9B3B"/>
            </a:solidFill>
            <a:prstDash val="solid"/>
          </a:ln>
          <a:effectLst>
            <a:outerShdw blurRad="127000" dist="38100" dir="8100000" algn="bl" rotWithShape="0">
              <a:srgbClr val="000000">
                <a:alpha val="30000"/>
              </a:srgbClr>
            </a:outerShdw>
          </a:effectLst>
        </p:spPr>
      </p:sp>
      <p:sp>
        <p:nvSpPr>
          <p:cNvPr id="8" name="Shape 6"/>
          <p:cNvSpPr/>
          <p:nvPr/>
        </p:nvSpPr>
        <p:spPr>
          <a:xfrm>
            <a:off x="256032" y="1353312"/>
            <a:ext cx="4251960" cy="256032"/>
          </a:xfrm>
          <a:prstGeom prst="rect">
            <a:avLst/>
          </a:prstGeom>
          <a:solidFill>
            <a:srgbClr val="FF9B3B">
              <a:alpha val="85000"/>
            </a:srgbClr>
          </a:solidFill>
          <a:ln w="12700">
            <a:solidFill>
              <a:srgbClr val="1A2E4A"/>
            </a:solidFill>
            <a:prstDash val="solid"/>
          </a:ln>
        </p:spPr>
      </p:sp>
      <p:sp>
        <p:nvSpPr>
          <p:cNvPr id="9" name="Text 7"/>
          <p:cNvSpPr/>
          <p:nvPr/>
        </p:nvSpPr>
        <p:spPr>
          <a:xfrm>
            <a:off x="347472" y="1389888"/>
            <a:ext cx="4069080" cy="182880"/>
          </a:xfrm>
          <a:prstGeom prst="rect">
            <a:avLst/>
          </a:prstGeom>
          <a:noFill/>
          <a:ln/>
        </p:spPr>
        <p:txBody>
          <a:bodyPr wrap="square" rtlCol="0" anchor="ctr"/>
          <a:lstStyle/>
          <a:p>
            <a:pPr marL="0" indent="0">
              <a:buNone/>
            </a:pPr>
            <a:r>
              <a:rPr lang="en-US" sz="1000" b="1" dirty="0">
                <a:solidFill>
                  <a:srgbClr val="FF9B3B"/>
                </a:solidFill>
              </a:rPr>
              <a:t>Q11 · Projected EVs vs Available Plugs</a:t>
            </a:r>
            <a:endParaRPr lang="en-US" sz="1000" dirty="0"/>
          </a:p>
        </p:txBody>
      </p:sp>
      <p:sp>
        <p:nvSpPr>
          <p:cNvPr id="10" name="Text 8"/>
          <p:cNvSpPr/>
          <p:nvPr/>
        </p:nvSpPr>
        <p:spPr>
          <a:xfrm>
            <a:off x="347472" y="1645920"/>
            <a:ext cx="2211019" cy="1051560"/>
          </a:xfrm>
          <a:prstGeom prst="rect">
            <a:avLst/>
          </a:prstGeom>
          <a:noFill/>
          <a:ln/>
        </p:spPr>
        <p:txBody>
          <a:bodyPr wrap="square" rtlCol="0" anchor="ctr"/>
          <a:lstStyle/>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SELECT d.district_name,</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d.projected_evs,</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d.projected_plugs,</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COALESCE(SUM(s.plugs_count),0)</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  AS actual_plugs</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FROM districts d</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LEFT JOIN charging_stations s</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  ON d.district_name=s.district_name</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GROUP BY d.district_name;</a:t>
            </a:r>
            <a:endParaRPr lang="en-US" sz="780" dirty="0"/>
          </a:p>
        </p:txBody>
      </p:sp>
      <p:sp>
        <p:nvSpPr>
          <p:cNvPr id="11" name="Shape 9"/>
          <p:cNvSpPr/>
          <p:nvPr/>
        </p:nvSpPr>
        <p:spPr>
          <a:xfrm>
            <a:off x="2552090" y="1645920"/>
            <a:ext cx="1870862" cy="1051560"/>
          </a:xfrm>
          <a:prstGeom prst="rect">
            <a:avLst/>
          </a:prstGeom>
          <a:solidFill>
            <a:srgbClr val="0D1829"/>
          </a:solidFill>
          <a:ln w="12700">
            <a:solidFill>
              <a:srgbClr val="1A2E4A"/>
            </a:solidFill>
            <a:prstDash val="solid"/>
          </a:ln>
        </p:spPr>
      </p:sp>
      <p:sp>
        <p:nvSpPr>
          <p:cNvPr id="12" name="Text 10"/>
          <p:cNvSpPr/>
          <p:nvPr/>
        </p:nvSpPr>
        <p:spPr>
          <a:xfrm>
            <a:off x="2594610" y="1682496"/>
            <a:ext cx="1785823" cy="914400"/>
          </a:xfrm>
          <a:prstGeom prst="rect">
            <a:avLst/>
          </a:prstGeom>
          <a:noFill/>
          <a:ln/>
        </p:spPr>
        <p:txBody>
          <a:bodyPr wrap="square" rtlCol="0" anchor="ctr"/>
          <a:lstStyle/>
          <a:p>
            <a:pPr marL="0" indent="0">
              <a:lnSpc>
                <a:spcPct val="130000"/>
              </a:lnSpc>
              <a:buNone/>
            </a:pPr>
            <a:r>
              <a:rPr lang="en-US" sz="900" dirty="0">
                <a:solidFill>
                  <a:srgbClr val="7A90B0"/>
                </a:solidFill>
              </a:rPr>
              <a:t>📊 Total projected: 37,100 EVs</a:t>
            </a:r>
            <a:endParaRPr lang="en-US" sz="900" dirty="0"/>
          </a:p>
          <a:p>
            <a:pPr marL="0" indent="0">
              <a:lnSpc>
                <a:spcPct val="130000"/>
              </a:lnSpc>
              <a:buNone/>
            </a:pPr>
            <a:r>
              <a:rPr lang="en-US" sz="900" dirty="0">
                <a:solidFill>
                  <a:srgbClr val="7A90B0"/>
                </a:solidFill>
              </a:rPr>
              <a:t>Total actual plugs: 390</a:t>
            </a:r>
            <a:endParaRPr lang="en-US" sz="900" dirty="0"/>
          </a:p>
          <a:p>
            <a:pPr marL="0" indent="0">
              <a:lnSpc>
                <a:spcPct val="130000"/>
              </a:lnSpc>
              <a:buNone/>
            </a:pPr>
            <a:r>
              <a:rPr lang="en-US" sz="900" dirty="0">
                <a:solidFill>
                  <a:srgbClr val="7A90B0"/>
                </a:solidFill>
              </a:rPr>
              <a:t>Ratio: ~95 EVs per plug</a:t>
            </a:r>
            <a:endParaRPr lang="en-US" sz="900" dirty="0"/>
          </a:p>
          <a:p>
            <a:pPr marL="0" indent="0">
              <a:lnSpc>
                <a:spcPct val="130000"/>
              </a:lnSpc>
              <a:buNone/>
            </a:pPr>
            <a:r>
              <a:rPr lang="en-US" sz="900" dirty="0">
                <a:solidFill>
                  <a:srgbClr val="7A90B0"/>
                </a:solidFill>
              </a:rPr>
              <a:t>Only Wesoła meets projections</a:t>
            </a:r>
            <a:endParaRPr lang="en-US" sz="900" dirty="0"/>
          </a:p>
        </p:txBody>
      </p:sp>
      <p:sp>
        <p:nvSpPr>
          <p:cNvPr id="13" name="Shape 11"/>
          <p:cNvSpPr/>
          <p:nvPr/>
        </p:nvSpPr>
        <p:spPr>
          <a:xfrm>
            <a:off x="4700016" y="1353312"/>
            <a:ext cx="4251960" cy="1737360"/>
          </a:xfrm>
          <a:prstGeom prst="rect">
            <a:avLst/>
          </a:prstGeom>
          <a:solidFill>
            <a:srgbClr val="0F1F35"/>
          </a:solidFill>
          <a:ln w="15240">
            <a:solidFill>
              <a:srgbClr val="FF4B6E"/>
            </a:solidFill>
            <a:prstDash val="solid"/>
          </a:ln>
          <a:effectLst>
            <a:outerShdw blurRad="127000" dist="38100" dir="8100000" algn="bl" rotWithShape="0">
              <a:srgbClr val="000000">
                <a:alpha val="30000"/>
              </a:srgbClr>
            </a:outerShdw>
          </a:effectLst>
        </p:spPr>
      </p:sp>
      <p:sp>
        <p:nvSpPr>
          <p:cNvPr id="14" name="Shape 12"/>
          <p:cNvSpPr/>
          <p:nvPr/>
        </p:nvSpPr>
        <p:spPr>
          <a:xfrm>
            <a:off x="4700016" y="1353312"/>
            <a:ext cx="4251960" cy="256032"/>
          </a:xfrm>
          <a:prstGeom prst="rect">
            <a:avLst/>
          </a:prstGeom>
          <a:solidFill>
            <a:srgbClr val="FF4B6E">
              <a:alpha val="85000"/>
            </a:srgbClr>
          </a:solidFill>
          <a:ln w="12700">
            <a:solidFill>
              <a:srgbClr val="1A2E4A"/>
            </a:solidFill>
            <a:prstDash val="solid"/>
          </a:ln>
        </p:spPr>
      </p:sp>
      <p:sp>
        <p:nvSpPr>
          <p:cNvPr id="15" name="Text 13"/>
          <p:cNvSpPr/>
          <p:nvPr/>
        </p:nvSpPr>
        <p:spPr>
          <a:xfrm>
            <a:off x="4791456" y="1389888"/>
            <a:ext cx="4069080" cy="182880"/>
          </a:xfrm>
          <a:prstGeom prst="rect">
            <a:avLst/>
          </a:prstGeom>
          <a:noFill/>
          <a:ln/>
        </p:spPr>
        <p:txBody>
          <a:bodyPr wrap="square" rtlCol="0" anchor="ctr"/>
          <a:lstStyle/>
          <a:p>
            <a:pPr marL="0" indent="0">
              <a:buNone/>
            </a:pPr>
            <a:r>
              <a:rPr lang="en-US" sz="1000" b="1" dirty="0">
                <a:solidFill>
                  <a:srgbClr val="FF4B6E"/>
                </a:solidFill>
              </a:rPr>
              <a:t>Q12 · Districts Where EVs &gt; Plugs</a:t>
            </a:r>
            <a:endParaRPr lang="en-US" sz="1000" dirty="0"/>
          </a:p>
        </p:txBody>
      </p:sp>
      <p:sp>
        <p:nvSpPr>
          <p:cNvPr id="16" name="Text 14"/>
          <p:cNvSpPr/>
          <p:nvPr/>
        </p:nvSpPr>
        <p:spPr>
          <a:xfrm>
            <a:off x="4791456" y="1645920"/>
            <a:ext cx="2211019" cy="1051560"/>
          </a:xfrm>
          <a:prstGeom prst="rect">
            <a:avLst/>
          </a:prstGeom>
          <a:noFill/>
          <a:ln/>
        </p:spPr>
        <p:txBody>
          <a:bodyPr wrap="square" rtlCol="0" anchor="ctr"/>
          <a:lstStyle/>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SELECT d.district_name,</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d.projected_evs,</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COALESCE(SUM(s.plugs_count),0)</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  AS actual_plugs</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FROM districts d</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LEFT JOIN charging_stations s</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  ON d.district_name=s.district_name</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GROUP BY d.district_name</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HAVING d.projected_evs &gt;</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  COALESCE(SUM(plugs_count),0);</a:t>
            </a:r>
            <a:endParaRPr lang="en-US" sz="780" dirty="0"/>
          </a:p>
        </p:txBody>
      </p:sp>
      <p:sp>
        <p:nvSpPr>
          <p:cNvPr id="17" name="Shape 15"/>
          <p:cNvSpPr/>
          <p:nvPr/>
        </p:nvSpPr>
        <p:spPr>
          <a:xfrm>
            <a:off x="6996074" y="1645920"/>
            <a:ext cx="1870862" cy="1051560"/>
          </a:xfrm>
          <a:prstGeom prst="rect">
            <a:avLst/>
          </a:prstGeom>
          <a:solidFill>
            <a:srgbClr val="0D1829"/>
          </a:solidFill>
          <a:ln w="12700">
            <a:solidFill>
              <a:srgbClr val="1A2E4A"/>
            </a:solidFill>
            <a:prstDash val="solid"/>
          </a:ln>
        </p:spPr>
      </p:sp>
      <p:sp>
        <p:nvSpPr>
          <p:cNvPr id="18" name="Text 16"/>
          <p:cNvSpPr/>
          <p:nvPr/>
        </p:nvSpPr>
        <p:spPr>
          <a:xfrm>
            <a:off x="7038594" y="1682496"/>
            <a:ext cx="1785823" cy="914400"/>
          </a:xfrm>
          <a:prstGeom prst="rect">
            <a:avLst/>
          </a:prstGeom>
          <a:noFill/>
          <a:ln/>
        </p:spPr>
        <p:txBody>
          <a:bodyPr wrap="square" rtlCol="0" anchor="ctr"/>
          <a:lstStyle/>
          <a:p>
            <a:pPr marL="0" indent="0">
              <a:lnSpc>
                <a:spcPct val="130000"/>
              </a:lnSpc>
              <a:buNone/>
            </a:pPr>
            <a:r>
              <a:rPr lang="en-US" sz="900" dirty="0">
                <a:solidFill>
                  <a:srgbClr val="7A90B0"/>
                </a:solidFill>
              </a:rPr>
              <a:t>📊 ALL 18 districts flagged!</a:t>
            </a:r>
            <a:endParaRPr lang="en-US" sz="900" dirty="0"/>
          </a:p>
          <a:p>
            <a:pPr marL="0" indent="0">
              <a:lnSpc>
                <a:spcPct val="130000"/>
              </a:lnSpc>
              <a:buNone/>
            </a:pPr>
            <a:r>
              <a:rPr lang="en-US" sz="900" dirty="0">
                <a:solidFill>
                  <a:srgbClr val="7A90B0"/>
                </a:solidFill>
              </a:rPr>
              <a:t>Worst: Mokotów (3,500 EVs/30 plugs)</a:t>
            </a:r>
            <a:endParaRPr lang="en-US" sz="900" dirty="0"/>
          </a:p>
          <a:p>
            <a:pPr marL="0" indent="0">
              <a:lnSpc>
                <a:spcPct val="130000"/>
              </a:lnSpc>
              <a:buNone/>
            </a:pPr>
            <a:r>
              <a:rPr lang="en-US" sz="900" dirty="0">
                <a:solidFill>
                  <a:srgbClr val="7A90B0"/>
                </a:solidFill>
              </a:rPr>
              <a:t>Wola (3,300 EVs / 12 plugs)</a:t>
            </a:r>
            <a:endParaRPr lang="en-US" sz="900" dirty="0"/>
          </a:p>
          <a:p>
            <a:pPr marL="0" indent="0">
              <a:lnSpc>
                <a:spcPct val="130000"/>
              </a:lnSpc>
              <a:buNone/>
            </a:pPr>
            <a:r>
              <a:rPr lang="en-US" sz="900" dirty="0">
                <a:solidFill>
                  <a:srgbClr val="7A90B0"/>
                </a:solidFill>
              </a:rPr>
              <a:t>5 districts: 0 plugs, 1,000–2,500 EVs</a:t>
            </a:r>
            <a:endParaRPr lang="en-US" sz="900" dirty="0"/>
          </a:p>
        </p:txBody>
      </p:sp>
      <p:sp>
        <p:nvSpPr>
          <p:cNvPr id="19" name="Shape 17"/>
          <p:cNvSpPr/>
          <p:nvPr/>
        </p:nvSpPr>
        <p:spPr>
          <a:xfrm>
            <a:off x="256032" y="3227832"/>
            <a:ext cx="4251960" cy="1737360"/>
          </a:xfrm>
          <a:prstGeom prst="rect">
            <a:avLst/>
          </a:prstGeom>
          <a:solidFill>
            <a:srgbClr val="0F1F35"/>
          </a:solidFill>
          <a:ln w="15240">
            <a:solidFill>
              <a:srgbClr val="9B7FFF"/>
            </a:solidFill>
            <a:prstDash val="solid"/>
          </a:ln>
          <a:effectLst>
            <a:outerShdw blurRad="127000" dist="38100" dir="8100000" algn="bl" rotWithShape="0">
              <a:srgbClr val="000000">
                <a:alpha val="30000"/>
              </a:srgbClr>
            </a:outerShdw>
          </a:effectLst>
        </p:spPr>
      </p:sp>
      <p:sp>
        <p:nvSpPr>
          <p:cNvPr id="20" name="Shape 18"/>
          <p:cNvSpPr/>
          <p:nvPr/>
        </p:nvSpPr>
        <p:spPr>
          <a:xfrm>
            <a:off x="256032" y="3227832"/>
            <a:ext cx="4251960" cy="256032"/>
          </a:xfrm>
          <a:prstGeom prst="rect">
            <a:avLst/>
          </a:prstGeom>
          <a:solidFill>
            <a:srgbClr val="9B7FFF">
              <a:alpha val="85000"/>
            </a:srgbClr>
          </a:solidFill>
          <a:ln w="12700">
            <a:solidFill>
              <a:srgbClr val="1A2E4A"/>
            </a:solidFill>
            <a:prstDash val="solid"/>
          </a:ln>
        </p:spPr>
      </p:sp>
      <p:sp>
        <p:nvSpPr>
          <p:cNvPr id="21" name="Text 19"/>
          <p:cNvSpPr/>
          <p:nvPr/>
        </p:nvSpPr>
        <p:spPr>
          <a:xfrm>
            <a:off x="347472" y="3264408"/>
            <a:ext cx="4069080" cy="182880"/>
          </a:xfrm>
          <a:prstGeom prst="rect">
            <a:avLst/>
          </a:prstGeom>
          <a:noFill/>
          <a:ln/>
        </p:spPr>
        <p:txBody>
          <a:bodyPr wrap="square" rtlCol="0" anchor="ctr"/>
          <a:lstStyle/>
          <a:p>
            <a:pPr marL="0" indent="0">
              <a:buNone/>
            </a:pPr>
            <a:r>
              <a:rPr lang="en-US" sz="1000" b="1" dirty="0">
                <a:solidFill>
                  <a:srgbClr val="9B7FFF"/>
                </a:solidFill>
              </a:rPr>
              <a:t>Q13 · kWh Demand per Projected EV</a:t>
            </a:r>
            <a:endParaRPr lang="en-US" sz="1000" dirty="0"/>
          </a:p>
        </p:txBody>
      </p:sp>
      <p:sp>
        <p:nvSpPr>
          <p:cNvPr id="22" name="Text 20"/>
          <p:cNvSpPr/>
          <p:nvPr/>
        </p:nvSpPr>
        <p:spPr>
          <a:xfrm>
            <a:off x="347472" y="3520440"/>
            <a:ext cx="2211019" cy="1051560"/>
          </a:xfrm>
          <a:prstGeom prst="rect">
            <a:avLst/>
          </a:prstGeom>
          <a:noFill/>
          <a:ln/>
        </p:spPr>
        <p:txBody>
          <a:bodyPr wrap="square" rtlCol="0" anchor="ctr"/>
          <a:lstStyle/>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SELECT d.district_name,</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ROUND(SUM(se.kwh_charged)</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  / d.projected_evs, 2)</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  AS kwh_per_projected_ev</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FROM districts d</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LEFT JOIN charging_stations st</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  ON d.district_name=st.district_name</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LEFT JOIN charging_sessions se</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  ON st.station_id=se.station_id</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GROUP BY d.district_name;</a:t>
            </a:r>
            <a:endParaRPr lang="en-US" sz="780" dirty="0"/>
          </a:p>
        </p:txBody>
      </p:sp>
      <p:sp>
        <p:nvSpPr>
          <p:cNvPr id="23" name="Shape 21"/>
          <p:cNvSpPr/>
          <p:nvPr/>
        </p:nvSpPr>
        <p:spPr>
          <a:xfrm>
            <a:off x="2552090" y="3520440"/>
            <a:ext cx="1870862" cy="1051560"/>
          </a:xfrm>
          <a:prstGeom prst="rect">
            <a:avLst/>
          </a:prstGeom>
          <a:solidFill>
            <a:srgbClr val="0D1829"/>
          </a:solidFill>
          <a:ln w="12700">
            <a:solidFill>
              <a:srgbClr val="1A2E4A"/>
            </a:solidFill>
            <a:prstDash val="solid"/>
          </a:ln>
        </p:spPr>
      </p:sp>
      <p:sp>
        <p:nvSpPr>
          <p:cNvPr id="24" name="Text 22"/>
          <p:cNvSpPr/>
          <p:nvPr/>
        </p:nvSpPr>
        <p:spPr>
          <a:xfrm>
            <a:off x="2594610" y="3557016"/>
            <a:ext cx="1785823" cy="914400"/>
          </a:xfrm>
          <a:prstGeom prst="rect">
            <a:avLst/>
          </a:prstGeom>
          <a:noFill/>
          <a:ln/>
        </p:spPr>
        <p:txBody>
          <a:bodyPr wrap="square" rtlCol="0" anchor="ctr"/>
          <a:lstStyle/>
          <a:p>
            <a:pPr marL="0" indent="0">
              <a:lnSpc>
                <a:spcPct val="130000"/>
              </a:lnSpc>
              <a:buNone/>
            </a:pPr>
            <a:r>
              <a:rPr lang="en-US" sz="900" dirty="0">
                <a:solidFill>
                  <a:srgbClr val="7A90B0"/>
                </a:solidFill>
              </a:rPr>
              <a:t>📊 Wesoła: 1,096.63 kWh/EV (highest)</a:t>
            </a:r>
            <a:endParaRPr lang="en-US" sz="900" dirty="0"/>
          </a:p>
          <a:p>
            <a:pPr marL="0" indent="0">
              <a:lnSpc>
                <a:spcPct val="130000"/>
              </a:lnSpc>
              <a:buNone/>
            </a:pPr>
            <a:r>
              <a:rPr lang="en-US" sz="900" dirty="0">
                <a:solidFill>
                  <a:srgbClr val="7A90B0"/>
                </a:solidFill>
              </a:rPr>
              <a:t>Włochy: 341.24 kWh/EV</a:t>
            </a:r>
            <a:endParaRPr lang="en-US" sz="900" dirty="0"/>
          </a:p>
          <a:p>
            <a:pPr marL="0" indent="0">
              <a:lnSpc>
                <a:spcPct val="130000"/>
              </a:lnSpc>
              <a:buNone/>
            </a:pPr>
            <a:r>
              <a:rPr lang="en-US" sz="900" dirty="0">
                <a:solidFill>
                  <a:srgbClr val="7A90B0"/>
                </a:solidFill>
              </a:rPr>
              <a:t>Ursynów: 282.98 kWh/EV</a:t>
            </a:r>
            <a:endParaRPr lang="en-US" sz="900" dirty="0"/>
          </a:p>
          <a:p>
            <a:pPr marL="0" indent="0">
              <a:lnSpc>
                <a:spcPct val="130000"/>
              </a:lnSpc>
              <a:buNone/>
            </a:pPr>
            <a:r>
              <a:rPr lang="en-US" sz="900" dirty="0">
                <a:solidFill>
                  <a:srgbClr val="7A90B0"/>
                </a:solidFill>
              </a:rPr>
              <a:t>Wola: 42.36 kWh/EV (under-served)</a:t>
            </a:r>
            <a:endParaRPr lang="en-US" sz="900" dirty="0"/>
          </a:p>
        </p:txBody>
      </p:sp>
      <p:sp>
        <p:nvSpPr>
          <p:cNvPr id="25" name="Shape 23"/>
          <p:cNvSpPr/>
          <p:nvPr/>
        </p:nvSpPr>
        <p:spPr>
          <a:xfrm>
            <a:off x="4700016" y="3227832"/>
            <a:ext cx="4251960" cy="1737360"/>
          </a:xfrm>
          <a:prstGeom prst="rect">
            <a:avLst/>
          </a:prstGeom>
          <a:solidFill>
            <a:srgbClr val="0F1F35"/>
          </a:solidFill>
          <a:ln w="15240">
            <a:solidFill>
              <a:srgbClr val="00D4FF"/>
            </a:solidFill>
            <a:prstDash val="solid"/>
          </a:ln>
          <a:effectLst>
            <a:outerShdw blurRad="127000" dist="38100" dir="8100000" algn="bl" rotWithShape="0">
              <a:srgbClr val="000000">
                <a:alpha val="30000"/>
              </a:srgbClr>
            </a:outerShdw>
          </a:effectLst>
        </p:spPr>
      </p:sp>
      <p:sp>
        <p:nvSpPr>
          <p:cNvPr id="26" name="Shape 24"/>
          <p:cNvSpPr/>
          <p:nvPr/>
        </p:nvSpPr>
        <p:spPr>
          <a:xfrm>
            <a:off x="4700016" y="3227832"/>
            <a:ext cx="4251960" cy="256032"/>
          </a:xfrm>
          <a:prstGeom prst="rect">
            <a:avLst/>
          </a:prstGeom>
          <a:solidFill>
            <a:srgbClr val="00D4FF">
              <a:alpha val="85000"/>
            </a:srgbClr>
          </a:solidFill>
          <a:ln w="12700">
            <a:solidFill>
              <a:srgbClr val="1A2E4A"/>
            </a:solidFill>
            <a:prstDash val="solid"/>
          </a:ln>
        </p:spPr>
      </p:sp>
      <p:sp>
        <p:nvSpPr>
          <p:cNvPr id="27" name="Text 25"/>
          <p:cNvSpPr/>
          <p:nvPr/>
        </p:nvSpPr>
        <p:spPr>
          <a:xfrm>
            <a:off x="4791456" y="3264408"/>
            <a:ext cx="4069080" cy="182880"/>
          </a:xfrm>
          <a:prstGeom prst="rect">
            <a:avLst/>
          </a:prstGeom>
          <a:noFill/>
          <a:ln/>
        </p:spPr>
        <p:txBody>
          <a:bodyPr wrap="square" rtlCol="0" anchor="ctr"/>
          <a:lstStyle/>
          <a:p>
            <a:pPr marL="0" indent="0">
              <a:buNone/>
            </a:pPr>
            <a:r>
              <a:rPr lang="en-US" sz="1000" b="1" dirty="0">
                <a:solidFill>
                  <a:srgbClr val="00D4FF"/>
                </a:solidFill>
              </a:rPr>
              <a:t>Q14 · Infrastructure Readiness Ranking</a:t>
            </a:r>
            <a:endParaRPr lang="en-US" sz="1000" dirty="0"/>
          </a:p>
        </p:txBody>
      </p:sp>
      <p:sp>
        <p:nvSpPr>
          <p:cNvPr id="28" name="Text 26"/>
          <p:cNvSpPr/>
          <p:nvPr/>
        </p:nvSpPr>
        <p:spPr>
          <a:xfrm>
            <a:off x="4791456" y="3520440"/>
            <a:ext cx="2211019" cy="1051560"/>
          </a:xfrm>
          <a:prstGeom prst="rect">
            <a:avLst/>
          </a:prstGeom>
          <a:noFill/>
          <a:ln/>
        </p:spPr>
        <p:txBody>
          <a:bodyPr wrap="square" rtlCol="0" anchor="ctr"/>
          <a:lstStyle/>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SELECT district_name,</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ROUND(actual_plugs*100.0</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  /projected_plugs,1)</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  AS readiness_pct,</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RANK() OVER</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  (ORDER BY readiness_pct DESC)</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  AS readiness_rank</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FROM (</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  SELECT d.district_name,</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  d.projected_plugs,</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  COALESCE(SUM(s.plugs_count),0)</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  AS actual_plugs ...</a:t>
            </a:r>
            <a:endParaRPr lang="en-US" sz="780" dirty="0"/>
          </a:p>
          <a:p>
            <a:pPr marL="0" indent="0">
              <a:lnSpc>
                <a:spcPct val="120000"/>
              </a:lnSpc>
              <a:buNone/>
            </a:pPr>
            <a:r>
              <a:rPr lang="en-US" sz="780" dirty="0">
                <a:solidFill>
                  <a:srgbClr val="98C379"/>
                </a:solidFill>
                <a:latin typeface="Courier New" pitchFamily="34" charset="0"/>
                <a:ea typeface="Courier New" pitchFamily="34" charset="-122"/>
                <a:cs typeface="Courier New" pitchFamily="34" charset="-120"/>
              </a:rPr>
              <a:t>) sub;</a:t>
            </a:r>
            <a:endParaRPr lang="en-US" sz="780" dirty="0"/>
          </a:p>
        </p:txBody>
      </p:sp>
      <p:sp>
        <p:nvSpPr>
          <p:cNvPr id="29" name="Shape 27"/>
          <p:cNvSpPr/>
          <p:nvPr/>
        </p:nvSpPr>
        <p:spPr>
          <a:xfrm>
            <a:off x="6996074" y="3520440"/>
            <a:ext cx="1870862" cy="1051560"/>
          </a:xfrm>
          <a:prstGeom prst="rect">
            <a:avLst/>
          </a:prstGeom>
          <a:solidFill>
            <a:srgbClr val="0D1829"/>
          </a:solidFill>
          <a:ln w="12700">
            <a:solidFill>
              <a:srgbClr val="1A2E4A"/>
            </a:solidFill>
            <a:prstDash val="solid"/>
          </a:ln>
        </p:spPr>
      </p:sp>
      <p:sp>
        <p:nvSpPr>
          <p:cNvPr id="30" name="Text 28"/>
          <p:cNvSpPr/>
          <p:nvPr/>
        </p:nvSpPr>
        <p:spPr>
          <a:xfrm>
            <a:off x="7038594" y="3557016"/>
            <a:ext cx="1785823" cy="914400"/>
          </a:xfrm>
          <a:prstGeom prst="rect">
            <a:avLst/>
          </a:prstGeom>
          <a:noFill/>
          <a:ln/>
        </p:spPr>
        <p:txBody>
          <a:bodyPr wrap="square" rtlCol="0" anchor="ctr"/>
          <a:lstStyle/>
          <a:p>
            <a:pPr marL="0" indent="0">
              <a:lnSpc>
                <a:spcPct val="130000"/>
              </a:lnSpc>
              <a:buNone/>
            </a:pPr>
            <a:r>
              <a:rPr lang="en-US" sz="900" dirty="0">
                <a:solidFill>
                  <a:srgbClr val="7A90B0"/>
                </a:solidFill>
              </a:rPr>
              <a:t>📊 Rank 1: Wesoła — 314.3% ✅</a:t>
            </a:r>
            <a:endParaRPr lang="en-US" sz="900" dirty="0"/>
          </a:p>
          <a:p>
            <a:pPr marL="0" indent="0">
              <a:lnSpc>
                <a:spcPct val="130000"/>
              </a:lnSpc>
              <a:buNone/>
            </a:pPr>
            <a:r>
              <a:rPr lang="en-US" sz="900" dirty="0">
                <a:solidFill>
                  <a:srgbClr val="7A90B0"/>
                </a:solidFill>
              </a:rPr>
              <a:t>Rank 2: Włochy — 100.0% ✅</a:t>
            </a:r>
            <a:endParaRPr lang="en-US" sz="900" dirty="0"/>
          </a:p>
          <a:p>
            <a:pPr marL="0" indent="0">
              <a:lnSpc>
                <a:spcPct val="130000"/>
              </a:lnSpc>
              <a:buNone/>
            </a:pPr>
            <a:r>
              <a:rPr lang="en-US" sz="900" dirty="0">
                <a:solidFill>
                  <a:srgbClr val="7A90B0"/>
                </a:solidFill>
              </a:rPr>
              <a:t>Rank 3: Ursynów — 81.8% ⚠️</a:t>
            </a:r>
            <a:endParaRPr lang="en-US" sz="900" dirty="0"/>
          </a:p>
          <a:p>
            <a:pPr marL="0" indent="0">
              <a:lnSpc>
                <a:spcPct val="130000"/>
              </a:lnSpc>
              <a:buNone/>
            </a:pPr>
            <a:r>
              <a:rPr lang="en-US" sz="900" dirty="0">
                <a:solidFill>
                  <a:srgbClr val="7A90B0"/>
                </a:solidFill>
              </a:rPr>
              <a:t>Ranks 14–18: 0% (no infrastructure)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D4FF"/>
          </a:solidFill>
          <a:ln w="12700">
            <a:solidFill>
              <a:srgbClr val="00D4FF"/>
            </a:solidFill>
            <a:prstDash val="solid"/>
          </a:ln>
        </p:spPr>
      </p:sp>
      <p:sp>
        <p:nvSpPr>
          <p:cNvPr id="3" name="Text 1"/>
          <p:cNvSpPr/>
          <p:nvPr/>
        </p:nvSpPr>
        <p:spPr>
          <a:xfrm>
            <a:off x="256032" y="146304"/>
            <a:ext cx="8686800" cy="237744"/>
          </a:xfrm>
          <a:prstGeom prst="rect">
            <a:avLst/>
          </a:prstGeom>
          <a:noFill/>
          <a:ln/>
        </p:spPr>
        <p:txBody>
          <a:bodyPr wrap="square" rtlCol="0" anchor="ctr"/>
          <a:lstStyle/>
          <a:p>
            <a:pPr marL="0" indent="0">
              <a:buNone/>
            </a:pPr>
            <a:r>
              <a:rPr lang="en-US" sz="800" b="1" kern="0" spc="250" dirty="0">
                <a:solidFill>
                  <a:srgbClr val="00D4FF"/>
                </a:solidFill>
              </a:rPr>
              <a:t>SQL ANALYSIS  ·  KEY FINDINGS</a:t>
            </a:r>
            <a:endParaRPr lang="en-US" sz="800" dirty="0"/>
          </a:p>
        </p:txBody>
      </p:sp>
      <p:sp>
        <p:nvSpPr>
          <p:cNvPr id="4" name="Text 2"/>
          <p:cNvSpPr/>
          <p:nvPr/>
        </p:nvSpPr>
        <p:spPr>
          <a:xfrm>
            <a:off x="256032" y="384048"/>
            <a:ext cx="8595360" cy="530352"/>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What the Queries Revealed</a:t>
            </a:r>
            <a:endParaRPr lang="en-US" sz="2800" dirty="0"/>
          </a:p>
        </p:txBody>
      </p:sp>
      <p:sp>
        <p:nvSpPr>
          <p:cNvPr id="5" name="Text 3"/>
          <p:cNvSpPr/>
          <p:nvPr/>
        </p:nvSpPr>
        <p:spPr>
          <a:xfrm>
            <a:off x="256032" y="914400"/>
            <a:ext cx="8595360" cy="256032"/>
          </a:xfrm>
          <a:prstGeom prst="rect">
            <a:avLst/>
          </a:prstGeom>
          <a:noFill/>
          <a:ln/>
        </p:spPr>
        <p:txBody>
          <a:bodyPr wrap="square" rtlCol="0" anchor="ctr"/>
          <a:lstStyle/>
          <a:p>
            <a:pPr marL="0" indent="0">
              <a:buNone/>
            </a:pPr>
            <a:r>
              <a:rPr lang="en-US" sz="1100" i="1" dirty="0">
                <a:solidFill>
                  <a:srgbClr val="7A90B0"/>
                </a:solidFill>
              </a:rPr>
              <a:t>6 data-backed insights from all 14 SQL queries</a:t>
            </a:r>
            <a:endParaRPr lang="en-US" sz="1100" dirty="0"/>
          </a:p>
        </p:txBody>
      </p:sp>
      <p:sp>
        <p:nvSpPr>
          <p:cNvPr id="6" name="Shape 4"/>
          <p:cNvSpPr/>
          <p:nvPr/>
        </p:nvSpPr>
        <p:spPr>
          <a:xfrm>
            <a:off x="256032" y="1207008"/>
            <a:ext cx="8631936" cy="18288"/>
          </a:xfrm>
          <a:prstGeom prst="rect">
            <a:avLst/>
          </a:prstGeom>
          <a:solidFill>
            <a:srgbClr val="1A2E4A"/>
          </a:solidFill>
          <a:ln w="12700">
            <a:solidFill>
              <a:srgbClr val="1A2E4A"/>
            </a:solidFill>
            <a:prstDash val="solid"/>
          </a:ln>
        </p:spPr>
      </p:sp>
      <p:sp>
        <p:nvSpPr>
          <p:cNvPr id="7" name="Shape 5"/>
          <p:cNvSpPr/>
          <p:nvPr/>
        </p:nvSpPr>
        <p:spPr>
          <a:xfrm>
            <a:off x="256032" y="1353312"/>
            <a:ext cx="2798064" cy="1682496"/>
          </a:xfrm>
          <a:prstGeom prst="rect">
            <a:avLst/>
          </a:prstGeom>
          <a:solidFill>
            <a:srgbClr val="111C2E"/>
          </a:solidFill>
          <a:ln w="15240">
            <a:solidFill>
              <a:srgbClr val="FF4B6E"/>
            </a:solidFill>
            <a:prstDash val="solid"/>
          </a:ln>
          <a:effectLst>
            <a:outerShdw blurRad="127000" dist="38100" dir="8100000" algn="bl" rotWithShape="0">
              <a:srgbClr val="000000">
                <a:alpha val="30000"/>
              </a:srgbClr>
            </a:outerShdw>
          </a:effectLst>
        </p:spPr>
      </p:sp>
      <p:sp>
        <p:nvSpPr>
          <p:cNvPr id="8" name="Shape 6"/>
          <p:cNvSpPr/>
          <p:nvPr/>
        </p:nvSpPr>
        <p:spPr>
          <a:xfrm>
            <a:off x="256032" y="1353312"/>
            <a:ext cx="45720" cy="1682496"/>
          </a:xfrm>
          <a:prstGeom prst="rect">
            <a:avLst/>
          </a:prstGeom>
          <a:solidFill>
            <a:srgbClr val="FF4B6E"/>
          </a:solidFill>
          <a:ln w="12700">
            <a:solidFill>
              <a:srgbClr val="FF4B6E"/>
            </a:solidFill>
            <a:prstDash val="solid"/>
          </a:ln>
        </p:spPr>
      </p:sp>
      <p:sp>
        <p:nvSpPr>
          <p:cNvPr id="9" name="Text 7"/>
          <p:cNvSpPr/>
          <p:nvPr/>
        </p:nvSpPr>
        <p:spPr>
          <a:xfrm>
            <a:off x="384048" y="1444752"/>
            <a:ext cx="2596896" cy="292608"/>
          </a:xfrm>
          <a:prstGeom prst="rect">
            <a:avLst/>
          </a:prstGeom>
          <a:noFill/>
          <a:ln/>
        </p:spPr>
        <p:txBody>
          <a:bodyPr wrap="square" rtlCol="0" anchor="ctr"/>
          <a:lstStyle/>
          <a:p>
            <a:pPr marL="0" indent="0">
              <a:buNone/>
            </a:pPr>
            <a:r>
              <a:rPr lang="en-US" sz="1150" b="1" dirty="0">
                <a:solidFill>
                  <a:srgbClr val="FF4B6E"/>
                </a:solidFill>
              </a:rPr>
              <a:t>🔌  18 Districts, Only 13 Have Stations</a:t>
            </a:r>
            <a:endParaRPr lang="en-US" sz="1150" dirty="0"/>
          </a:p>
        </p:txBody>
      </p:sp>
      <p:sp>
        <p:nvSpPr>
          <p:cNvPr id="10" name="Text 8"/>
          <p:cNvSpPr/>
          <p:nvPr/>
        </p:nvSpPr>
        <p:spPr>
          <a:xfrm>
            <a:off x="384048" y="1773936"/>
            <a:ext cx="2596896" cy="1133856"/>
          </a:xfrm>
          <a:prstGeom prst="rect">
            <a:avLst/>
          </a:prstGeom>
          <a:noFill/>
          <a:ln/>
        </p:spPr>
        <p:txBody>
          <a:bodyPr wrap="square" rtlCol="0" anchor="ctr"/>
          <a:lstStyle/>
          <a:p>
            <a:pPr marL="0" indent="0">
              <a:lnSpc>
                <a:spcPct val="130000"/>
              </a:lnSpc>
              <a:buNone/>
            </a:pPr>
            <a:r>
              <a:rPr lang="en-US" sz="1000" dirty="0">
                <a:solidFill>
                  <a:srgbClr val="7A90B0"/>
                </a:solidFill>
              </a:rPr>
              <a:t>5 districts have zero charging infrastructure: Bielany, Praga Południe, Białołęka, Wawer, Praga Północ — all projecting 1,000–2,500 EVs.</a:t>
            </a:r>
            <a:endParaRPr lang="en-US" sz="1000" dirty="0"/>
          </a:p>
        </p:txBody>
      </p:sp>
      <p:sp>
        <p:nvSpPr>
          <p:cNvPr id="11" name="Shape 9"/>
          <p:cNvSpPr/>
          <p:nvPr/>
        </p:nvSpPr>
        <p:spPr>
          <a:xfrm>
            <a:off x="3218688" y="1353312"/>
            <a:ext cx="2798064" cy="1682496"/>
          </a:xfrm>
          <a:prstGeom prst="rect">
            <a:avLst/>
          </a:prstGeom>
          <a:solidFill>
            <a:srgbClr val="111C2E"/>
          </a:solidFill>
          <a:ln w="15240">
            <a:solidFill>
              <a:srgbClr val="00D4FF"/>
            </a:solidFill>
            <a:prstDash val="solid"/>
          </a:ln>
          <a:effectLst>
            <a:outerShdw blurRad="127000" dist="38100" dir="8100000" algn="bl" rotWithShape="0">
              <a:srgbClr val="000000">
                <a:alpha val="30000"/>
              </a:srgbClr>
            </a:outerShdw>
          </a:effectLst>
        </p:spPr>
      </p:sp>
      <p:sp>
        <p:nvSpPr>
          <p:cNvPr id="12" name="Shape 10"/>
          <p:cNvSpPr/>
          <p:nvPr/>
        </p:nvSpPr>
        <p:spPr>
          <a:xfrm>
            <a:off x="3218688" y="1353312"/>
            <a:ext cx="45720" cy="1682496"/>
          </a:xfrm>
          <a:prstGeom prst="rect">
            <a:avLst/>
          </a:prstGeom>
          <a:solidFill>
            <a:srgbClr val="00D4FF"/>
          </a:solidFill>
          <a:ln w="12700">
            <a:solidFill>
              <a:srgbClr val="00D4FF"/>
            </a:solidFill>
            <a:prstDash val="solid"/>
          </a:ln>
        </p:spPr>
      </p:sp>
      <p:sp>
        <p:nvSpPr>
          <p:cNvPr id="13" name="Text 11"/>
          <p:cNvSpPr/>
          <p:nvPr/>
        </p:nvSpPr>
        <p:spPr>
          <a:xfrm>
            <a:off x="3346704" y="1444752"/>
            <a:ext cx="2596896" cy="292608"/>
          </a:xfrm>
          <a:prstGeom prst="rect">
            <a:avLst/>
          </a:prstGeom>
          <a:noFill/>
          <a:ln/>
        </p:spPr>
        <p:txBody>
          <a:bodyPr wrap="square" rtlCol="0" anchor="ctr"/>
          <a:lstStyle/>
          <a:p>
            <a:pPr marL="0" indent="0">
              <a:buNone/>
            </a:pPr>
            <a:r>
              <a:rPr lang="en-US" sz="1150" b="1" dirty="0">
                <a:solidFill>
                  <a:srgbClr val="00D4FF"/>
                </a:solidFill>
              </a:rPr>
              <a:t>⚡  Ursynów Dominates Supply</a:t>
            </a:r>
            <a:endParaRPr lang="en-US" sz="1150" dirty="0"/>
          </a:p>
        </p:txBody>
      </p:sp>
      <p:sp>
        <p:nvSpPr>
          <p:cNvPr id="14" name="Text 12"/>
          <p:cNvSpPr/>
          <p:nvPr/>
        </p:nvSpPr>
        <p:spPr>
          <a:xfrm>
            <a:off x="3346704" y="1773936"/>
            <a:ext cx="2596896" cy="1133856"/>
          </a:xfrm>
          <a:prstGeom prst="rect">
            <a:avLst/>
          </a:prstGeom>
          <a:noFill/>
          <a:ln/>
        </p:spPr>
        <p:txBody>
          <a:bodyPr wrap="square" rtlCol="0" anchor="ctr"/>
          <a:lstStyle/>
          <a:p>
            <a:pPr marL="0" indent="0">
              <a:lnSpc>
                <a:spcPct val="130000"/>
              </a:lnSpc>
              <a:buNone/>
            </a:pPr>
            <a:r>
              <a:rPr lang="en-US" sz="1000" dirty="0">
                <a:solidFill>
                  <a:srgbClr val="7A90B0"/>
                </a:solidFill>
              </a:rPr>
              <a:t>Ursynów has 12 stations, 72 plugs, 820K kWh delivered — single-handedly the largest contributor to network capacity and revenue (zł2.1M).</a:t>
            </a:r>
            <a:endParaRPr lang="en-US" sz="1000" dirty="0"/>
          </a:p>
        </p:txBody>
      </p:sp>
      <p:sp>
        <p:nvSpPr>
          <p:cNvPr id="15" name="Shape 13"/>
          <p:cNvSpPr/>
          <p:nvPr/>
        </p:nvSpPr>
        <p:spPr>
          <a:xfrm>
            <a:off x="6181344" y="1353312"/>
            <a:ext cx="2798064" cy="1682496"/>
          </a:xfrm>
          <a:prstGeom prst="rect">
            <a:avLst/>
          </a:prstGeom>
          <a:solidFill>
            <a:srgbClr val="111C2E"/>
          </a:solidFill>
          <a:ln w="15240">
            <a:solidFill>
              <a:srgbClr val="FF9B3B"/>
            </a:solidFill>
            <a:prstDash val="solid"/>
          </a:ln>
          <a:effectLst>
            <a:outerShdw blurRad="127000" dist="38100" dir="8100000" algn="bl" rotWithShape="0">
              <a:srgbClr val="000000">
                <a:alpha val="30000"/>
              </a:srgbClr>
            </a:outerShdw>
          </a:effectLst>
        </p:spPr>
      </p:sp>
      <p:sp>
        <p:nvSpPr>
          <p:cNvPr id="16" name="Shape 14"/>
          <p:cNvSpPr/>
          <p:nvPr/>
        </p:nvSpPr>
        <p:spPr>
          <a:xfrm>
            <a:off x="6181344" y="1353312"/>
            <a:ext cx="45720" cy="1682496"/>
          </a:xfrm>
          <a:prstGeom prst="rect">
            <a:avLst/>
          </a:prstGeom>
          <a:solidFill>
            <a:srgbClr val="FF9B3B"/>
          </a:solidFill>
          <a:ln w="12700">
            <a:solidFill>
              <a:srgbClr val="FF9B3B"/>
            </a:solidFill>
            <a:prstDash val="solid"/>
          </a:ln>
        </p:spPr>
      </p:sp>
      <p:sp>
        <p:nvSpPr>
          <p:cNvPr id="17" name="Text 15"/>
          <p:cNvSpPr/>
          <p:nvPr/>
        </p:nvSpPr>
        <p:spPr>
          <a:xfrm>
            <a:off x="6309360" y="1444752"/>
            <a:ext cx="2596896" cy="292608"/>
          </a:xfrm>
          <a:prstGeom prst="rect">
            <a:avLst/>
          </a:prstGeom>
          <a:noFill/>
          <a:ln/>
        </p:spPr>
        <p:txBody>
          <a:bodyPr wrap="square" rtlCol="0" anchor="ctr"/>
          <a:lstStyle/>
          <a:p>
            <a:pPr marL="0" indent="0">
              <a:buNone/>
            </a:pPr>
            <a:r>
              <a:rPr lang="en-US" sz="1150" b="1" dirty="0">
                <a:solidFill>
                  <a:srgbClr val="FF9B3B"/>
                </a:solidFill>
              </a:rPr>
              <a:t>💰  High Tier Pays 89% More</a:t>
            </a:r>
            <a:endParaRPr lang="en-US" sz="1150" dirty="0"/>
          </a:p>
        </p:txBody>
      </p:sp>
      <p:sp>
        <p:nvSpPr>
          <p:cNvPr id="18" name="Text 16"/>
          <p:cNvSpPr/>
          <p:nvPr/>
        </p:nvSpPr>
        <p:spPr>
          <a:xfrm>
            <a:off x="6309360" y="1773936"/>
            <a:ext cx="2596896" cy="1133856"/>
          </a:xfrm>
          <a:prstGeom prst="rect">
            <a:avLst/>
          </a:prstGeom>
          <a:noFill/>
          <a:ln/>
        </p:spPr>
        <p:txBody>
          <a:bodyPr wrap="square" rtlCol="0" anchor="ctr"/>
          <a:lstStyle/>
          <a:p>
            <a:pPr marL="0" indent="0">
              <a:lnSpc>
                <a:spcPct val="130000"/>
              </a:lnSpc>
              <a:buNone/>
            </a:pPr>
            <a:r>
              <a:rPr lang="en-US" sz="1000" dirty="0">
                <a:solidFill>
                  <a:srgbClr val="7A90B0"/>
                </a:solidFill>
              </a:rPr>
              <a:t>High-income customers spend zł142.45/session vs zł75.19 in Low-Mid. Yet High zones have fewest stations — a massive missed revenue opportunity.</a:t>
            </a:r>
            <a:endParaRPr lang="en-US" sz="1000" dirty="0"/>
          </a:p>
        </p:txBody>
      </p:sp>
      <p:sp>
        <p:nvSpPr>
          <p:cNvPr id="19" name="Shape 17"/>
          <p:cNvSpPr/>
          <p:nvPr/>
        </p:nvSpPr>
        <p:spPr>
          <a:xfrm>
            <a:off x="256032" y="3163824"/>
            <a:ext cx="2798064" cy="1682496"/>
          </a:xfrm>
          <a:prstGeom prst="rect">
            <a:avLst/>
          </a:prstGeom>
          <a:solidFill>
            <a:srgbClr val="111C2E"/>
          </a:solidFill>
          <a:ln w="15240">
            <a:solidFill>
              <a:srgbClr val="FF4B6E"/>
            </a:solidFill>
            <a:prstDash val="solid"/>
          </a:ln>
          <a:effectLst>
            <a:outerShdw blurRad="127000" dist="38100" dir="8100000" algn="bl" rotWithShape="0">
              <a:srgbClr val="000000">
                <a:alpha val="30000"/>
              </a:srgbClr>
            </a:outerShdw>
          </a:effectLst>
        </p:spPr>
      </p:sp>
      <p:sp>
        <p:nvSpPr>
          <p:cNvPr id="20" name="Shape 18"/>
          <p:cNvSpPr/>
          <p:nvPr/>
        </p:nvSpPr>
        <p:spPr>
          <a:xfrm>
            <a:off x="256032" y="3163824"/>
            <a:ext cx="45720" cy="1682496"/>
          </a:xfrm>
          <a:prstGeom prst="rect">
            <a:avLst/>
          </a:prstGeom>
          <a:solidFill>
            <a:srgbClr val="FF4B6E"/>
          </a:solidFill>
          <a:ln w="12700">
            <a:solidFill>
              <a:srgbClr val="FF4B6E"/>
            </a:solidFill>
            <a:prstDash val="solid"/>
          </a:ln>
        </p:spPr>
      </p:sp>
      <p:sp>
        <p:nvSpPr>
          <p:cNvPr id="21" name="Text 19"/>
          <p:cNvSpPr/>
          <p:nvPr/>
        </p:nvSpPr>
        <p:spPr>
          <a:xfrm>
            <a:off x="384048" y="3255264"/>
            <a:ext cx="2596896" cy="292608"/>
          </a:xfrm>
          <a:prstGeom prst="rect">
            <a:avLst/>
          </a:prstGeom>
          <a:noFill/>
          <a:ln/>
        </p:spPr>
        <p:txBody>
          <a:bodyPr wrap="square" rtlCol="0" anchor="ctr"/>
          <a:lstStyle/>
          <a:p>
            <a:pPr marL="0" indent="0">
              <a:buNone/>
            </a:pPr>
            <a:r>
              <a:rPr lang="en-US" sz="1150" b="1" dirty="0">
                <a:solidFill>
                  <a:srgbClr val="FF4B6E"/>
                </a:solidFill>
              </a:rPr>
              <a:t>🚨  All 18 Districts Under-Plugged</a:t>
            </a:r>
            <a:endParaRPr lang="en-US" sz="1150" dirty="0"/>
          </a:p>
        </p:txBody>
      </p:sp>
      <p:sp>
        <p:nvSpPr>
          <p:cNvPr id="22" name="Text 20"/>
          <p:cNvSpPr/>
          <p:nvPr/>
        </p:nvSpPr>
        <p:spPr>
          <a:xfrm>
            <a:off x="384048" y="3584448"/>
            <a:ext cx="2596896" cy="1133856"/>
          </a:xfrm>
          <a:prstGeom prst="rect">
            <a:avLst/>
          </a:prstGeom>
          <a:noFill/>
          <a:ln/>
        </p:spPr>
        <p:txBody>
          <a:bodyPr wrap="square" rtlCol="0" anchor="ctr"/>
          <a:lstStyle/>
          <a:p>
            <a:pPr marL="0" indent="0">
              <a:lnSpc>
                <a:spcPct val="130000"/>
              </a:lnSpc>
              <a:buNone/>
            </a:pPr>
            <a:r>
              <a:rPr lang="en-US" sz="1000" dirty="0">
                <a:solidFill>
                  <a:srgbClr val="7A90B0"/>
                </a:solidFill>
              </a:rPr>
              <a:t>Q12 confirms every district has projected EVs exceeding actual plugs. Wola needs 88 more plugs, Mokotów needs 76 more — immediate investment required.</a:t>
            </a:r>
            <a:endParaRPr lang="en-US" sz="1000" dirty="0"/>
          </a:p>
        </p:txBody>
      </p:sp>
      <p:sp>
        <p:nvSpPr>
          <p:cNvPr id="23" name="Shape 21"/>
          <p:cNvSpPr/>
          <p:nvPr/>
        </p:nvSpPr>
        <p:spPr>
          <a:xfrm>
            <a:off x="3218688" y="3163824"/>
            <a:ext cx="2798064" cy="1682496"/>
          </a:xfrm>
          <a:prstGeom prst="rect">
            <a:avLst/>
          </a:prstGeom>
          <a:solidFill>
            <a:srgbClr val="111C2E"/>
          </a:solidFill>
          <a:ln w="15240">
            <a:solidFill>
              <a:srgbClr val="FFD93D"/>
            </a:solidFill>
            <a:prstDash val="solid"/>
          </a:ln>
          <a:effectLst>
            <a:outerShdw blurRad="127000" dist="38100" dir="8100000" algn="bl" rotWithShape="0">
              <a:srgbClr val="000000">
                <a:alpha val="30000"/>
              </a:srgbClr>
            </a:outerShdw>
          </a:effectLst>
        </p:spPr>
      </p:sp>
      <p:sp>
        <p:nvSpPr>
          <p:cNvPr id="24" name="Shape 22"/>
          <p:cNvSpPr/>
          <p:nvPr/>
        </p:nvSpPr>
        <p:spPr>
          <a:xfrm>
            <a:off x="3218688" y="3163824"/>
            <a:ext cx="45720" cy="1682496"/>
          </a:xfrm>
          <a:prstGeom prst="rect">
            <a:avLst/>
          </a:prstGeom>
          <a:solidFill>
            <a:srgbClr val="FFD93D"/>
          </a:solidFill>
          <a:ln w="12700">
            <a:solidFill>
              <a:srgbClr val="FFD93D"/>
            </a:solidFill>
            <a:prstDash val="solid"/>
          </a:ln>
        </p:spPr>
      </p:sp>
      <p:sp>
        <p:nvSpPr>
          <p:cNvPr id="25" name="Text 23"/>
          <p:cNvSpPr/>
          <p:nvPr/>
        </p:nvSpPr>
        <p:spPr>
          <a:xfrm>
            <a:off x="3346704" y="3255264"/>
            <a:ext cx="2596896" cy="292608"/>
          </a:xfrm>
          <a:prstGeom prst="rect">
            <a:avLst/>
          </a:prstGeom>
          <a:noFill/>
          <a:ln/>
        </p:spPr>
        <p:txBody>
          <a:bodyPr wrap="square" rtlCol="0" anchor="ctr"/>
          <a:lstStyle/>
          <a:p>
            <a:pPr marL="0" indent="0">
              <a:buNone/>
            </a:pPr>
            <a:r>
              <a:rPr lang="en-US" sz="1150" b="1" dirty="0">
                <a:solidFill>
                  <a:srgbClr val="FFD93D"/>
                </a:solidFill>
              </a:rPr>
              <a:t>📊  Wesoła: Outlier District</a:t>
            </a:r>
            <a:endParaRPr lang="en-US" sz="1150" dirty="0"/>
          </a:p>
        </p:txBody>
      </p:sp>
      <p:sp>
        <p:nvSpPr>
          <p:cNvPr id="26" name="Text 24"/>
          <p:cNvSpPr/>
          <p:nvPr/>
        </p:nvSpPr>
        <p:spPr>
          <a:xfrm>
            <a:off x="3346704" y="3584448"/>
            <a:ext cx="2596896" cy="1133856"/>
          </a:xfrm>
          <a:prstGeom prst="rect">
            <a:avLst/>
          </a:prstGeom>
          <a:noFill/>
          <a:ln/>
        </p:spPr>
        <p:txBody>
          <a:bodyPr wrap="square" rtlCol="0" anchor="ctr"/>
          <a:lstStyle/>
          <a:p>
            <a:pPr marL="0" indent="0">
              <a:lnSpc>
                <a:spcPct val="130000"/>
              </a:lnSpc>
              <a:buNone/>
            </a:pPr>
            <a:r>
              <a:rPr lang="en-US" sz="1000" dirty="0">
                <a:solidFill>
                  <a:srgbClr val="7A90B0"/>
                </a:solidFill>
              </a:rPr>
              <a:t>Only district with 314% readiness ratio — 66 plugs vs 21 projected. Its 1,097 kWh/EV (Q13) reflects actual usage far exceeding what was planned.</a:t>
            </a:r>
            <a:endParaRPr lang="en-US" sz="1000" dirty="0"/>
          </a:p>
        </p:txBody>
      </p:sp>
      <p:sp>
        <p:nvSpPr>
          <p:cNvPr id="27" name="Shape 25"/>
          <p:cNvSpPr/>
          <p:nvPr/>
        </p:nvSpPr>
        <p:spPr>
          <a:xfrm>
            <a:off x="6181344" y="3163824"/>
            <a:ext cx="2798064" cy="1682496"/>
          </a:xfrm>
          <a:prstGeom prst="rect">
            <a:avLst/>
          </a:prstGeom>
          <a:solidFill>
            <a:srgbClr val="111C2E"/>
          </a:solidFill>
          <a:ln w="15240">
            <a:solidFill>
              <a:srgbClr val="00E5A0"/>
            </a:solidFill>
            <a:prstDash val="solid"/>
          </a:ln>
          <a:effectLst>
            <a:outerShdw blurRad="127000" dist="38100" dir="8100000" algn="bl" rotWithShape="0">
              <a:srgbClr val="000000">
                <a:alpha val="30000"/>
              </a:srgbClr>
            </a:outerShdw>
          </a:effectLst>
        </p:spPr>
      </p:sp>
      <p:sp>
        <p:nvSpPr>
          <p:cNvPr id="28" name="Shape 26"/>
          <p:cNvSpPr/>
          <p:nvPr/>
        </p:nvSpPr>
        <p:spPr>
          <a:xfrm>
            <a:off x="6181344" y="3163824"/>
            <a:ext cx="45720" cy="1682496"/>
          </a:xfrm>
          <a:prstGeom prst="rect">
            <a:avLst/>
          </a:prstGeom>
          <a:solidFill>
            <a:srgbClr val="00E5A0"/>
          </a:solidFill>
          <a:ln w="12700">
            <a:solidFill>
              <a:srgbClr val="00E5A0"/>
            </a:solidFill>
            <a:prstDash val="solid"/>
          </a:ln>
        </p:spPr>
      </p:sp>
      <p:sp>
        <p:nvSpPr>
          <p:cNvPr id="29" name="Text 27"/>
          <p:cNvSpPr/>
          <p:nvPr/>
        </p:nvSpPr>
        <p:spPr>
          <a:xfrm>
            <a:off x="6309360" y="3255264"/>
            <a:ext cx="2596896" cy="292608"/>
          </a:xfrm>
          <a:prstGeom prst="rect">
            <a:avLst/>
          </a:prstGeom>
          <a:noFill/>
          <a:ln/>
        </p:spPr>
        <p:txBody>
          <a:bodyPr wrap="square" rtlCol="0" anchor="ctr"/>
          <a:lstStyle/>
          <a:p>
            <a:pPr marL="0" indent="0">
              <a:buNone/>
            </a:pPr>
            <a:r>
              <a:rPr lang="en-US" sz="1150" b="1" dirty="0">
                <a:solidFill>
                  <a:srgbClr val="00E5A0"/>
                </a:solidFill>
              </a:rPr>
              <a:t>🏆  Top 5 Stations Are Clustered</a:t>
            </a:r>
            <a:endParaRPr lang="en-US" sz="1150" dirty="0"/>
          </a:p>
        </p:txBody>
      </p:sp>
      <p:sp>
        <p:nvSpPr>
          <p:cNvPr id="30" name="Text 28"/>
          <p:cNvSpPr/>
          <p:nvPr/>
        </p:nvSpPr>
        <p:spPr>
          <a:xfrm>
            <a:off x="6309360" y="3584448"/>
            <a:ext cx="2596896" cy="1133856"/>
          </a:xfrm>
          <a:prstGeom prst="rect">
            <a:avLst/>
          </a:prstGeom>
          <a:noFill/>
          <a:ln/>
        </p:spPr>
        <p:txBody>
          <a:bodyPr wrap="square" rtlCol="0" anchor="ctr"/>
          <a:lstStyle/>
          <a:p>
            <a:pPr marL="0" indent="0">
              <a:lnSpc>
                <a:spcPct val="130000"/>
              </a:lnSpc>
              <a:buNone/>
            </a:pPr>
            <a:r>
              <a:rPr lang="en-US" sz="1000" dirty="0">
                <a:solidFill>
                  <a:srgbClr val="7A90B0"/>
                </a:solidFill>
              </a:rPr>
              <a:t>Stations 163, 150, 27, 92, 68 each handle ~1,811–1,856 sessions. All are in high-demand districts. Uniform utilization suggests good placement in those zones.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120"/>
          </a:solidFill>
          <a:ln w="12700">
            <a:solidFill>
              <a:srgbClr val="0B1120"/>
            </a:solidFill>
            <a:prstDash val="solid"/>
          </a:ln>
        </p:spPr>
      </p:sp>
      <p:sp>
        <p:nvSpPr>
          <p:cNvPr id="3" name="Shape 1"/>
          <p:cNvSpPr/>
          <p:nvPr/>
        </p:nvSpPr>
        <p:spPr>
          <a:xfrm>
            <a:off x="-1371600" y="1828800"/>
            <a:ext cx="4572000" cy="4572000"/>
          </a:xfrm>
          <a:prstGeom prst="ellipse">
            <a:avLst/>
          </a:prstGeom>
          <a:solidFill>
            <a:srgbClr val="00E5A0">
              <a:alpha val="8000"/>
            </a:srgbClr>
          </a:solidFill>
          <a:ln w="12700">
            <a:solidFill>
              <a:srgbClr val="00E5A0">
                <a:alpha val="8000"/>
              </a:srgbClr>
            </a:solidFill>
            <a:prstDash val="solid"/>
          </a:ln>
        </p:spPr>
      </p:sp>
      <p:sp>
        <p:nvSpPr>
          <p:cNvPr id="4" name="Shape 2"/>
          <p:cNvSpPr/>
          <p:nvPr/>
        </p:nvSpPr>
        <p:spPr>
          <a:xfrm>
            <a:off x="6400800" y="-914400"/>
            <a:ext cx="4572000" cy="4572000"/>
          </a:xfrm>
          <a:prstGeom prst="ellipse">
            <a:avLst/>
          </a:prstGeom>
          <a:solidFill>
            <a:srgbClr val="00E5A0">
              <a:alpha val="8000"/>
            </a:srgbClr>
          </a:solidFill>
          <a:ln w="12700">
            <a:solidFill>
              <a:srgbClr val="00E5A0">
                <a:alpha val="8000"/>
              </a:srgbClr>
            </a:solidFill>
            <a:prstDash val="solid"/>
          </a:ln>
        </p:spPr>
      </p:sp>
      <p:sp>
        <p:nvSpPr>
          <p:cNvPr id="5" name="Shape 3"/>
          <p:cNvSpPr/>
          <p:nvPr/>
        </p:nvSpPr>
        <p:spPr>
          <a:xfrm>
            <a:off x="0" y="0"/>
            <a:ext cx="64008" cy="5143500"/>
          </a:xfrm>
          <a:prstGeom prst="rect">
            <a:avLst/>
          </a:prstGeom>
          <a:solidFill>
            <a:srgbClr val="00E5A0"/>
          </a:solidFill>
          <a:ln w="12700">
            <a:solidFill>
              <a:srgbClr val="00E5A0"/>
            </a:solidFill>
            <a:prstDash val="solid"/>
          </a:ln>
        </p:spPr>
      </p:sp>
      <p:sp>
        <p:nvSpPr>
          <p:cNvPr id="6" name="Shape 4"/>
          <p:cNvSpPr/>
          <p:nvPr/>
        </p:nvSpPr>
        <p:spPr>
          <a:xfrm>
            <a:off x="2286000" y="1645920"/>
            <a:ext cx="4572000" cy="18288"/>
          </a:xfrm>
          <a:prstGeom prst="rect">
            <a:avLst/>
          </a:prstGeom>
          <a:solidFill>
            <a:srgbClr val="1A2E4A"/>
          </a:solidFill>
          <a:ln w="12700">
            <a:solidFill>
              <a:srgbClr val="1A2E4A"/>
            </a:solidFill>
            <a:prstDash val="solid"/>
          </a:ln>
        </p:spPr>
      </p:sp>
      <p:sp>
        <p:nvSpPr>
          <p:cNvPr id="7" name="Text 5"/>
          <p:cNvSpPr/>
          <p:nvPr/>
        </p:nvSpPr>
        <p:spPr>
          <a:xfrm>
            <a:off x="2286000" y="1737360"/>
            <a:ext cx="4572000" cy="292608"/>
          </a:xfrm>
          <a:prstGeom prst="rect">
            <a:avLst/>
          </a:prstGeom>
          <a:noFill/>
          <a:ln/>
        </p:spPr>
        <p:txBody>
          <a:bodyPr wrap="square" rtlCol="0" anchor="ctr"/>
          <a:lstStyle/>
          <a:p>
            <a:pPr marL="0" indent="0" algn="ctr">
              <a:buNone/>
            </a:pPr>
            <a:r>
              <a:rPr lang="en-US" sz="1100" b="1" kern="0" spc="400" dirty="0">
                <a:solidFill>
                  <a:srgbClr val="00E5A0"/>
                </a:solidFill>
              </a:rPr>
              <a:t>PART 2</a:t>
            </a:r>
            <a:endParaRPr lang="en-US" sz="1100" dirty="0"/>
          </a:p>
        </p:txBody>
      </p:sp>
      <p:sp>
        <p:nvSpPr>
          <p:cNvPr id="8" name="Text 6"/>
          <p:cNvSpPr/>
          <p:nvPr/>
        </p:nvSpPr>
        <p:spPr>
          <a:xfrm>
            <a:off x="1097280" y="2029968"/>
            <a:ext cx="6949440" cy="685800"/>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Power BI Dashboard</a:t>
            </a:r>
            <a:endParaRPr lang="en-US" sz="3800" dirty="0"/>
          </a:p>
        </p:txBody>
      </p:sp>
      <p:sp>
        <p:nvSpPr>
          <p:cNvPr id="9" name="Text 7"/>
          <p:cNvSpPr/>
          <p:nvPr/>
        </p:nvSpPr>
        <p:spPr>
          <a:xfrm>
            <a:off x="1371600" y="2788920"/>
            <a:ext cx="6400800" cy="347472"/>
          </a:xfrm>
          <a:prstGeom prst="rect">
            <a:avLst/>
          </a:prstGeom>
          <a:noFill/>
          <a:ln/>
        </p:spPr>
        <p:txBody>
          <a:bodyPr wrap="square" rtlCol="0" anchor="ctr"/>
          <a:lstStyle/>
          <a:p>
            <a:pPr marL="0" indent="0" algn="ctr">
              <a:buNone/>
            </a:pPr>
            <a:r>
              <a:rPr lang="en-US" sz="1300" i="1" dirty="0">
                <a:solidFill>
                  <a:srgbClr val="7A90B0"/>
                </a:solidFill>
              </a:rPr>
              <a:t>4-Page Interactive Dashboard · Insights from Visual Analysis</a:t>
            </a:r>
            <a:endParaRPr lang="en-US" sz="1300" dirty="0"/>
          </a:p>
        </p:txBody>
      </p:sp>
      <p:sp>
        <p:nvSpPr>
          <p:cNvPr id="10" name="Shape 8"/>
          <p:cNvSpPr/>
          <p:nvPr/>
        </p:nvSpPr>
        <p:spPr>
          <a:xfrm>
            <a:off x="2286000" y="3200400"/>
            <a:ext cx="4572000" cy="18288"/>
          </a:xfrm>
          <a:prstGeom prst="rect">
            <a:avLst/>
          </a:prstGeom>
          <a:solidFill>
            <a:srgbClr val="1A2E4A"/>
          </a:solidFill>
          <a:ln w="12700">
            <a:solidFill>
              <a:srgbClr val="1A2E4A"/>
            </a:solidFill>
            <a:prstDash val="solid"/>
          </a:ln>
        </p:spPr>
      </p:sp>
      <p:sp>
        <p:nvSpPr>
          <p:cNvPr id="11" name="Shape 9"/>
          <p:cNvSpPr/>
          <p:nvPr/>
        </p:nvSpPr>
        <p:spPr>
          <a:xfrm>
            <a:off x="502920" y="3401568"/>
            <a:ext cx="2011680" cy="1444752"/>
          </a:xfrm>
          <a:prstGeom prst="rect">
            <a:avLst/>
          </a:prstGeom>
          <a:solidFill>
            <a:srgbClr val="111C2E"/>
          </a:solidFill>
          <a:ln w="12700">
            <a:solidFill>
              <a:srgbClr val="00D4FF"/>
            </a:solidFill>
            <a:prstDash val="solid"/>
          </a:ln>
          <a:effectLst>
            <a:outerShdw blurRad="127000" dist="38100" dir="8100000" algn="bl" rotWithShape="0">
              <a:srgbClr val="000000">
                <a:alpha val="30000"/>
              </a:srgbClr>
            </a:outerShdw>
          </a:effectLst>
        </p:spPr>
      </p:sp>
      <p:sp>
        <p:nvSpPr>
          <p:cNvPr id="12" name="Shape 10"/>
          <p:cNvSpPr/>
          <p:nvPr/>
        </p:nvSpPr>
        <p:spPr>
          <a:xfrm>
            <a:off x="502920" y="3401568"/>
            <a:ext cx="2011680" cy="36576"/>
          </a:xfrm>
          <a:prstGeom prst="rect">
            <a:avLst/>
          </a:prstGeom>
          <a:solidFill>
            <a:srgbClr val="00D4FF"/>
          </a:solidFill>
          <a:ln w="12700">
            <a:solidFill>
              <a:srgbClr val="00D4FF"/>
            </a:solidFill>
            <a:prstDash val="solid"/>
          </a:ln>
        </p:spPr>
      </p:sp>
      <p:sp>
        <p:nvSpPr>
          <p:cNvPr id="13" name="Text 11"/>
          <p:cNvSpPr/>
          <p:nvPr/>
        </p:nvSpPr>
        <p:spPr>
          <a:xfrm>
            <a:off x="594360" y="3493008"/>
            <a:ext cx="1828800" cy="274320"/>
          </a:xfrm>
          <a:prstGeom prst="rect">
            <a:avLst/>
          </a:prstGeom>
          <a:noFill/>
          <a:ln/>
        </p:spPr>
        <p:txBody>
          <a:bodyPr wrap="square" rtlCol="0" anchor="ctr"/>
          <a:lstStyle/>
          <a:p>
            <a:pPr marL="0" indent="0">
              <a:buNone/>
            </a:pPr>
            <a:r>
              <a:rPr lang="en-US" sz="1100" b="1" dirty="0">
                <a:solidFill>
                  <a:srgbClr val="00D4FF"/>
                </a:solidFill>
              </a:rPr>
              <a:t>Page 1</a:t>
            </a:r>
            <a:endParaRPr lang="en-US" sz="1100" dirty="0"/>
          </a:p>
        </p:txBody>
      </p:sp>
      <p:sp>
        <p:nvSpPr>
          <p:cNvPr id="14" name="Text 12"/>
          <p:cNvSpPr/>
          <p:nvPr/>
        </p:nvSpPr>
        <p:spPr>
          <a:xfrm>
            <a:off x="594360" y="3785616"/>
            <a:ext cx="1828800" cy="457200"/>
          </a:xfrm>
          <a:prstGeom prst="rect">
            <a:avLst/>
          </a:prstGeom>
          <a:noFill/>
          <a:ln/>
        </p:spPr>
        <p:txBody>
          <a:bodyPr wrap="square" rtlCol="0" anchor="ctr"/>
          <a:lstStyle/>
          <a:p>
            <a:pPr marL="0" indent="0">
              <a:buNone/>
            </a:pPr>
            <a:r>
              <a:rPr lang="en-US" sz="950" dirty="0">
                <a:solidFill>
                  <a:srgbClr val="7A90B0"/>
                </a:solidFill>
              </a:rPr>
              <a:t>Infrastructure Overview</a:t>
            </a:r>
            <a:endParaRPr lang="en-US" sz="950" dirty="0"/>
          </a:p>
        </p:txBody>
      </p:sp>
      <p:sp>
        <p:nvSpPr>
          <p:cNvPr id="15" name="Shape 13"/>
          <p:cNvSpPr/>
          <p:nvPr/>
        </p:nvSpPr>
        <p:spPr>
          <a:xfrm>
            <a:off x="2651760" y="3401568"/>
            <a:ext cx="2011680" cy="1444752"/>
          </a:xfrm>
          <a:prstGeom prst="rect">
            <a:avLst/>
          </a:prstGeom>
          <a:solidFill>
            <a:srgbClr val="111C2E"/>
          </a:solidFill>
          <a:ln w="12700">
            <a:solidFill>
              <a:srgbClr val="00E5A0"/>
            </a:solidFill>
            <a:prstDash val="solid"/>
          </a:ln>
          <a:effectLst>
            <a:outerShdw blurRad="127000" dist="38100" dir="8100000" algn="bl" rotWithShape="0">
              <a:srgbClr val="000000">
                <a:alpha val="30000"/>
              </a:srgbClr>
            </a:outerShdw>
          </a:effectLst>
        </p:spPr>
      </p:sp>
      <p:sp>
        <p:nvSpPr>
          <p:cNvPr id="16" name="Shape 14"/>
          <p:cNvSpPr/>
          <p:nvPr/>
        </p:nvSpPr>
        <p:spPr>
          <a:xfrm>
            <a:off x="2651760" y="3401568"/>
            <a:ext cx="2011680" cy="36576"/>
          </a:xfrm>
          <a:prstGeom prst="rect">
            <a:avLst/>
          </a:prstGeom>
          <a:solidFill>
            <a:srgbClr val="00E5A0"/>
          </a:solidFill>
          <a:ln w="12700">
            <a:solidFill>
              <a:srgbClr val="00E5A0"/>
            </a:solidFill>
            <a:prstDash val="solid"/>
          </a:ln>
        </p:spPr>
      </p:sp>
      <p:sp>
        <p:nvSpPr>
          <p:cNvPr id="17" name="Text 15"/>
          <p:cNvSpPr/>
          <p:nvPr/>
        </p:nvSpPr>
        <p:spPr>
          <a:xfrm>
            <a:off x="2743200" y="3493008"/>
            <a:ext cx="1828800" cy="274320"/>
          </a:xfrm>
          <a:prstGeom prst="rect">
            <a:avLst/>
          </a:prstGeom>
          <a:noFill/>
          <a:ln/>
        </p:spPr>
        <p:txBody>
          <a:bodyPr wrap="square" rtlCol="0" anchor="ctr"/>
          <a:lstStyle/>
          <a:p>
            <a:pPr marL="0" indent="0">
              <a:buNone/>
            </a:pPr>
            <a:r>
              <a:rPr lang="en-US" sz="1100" b="1" dirty="0">
                <a:solidFill>
                  <a:srgbClr val="00E5A0"/>
                </a:solidFill>
              </a:rPr>
              <a:t>Page 2</a:t>
            </a:r>
            <a:endParaRPr lang="en-US" sz="1100" dirty="0"/>
          </a:p>
        </p:txBody>
      </p:sp>
      <p:sp>
        <p:nvSpPr>
          <p:cNvPr id="18" name="Text 16"/>
          <p:cNvSpPr/>
          <p:nvPr/>
        </p:nvSpPr>
        <p:spPr>
          <a:xfrm>
            <a:off x="2743200" y="3785616"/>
            <a:ext cx="1828800" cy="457200"/>
          </a:xfrm>
          <a:prstGeom prst="rect">
            <a:avLst/>
          </a:prstGeom>
          <a:noFill/>
          <a:ln/>
        </p:spPr>
        <p:txBody>
          <a:bodyPr wrap="square" rtlCol="0" anchor="ctr"/>
          <a:lstStyle/>
          <a:p>
            <a:pPr marL="0" indent="0">
              <a:buNone/>
            </a:pPr>
            <a:r>
              <a:rPr lang="en-US" sz="950" dirty="0">
                <a:solidFill>
                  <a:srgbClr val="7A90B0"/>
                </a:solidFill>
              </a:rPr>
              <a:t>Charging Usage &amp; Demand</a:t>
            </a:r>
            <a:endParaRPr lang="en-US" sz="950" dirty="0"/>
          </a:p>
        </p:txBody>
      </p:sp>
      <p:sp>
        <p:nvSpPr>
          <p:cNvPr id="19" name="Shape 17"/>
          <p:cNvSpPr/>
          <p:nvPr/>
        </p:nvSpPr>
        <p:spPr>
          <a:xfrm>
            <a:off x="4800600" y="3401568"/>
            <a:ext cx="2011680" cy="1444752"/>
          </a:xfrm>
          <a:prstGeom prst="rect">
            <a:avLst/>
          </a:prstGeom>
          <a:solidFill>
            <a:srgbClr val="111C2E"/>
          </a:solidFill>
          <a:ln w="12700">
            <a:solidFill>
              <a:srgbClr val="9B7FFF"/>
            </a:solidFill>
            <a:prstDash val="solid"/>
          </a:ln>
          <a:effectLst>
            <a:outerShdw blurRad="127000" dist="38100" dir="8100000" algn="bl" rotWithShape="0">
              <a:srgbClr val="000000">
                <a:alpha val="30000"/>
              </a:srgbClr>
            </a:outerShdw>
          </a:effectLst>
        </p:spPr>
      </p:sp>
      <p:sp>
        <p:nvSpPr>
          <p:cNvPr id="20" name="Shape 18"/>
          <p:cNvSpPr/>
          <p:nvPr/>
        </p:nvSpPr>
        <p:spPr>
          <a:xfrm>
            <a:off x="4800600" y="3401568"/>
            <a:ext cx="2011680" cy="36576"/>
          </a:xfrm>
          <a:prstGeom prst="rect">
            <a:avLst/>
          </a:prstGeom>
          <a:solidFill>
            <a:srgbClr val="9B7FFF"/>
          </a:solidFill>
          <a:ln w="12700">
            <a:solidFill>
              <a:srgbClr val="9B7FFF"/>
            </a:solidFill>
            <a:prstDash val="solid"/>
          </a:ln>
        </p:spPr>
      </p:sp>
      <p:sp>
        <p:nvSpPr>
          <p:cNvPr id="21" name="Text 19"/>
          <p:cNvSpPr/>
          <p:nvPr/>
        </p:nvSpPr>
        <p:spPr>
          <a:xfrm>
            <a:off x="4892040" y="3493008"/>
            <a:ext cx="1828800" cy="274320"/>
          </a:xfrm>
          <a:prstGeom prst="rect">
            <a:avLst/>
          </a:prstGeom>
          <a:noFill/>
          <a:ln/>
        </p:spPr>
        <p:txBody>
          <a:bodyPr wrap="square" rtlCol="0" anchor="ctr"/>
          <a:lstStyle/>
          <a:p>
            <a:pPr marL="0" indent="0">
              <a:buNone/>
            </a:pPr>
            <a:r>
              <a:rPr lang="en-US" sz="1100" b="1" dirty="0">
                <a:solidFill>
                  <a:srgbClr val="9B7FFF"/>
                </a:solidFill>
              </a:rPr>
              <a:t>Page 3</a:t>
            </a:r>
            <a:endParaRPr lang="en-US" sz="1100" dirty="0"/>
          </a:p>
        </p:txBody>
      </p:sp>
      <p:sp>
        <p:nvSpPr>
          <p:cNvPr id="22" name="Text 20"/>
          <p:cNvSpPr/>
          <p:nvPr/>
        </p:nvSpPr>
        <p:spPr>
          <a:xfrm>
            <a:off x="4892040" y="3785616"/>
            <a:ext cx="1828800" cy="457200"/>
          </a:xfrm>
          <a:prstGeom prst="rect">
            <a:avLst/>
          </a:prstGeom>
          <a:noFill/>
          <a:ln/>
        </p:spPr>
        <p:txBody>
          <a:bodyPr wrap="square" rtlCol="0" anchor="ctr"/>
          <a:lstStyle/>
          <a:p>
            <a:pPr marL="0" indent="0">
              <a:buNone/>
            </a:pPr>
            <a:r>
              <a:rPr lang="en-US" sz="950" dirty="0">
                <a:solidFill>
                  <a:srgbClr val="7A90B0"/>
                </a:solidFill>
              </a:rPr>
              <a:t>Customer Behaviour</a:t>
            </a:r>
            <a:endParaRPr lang="en-US" sz="950" dirty="0"/>
          </a:p>
        </p:txBody>
      </p:sp>
      <p:sp>
        <p:nvSpPr>
          <p:cNvPr id="23" name="Shape 21"/>
          <p:cNvSpPr/>
          <p:nvPr/>
        </p:nvSpPr>
        <p:spPr>
          <a:xfrm>
            <a:off x="6949440" y="3401568"/>
            <a:ext cx="2011680" cy="1444752"/>
          </a:xfrm>
          <a:prstGeom prst="rect">
            <a:avLst/>
          </a:prstGeom>
          <a:solidFill>
            <a:srgbClr val="111C2E"/>
          </a:solidFill>
          <a:ln w="12700">
            <a:solidFill>
              <a:srgbClr val="FF9B3B"/>
            </a:solidFill>
            <a:prstDash val="solid"/>
          </a:ln>
          <a:effectLst>
            <a:outerShdw blurRad="127000" dist="38100" dir="8100000" algn="bl" rotWithShape="0">
              <a:srgbClr val="000000">
                <a:alpha val="30000"/>
              </a:srgbClr>
            </a:outerShdw>
          </a:effectLst>
        </p:spPr>
      </p:sp>
      <p:sp>
        <p:nvSpPr>
          <p:cNvPr id="24" name="Shape 22"/>
          <p:cNvSpPr/>
          <p:nvPr/>
        </p:nvSpPr>
        <p:spPr>
          <a:xfrm>
            <a:off x="6949440" y="3401568"/>
            <a:ext cx="2011680" cy="36576"/>
          </a:xfrm>
          <a:prstGeom prst="rect">
            <a:avLst/>
          </a:prstGeom>
          <a:solidFill>
            <a:srgbClr val="FF9B3B"/>
          </a:solidFill>
          <a:ln w="12700">
            <a:solidFill>
              <a:srgbClr val="FF9B3B"/>
            </a:solidFill>
            <a:prstDash val="solid"/>
          </a:ln>
        </p:spPr>
      </p:sp>
      <p:sp>
        <p:nvSpPr>
          <p:cNvPr id="25" name="Text 23"/>
          <p:cNvSpPr/>
          <p:nvPr/>
        </p:nvSpPr>
        <p:spPr>
          <a:xfrm>
            <a:off x="7040880" y="3493008"/>
            <a:ext cx="1828800" cy="274320"/>
          </a:xfrm>
          <a:prstGeom prst="rect">
            <a:avLst/>
          </a:prstGeom>
          <a:noFill/>
          <a:ln/>
        </p:spPr>
        <p:txBody>
          <a:bodyPr wrap="square" rtlCol="0" anchor="ctr"/>
          <a:lstStyle/>
          <a:p>
            <a:pPr marL="0" indent="0">
              <a:buNone/>
            </a:pPr>
            <a:r>
              <a:rPr lang="en-US" sz="1100" b="1" dirty="0">
                <a:solidFill>
                  <a:srgbClr val="FF9B3B"/>
                </a:solidFill>
              </a:rPr>
              <a:t>Page 4</a:t>
            </a:r>
            <a:endParaRPr lang="en-US" sz="1100" dirty="0"/>
          </a:p>
        </p:txBody>
      </p:sp>
      <p:sp>
        <p:nvSpPr>
          <p:cNvPr id="26" name="Text 24"/>
          <p:cNvSpPr/>
          <p:nvPr/>
        </p:nvSpPr>
        <p:spPr>
          <a:xfrm>
            <a:off x="7040880" y="3785616"/>
            <a:ext cx="1828800" cy="457200"/>
          </a:xfrm>
          <a:prstGeom prst="rect">
            <a:avLst/>
          </a:prstGeom>
          <a:noFill/>
          <a:ln/>
        </p:spPr>
        <p:txBody>
          <a:bodyPr wrap="square" rtlCol="0" anchor="ctr"/>
          <a:lstStyle/>
          <a:p>
            <a:pPr marL="0" indent="0">
              <a:buNone/>
            </a:pPr>
            <a:r>
              <a:rPr lang="en-US" sz="950" dirty="0">
                <a:solidFill>
                  <a:srgbClr val="7A90B0"/>
                </a:solidFill>
              </a:rPr>
              <a:t>Revenue &amp; Planning</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D4FF"/>
          </a:solidFill>
          <a:ln w="12700">
            <a:solidFill>
              <a:srgbClr val="00D4FF"/>
            </a:solidFill>
            <a:prstDash val="solid"/>
          </a:ln>
        </p:spPr>
      </p:sp>
      <p:sp>
        <p:nvSpPr>
          <p:cNvPr id="3" name="Text 1"/>
          <p:cNvSpPr/>
          <p:nvPr/>
        </p:nvSpPr>
        <p:spPr>
          <a:xfrm>
            <a:off x="256032" y="146304"/>
            <a:ext cx="8686800" cy="237744"/>
          </a:xfrm>
          <a:prstGeom prst="rect">
            <a:avLst/>
          </a:prstGeom>
          <a:noFill/>
          <a:ln/>
        </p:spPr>
        <p:txBody>
          <a:bodyPr wrap="square" rtlCol="0" anchor="ctr"/>
          <a:lstStyle/>
          <a:p>
            <a:pPr marL="0" indent="0">
              <a:buNone/>
            </a:pPr>
            <a:r>
              <a:rPr lang="en-US" sz="800" b="1" kern="0" spc="250" dirty="0">
                <a:solidFill>
                  <a:srgbClr val="00D4FF"/>
                </a:solidFill>
              </a:rPr>
              <a:t>POWER BI  ·  PAGE 1 — EV INFRASTRUCTURE OVERVIEW</a:t>
            </a:r>
            <a:endParaRPr lang="en-US" sz="800" dirty="0"/>
          </a:p>
        </p:txBody>
      </p:sp>
      <p:sp>
        <p:nvSpPr>
          <p:cNvPr id="4" name="Text 2"/>
          <p:cNvSpPr/>
          <p:nvPr/>
        </p:nvSpPr>
        <p:spPr>
          <a:xfrm>
            <a:off x="256032" y="384048"/>
            <a:ext cx="8595360" cy="530352"/>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Infrastructure at a Glance</a:t>
            </a:r>
            <a:endParaRPr lang="en-US" sz="2800" dirty="0"/>
          </a:p>
        </p:txBody>
      </p:sp>
      <p:sp>
        <p:nvSpPr>
          <p:cNvPr id="5" name="Text 3"/>
          <p:cNvSpPr/>
          <p:nvPr/>
        </p:nvSpPr>
        <p:spPr>
          <a:xfrm>
            <a:off x="256032" y="914400"/>
            <a:ext cx="8595360" cy="256032"/>
          </a:xfrm>
          <a:prstGeom prst="rect">
            <a:avLst/>
          </a:prstGeom>
          <a:noFill/>
          <a:ln/>
        </p:spPr>
        <p:txBody>
          <a:bodyPr wrap="square" rtlCol="0" anchor="ctr"/>
          <a:lstStyle/>
          <a:p>
            <a:pPr marL="0" indent="0">
              <a:buNone/>
            </a:pPr>
            <a:r>
              <a:rPr lang="en-US" sz="1100" i="1" dirty="0">
                <a:solidFill>
                  <a:srgbClr val="7A90B0"/>
                </a:solidFill>
              </a:rPr>
              <a:t>Dashboard KPIs: 65 stations · 390 plugs · 6 avg plugs/station · 18 districts</a:t>
            </a:r>
            <a:endParaRPr lang="en-US" sz="1100" dirty="0"/>
          </a:p>
        </p:txBody>
      </p:sp>
      <p:sp>
        <p:nvSpPr>
          <p:cNvPr id="6" name="Shape 4"/>
          <p:cNvSpPr/>
          <p:nvPr/>
        </p:nvSpPr>
        <p:spPr>
          <a:xfrm>
            <a:off x="256032" y="1207008"/>
            <a:ext cx="8631936" cy="18288"/>
          </a:xfrm>
          <a:prstGeom prst="rect">
            <a:avLst/>
          </a:prstGeom>
          <a:solidFill>
            <a:srgbClr val="1A2E4A"/>
          </a:solidFill>
          <a:ln w="12700">
            <a:solidFill>
              <a:srgbClr val="1A2E4A"/>
            </a:solidFill>
            <a:prstDash val="solid"/>
          </a:ln>
        </p:spPr>
      </p:sp>
      <p:sp>
        <p:nvSpPr>
          <p:cNvPr id="7" name="Shape 5"/>
          <p:cNvSpPr/>
          <p:nvPr/>
        </p:nvSpPr>
        <p:spPr>
          <a:xfrm>
            <a:off x="256032" y="1298448"/>
            <a:ext cx="8631936" cy="566928"/>
          </a:xfrm>
          <a:prstGeom prst="rect">
            <a:avLst/>
          </a:prstGeom>
          <a:solidFill>
            <a:srgbClr val="0D1829"/>
          </a:solidFill>
          <a:ln w="12700">
            <a:solidFill>
              <a:srgbClr val="00D4FF"/>
            </a:solidFill>
            <a:prstDash val="solid"/>
          </a:ln>
          <a:effectLst>
            <a:outerShdw blurRad="127000" dist="38100" dir="8100000" algn="bl" rotWithShape="0">
              <a:srgbClr val="000000">
                <a:alpha val="30000"/>
              </a:srgbClr>
            </a:outerShdw>
          </a:effectLst>
        </p:spPr>
      </p:sp>
      <p:sp>
        <p:nvSpPr>
          <p:cNvPr id="8" name="Text 6"/>
          <p:cNvSpPr/>
          <p:nvPr/>
        </p:nvSpPr>
        <p:spPr>
          <a:xfrm>
            <a:off x="411480" y="1353312"/>
            <a:ext cx="1828800" cy="237744"/>
          </a:xfrm>
          <a:prstGeom prst="rect">
            <a:avLst/>
          </a:prstGeom>
          <a:noFill/>
          <a:ln/>
        </p:spPr>
        <p:txBody>
          <a:bodyPr wrap="square" rtlCol="0" anchor="ctr"/>
          <a:lstStyle/>
          <a:p>
            <a:pPr marL="0" indent="0">
              <a:buNone/>
            </a:pPr>
            <a:r>
              <a:rPr lang="en-US" sz="1000" b="1" dirty="0">
                <a:solidFill>
                  <a:srgbClr val="00D4FF"/>
                </a:solidFill>
              </a:rPr>
              <a:t>🔍  Dashboard Finding:</a:t>
            </a:r>
            <a:endParaRPr lang="en-US" sz="1000" dirty="0"/>
          </a:p>
        </p:txBody>
      </p:sp>
      <p:sp>
        <p:nvSpPr>
          <p:cNvPr id="9" name="Text 7"/>
          <p:cNvSpPr/>
          <p:nvPr/>
        </p:nvSpPr>
        <p:spPr>
          <a:xfrm>
            <a:off x="2176272" y="1353312"/>
            <a:ext cx="6601968" cy="457200"/>
          </a:xfrm>
          <a:prstGeom prst="rect">
            <a:avLst/>
          </a:prstGeom>
          <a:noFill/>
          <a:ln/>
        </p:spPr>
        <p:txBody>
          <a:bodyPr wrap="square" rtlCol="0" anchor="ctr"/>
          <a:lstStyle/>
          <a:p>
            <a:pPr marL="0" indent="0">
              <a:buNone/>
            </a:pPr>
            <a:r>
              <a:rPr lang="en-US" sz="1050" dirty="0">
                <a:solidFill>
                  <a:srgbClr val="FFFFFF"/>
                </a:solidFill>
              </a:rPr>
              <a:t>The Infrastructure Overview page confirms Warsaw has 65 stations and 390 plugs — but the donut chart reveals a skewed distribution: Mid-Range districts hold 46.15% of all stations, leaving High-income zones critically under-served with only 20%.</a:t>
            </a:r>
            <a:endParaRPr lang="en-US" sz="1050" dirty="0"/>
          </a:p>
        </p:txBody>
      </p:sp>
      <p:sp>
        <p:nvSpPr>
          <p:cNvPr id="10" name="Shape 8"/>
          <p:cNvSpPr/>
          <p:nvPr/>
        </p:nvSpPr>
        <p:spPr>
          <a:xfrm>
            <a:off x="256032" y="1993392"/>
            <a:ext cx="2743200" cy="2697480"/>
          </a:xfrm>
          <a:prstGeom prst="rect">
            <a:avLst/>
          </a:prstGeom>
          <a:solidFill>
            <a:srgbClr val="111C2E"/>
          </a:solidFill>
          <a:ln w="15240">
            <a:solidFill>
              <a:srgbClr val="00D4FF"/>
            </a:solidFill>
            <a:prstDash val="solid"/>
          </a:ln>
          <a:effectLst>
            <a:outerShdw blurRad="127000" dist="38100" dir="8100000" algn="bl" rotWithShape="0">
              <a:srgbClr val="000000">
                <a:alpha val="30000"/>
              </a:srgbClr>
            </a:outerShdw>
          </a:effectLst>
        </p:spPr>
      </p:sp>
      <p:sp>
        <p:nvSpPr>
          <p:cNvPr id="11" name="Shape 9"/>
          <p:cNvSpPr/>
          <p:nvPr/>
        </p:nvSpPr>
        <p:spPr>
          <a:xfrm>
            <a:off x="256032" y="1993392"/>
            <a:ext cx="45720" cy="2697480"/>
          </a:xfrm>
          <a:prstGeom prst="rect">
            <a:avLst/>
          </a:prstGeom>
          <a:solidFill>
            <a:srgbClr val="00D4FF"/>
          </a:solidFill>
          <a:ln w="12700">
            <a:solidFill>
              <a:srgbClr val="00D4FF"/>
            </a:solidFill>
            <a:prstDash val="solid"/>
          </a:ln>
        </p:spPr>
      </p:sp>
      <p:sp>
        <p:nvSpPr>
          <p:cNvPr id="12" name="Text 10"/>
          <p:cNvSpPr/>
          <p:nvPr/>
        </p:nvSpPr>
        <p:spPr>
          <a:xfrm>
            <a:off x="384048" y="2084832"/>
            <a:ext cx="2542032" cy="292608"/>
          </a:xfrm>
          <a:prstGeom prst="rect">
            <a:avLst/>
          </a:prstGeom>
          <a:noFill/>
          <a:ln/>
        </p:spPr>
        <p:txBody>
          <a:bodyPr wrap="square" rtlCol="0" anchor="ctr"/>
          <a:lstStyle/>
          <a:p>
            <a:pPr marL="0" indent="0">
              <a:buNone/>
            </a:pPr>
            <a:r>
              <a:rPr lang="en-US" sz="1150" b="1" dirty="0">
                <a:solidFill>
                  <a:srgbClr val="00D4FF"/>
                </a:solidFill>
              </a:rPr>
              <a:t>📍  Mid-Range Dominates Station Count</a:t>
            </a:r>
            <a:endParaRPr lang="en-US" sz="1150" dirty="0"/>
          </a:p>
        </p:txBody>
      </p:sp>
      <p:sp>
        <p:nvSpPr>
          <p:cNvPr id="13" name="Text 11"/>
          <p:cNvSpPr/>
          <p:nvPr/>
        </p:nvSpPr>
        <p:spPr>
          <a:xfrm>
            <a:off x="384048" y="2414016"/>
            <a:ext cx="2542032" cy="2148840"/>
          </a:xfrm>
          <a:prstGeom prst="rect">
            <a:avLst/>
          </a:prstGeom>
          <a:noFill/>
          <a:ln/>
        </p:spPr>
        <p:txBody>
          <a:bodyPr wrap="square" rtlCol="0" anchor="ctr"/>
          <a:lstStyle/>
          <a:p>
            <a:pPr marL="0" indent="0">
              <a:lnSpc>
                <a:spcPct val="130000"/>
              </a:lnSpc>
              <a:buNone/>
            </a:pPr>
            <a:r>
              <a:rPr lang="en-US" sz="1000" dirty="0">
                <a:solidFill>
                  <a:srgbClr val="7A90B0"/>
                </a:solidFill>
              </a:rPr>
              <a:t>Dashboard bar chart: Ursynów leads with 12 stations, Wesoła has 11. Mid-Range districts hold 30 stations (46.15%) while High-income has only 13 (20%). The donut chart clearly shows this imbalance.</a:t>
            </a:r>
            <a:endParaRPr lang="en-US" sz="1000" dirty="0"/>
          </a:p>
        </p:txBody>
      </p:sp>
      <p:sp>
        <p:nvSpPr>
          <p:cNvPr id="14" name="Shape 12"/>
          <p:cNvSpPr/>
          <p:nvPr/>
        </p:nvSpPr>
        <p:spPr>
          <a:xfrm>
            <a:off x="3163824" y="1993392"/>
            <a:ext cx="2743200" cy="2697480"/>
          </a:xfrm>
          <a:prstGeom prst="rect">
            <a:avLst/>
          </a:prstGeom>
          <a:solidFill>
            <a:srgbClr val="111C2E"/>
          </a:solidFill>
          <a:ln w="15240">
            <a:solidFill>
              <a:srgbClr val="00E5A0"/>
            </a:solidFill>
            <a:prstDash val="solid"/>
          </a:ln>
          <a:effectLst>
            <a:outerShdw blurRad="127000" dist="38100" dir="8100000" algn="bl" rotWithShape="0">
              <a:srgbClr val="000000">
                <a:alpha val="30000"/>
              </a:srgbClr>
            </a:outerShdw>
          </a:effectLst>
        </p:spPr>
      </p:sp>
      <p:sp>
        <p:nvSpPr>
          <p:cNvPr id="15" name="Shape 13"/>
          <p:cNvSpPr/>
          <p:nvPr/>
        </p:nvSpPr>
        <p:spPr>
          <a:xfrm>
            <a:off x="3163824" y="1993392"/>
            <a:ext cx="45720" cy="2697480"/>
          </a:xfrm>
          <a:prstGeom prst="rect">
            <a:avLst/>
          </a:prstGeom>
          <a:solidFill>
            <a:srgbClr val="00E5A0"/>
          </a:solidFill>
          <a:ln w="12700">
            <a:solidFill>
              <a:srgbClr val="00E5A0"/>
            </a:solidFill>
            <a:prstDash val="solid"/>
          </a:ln>
        </p:spPr>
      </p:sp>
      <p:sp>
        <p:nvSpPr>
          <p:cNvPr id="16" name="Text 14"/>
          <p:cNvSpPr/>
          <p:nvPr/>
        </p:nvSpPr>
        <p:spPr>
          <a:xfrm>
            <a:off x="3291840" y="2084832"/>
            <a:ext cx="2542032" cy="292608"/>
          </a:xfrm>
          <a:prstGeom prst="rect">
            <a:avLst/>
          </a:prstGeom>
          <a:noFill/>
          <a:ln/>
        </p:spPr>
        <p:txBody>
          <a:bodyPr wrap="square" rtlCol="0" anchor="ctr"/>
          <a:lstStyle/>
          <a:p>
            <a:pPr marL="0" indent="0">
              <a:buNone/>
            </a:pPr>
            <a:r>
              <a:rPr lang="en-US" sz="1150" b="1" dirty="0">
                <a:solidFill>
                  <a:srgbClr val="00E5A0"/>
                </a:solidFill>
              </a:rPr>
              <a:t>⚡  Ursynów Tops Plug Capacity</a:t>
            </a:r>
            <a:endParaRPr lang="en-US" sz="1150" dirty="0"/>
          </a:p>
        </p:txBody>
      </p:sp>
      <p:sp>
        <p:nvSpPr>
          <p:cNvPr id="17" name="Text 15"/>
          <p:cNvSpPr/>
          <p:nvPr/>
        </p:nvSpPr>
        <p:spPr>
          <a:xfrm>
            <a:off x="3291840" y="2414016"/>
            <a:ext cx="2542032" cy="2148840"/>
          </a:xfrm>
          <a:prstGeom prst="rect">
            <a:avLst/>
          </a:prstGeom>
          <a:noFill/>
          <a:ln/>
        </p:spPr>
        <p:txBody>
          <a:bodyPr wrap="square" rtlCol="0" anchor="ctr"/>
          <a:lstStyle/>
          <a:p>
            <a:pPr marL="0" indent="0">
              <a:lnSpc>
                <a:spcPct val="130000"/>
              </a:lnSpc>
              <a:buNone/>
            </a:pPr>
            <a:r>
              <a:rPr lang="en-US" sz="1000" dirty="0">
                <a:solidFill>
                  <a:srgbClr val="7A90B0"/>
                </a:solidFill>
              </a:rPr>
              <a:t>The plugs column chart shows Ursynów at 72 plugs and Wesoła at 66 — far ahead of all others. The dual-axis chart confirms Ursynów leads on both station count and plug capacity simultaneously.</a:t>
            </a:r>
            <a:endParaRPr lang="en-US" sz="1000" dirty="0"/>
          </a:p>
        </p:txBody>
      </p:sp>
      <p:sp>
        <p:nvSpPr>
          <p:cNvPr id="18" name="Shape 16"/>
          <p:cNvSpPr/>
          <p:nvPr/>
        </p:nvSpPr>
        <p:spPr>
          <a:xfrm>
            <a:off x="6071616" y="1993392"/>
            <a:ext cx="2816352" cy="2697480"/>
          </a:xfrm>
          <a:prstGeom prst="rect">
            <a:avLst/>
          </a:prstGeom>
          <a:solidFill>
            <a:srgbClr val="111C2E"/>
          </a:solidFill>
          <a:ln w="15240">
            <a:solidFill>
              <a:srgbClr val="FF4B6E"/>
            </a:solidFill>
            <a:prstDash val="solid"/>
          </a:ln>
          <a:effectLst>
            <a:outerShdw blurRad="127000" dist="38100" dir="8100000" algn="bl" rotWithShape="0">
              <a:srgbClr val="000000">
                <a:alpha val="30000"/>
              </a:srgbClr>
            </a:outerShdw>
          </a:effectLst>
        </p:spPr>
      </p:sp>
      <p:sp>
        <p:nvSpPr>
          <p:cNvPr id="19" name="Shape 17"/>
          <p:cNvSpPr/>
          <p:nvPr/>
        </p:nvSpPr>
        <p:spPr>
          <a:xfrm>
            <a:off x="6071616" y="1993392"/>
            <a:ext cx="45720" cy="2697480"/>
          </a:xfrm>
          <a:prstGeom prst="rect">
            <a:avLst/>
          </a:prstGeom>
          <a:solidFill>
            <a:srgbClr val="FF4B6E"/>
          </a:solidFill>
          <a:ln w="12700">
            <a:solidFill>
              <a:srgbClr val="FF4B6E"/>
            </a:solidFill>
            <a:prstDash val="solid"/>
          </a:ln>
        </p:spPr>
      </p:sp>
      <p:sp>
        <p:nvSpPr>
          <p:cNvPr id="20" name="Text 18"/>
          <p:cNvSpPr/>
          <p:nvPr/>
        </p:nvSpPr>
        <p:spPr>
          <a:xfrm>
            <a:off x="6199632" y="2084832"/>
            <a:ext cx="2615184" cy="292608"/>
          </a:xfrm>
          <a:prstGeom prst="rect">
            <a:avLst/>
          </a:prstGeom>
          <a:noFill/>
          <a:ln/>
        </p:spPr>
        <p:txBody>
          <a:bodyPr wrap="square" rtlCol="0" anchor="ctr"/>
          <a:lstStyle/>
          <a:p>
            <a:pPr marL="0" indent="0">
              <a:buNone/>
            </a:pPr>
            <a:r>
              <a:rPr lang="en-US" sz="1150" b="1" dirty="0">
                <a:solidFill>
                  <a:srgbClr val="FF4B6E"/>
                </a:solidFill>
              </a:rPr>
              <a:t>🚨  5 Districts Have Zero Infrastructure</a:t>
            </a:r>
            <a:endParaRPr lang="en-US" sz="1150" dirty="0"/>
          </a:p>
        </p:txBody>
      </p:sp>
      <p:sp>
        <p:nvSpPr>
          <p:cNvPr id="21" name="Text 19"/>
          <p:cNvSpPr/>
          <p:nvPr/>
        </p:nvSpPr>
        <p:spPr>
          <a:xfrm>
            <a:off x="6199632" y="2414016"/>
            <a:ext cx="2615184" cy="2148840"/>
          </a:xfrm>
          <a:prstGeom prst="rect">
            <a:avLst/>
          </a:prstGeom>
          <a:noFill/>
          <a:ln/>
        </p:spPr>
        <p:txBody>
          <a:bodyPr wrap="square" rtlCol="0" anchor="ctr"/>
          <a:lstStyle/>
          <a:p>
            <a:pPr marL="0" indent="0">
              <a:lnSpc>
                <a:spcPct val="130000"/>
              </a:lnSpc>
              <a:buNone/>
            </a:pPr>
            <a:r>
              <a:rPr lang="en-US" sz="1000" dirty="0">
                <a:solidFill>
                  <a:srgbClr val="7A90B0"/>
                </a:solidFill>
              </a:rPr>
              <a:t>The dashboard bar chart flatlines at 0 for Bielany, Praga Południe, Białołęka, Praga Północ, and Wawer. These districts are completely absent from the infrastructure — a systemic planning failure.</a:t>
            </a:r>
            <a:endParaRPr lang="en-US" sz="1000" dirty="0"/>
          </a:p>
        </p:txBody>
      </p:sp>
      <p:sp>
        <p:nvSpPr>
          <p:cNvPr id="22" name="Shape 20"/>
          <p:cNvSpPr/>
          <p:nvPr/>
        </p:nvSpPr>
        <p:spPr>
          <a:xfrm>
            <a:off x="256032" y="4718304"/>
            <a:ext cx="8631936" cy="292608"/>
          </a:xfrm>
          <a:prstGeom prst="rect">
            <a:avLst/>
          </a:prstGeom>
          <a:solidFill>
            <a:srgbClr val="111C2E"/>
          </a:solidFill>
          <a:ln w="12700">
            <a:solidFill>
              <a:srgbClr val="1A2E4A"/>
            </a:solidFill>
            <a:prstDash val="solid"/>
          </a:ln>
        </p:spPr>
      </p:sp>
      <p:sp>
        <p:nvSpPr>
          <p:cNvPr id="23" name="Text 21"/>
          <p:cNvSpPr/>
          <p:nvPr/>
        </p:nvSpPr>
        <p:spPr>
          <a:xfrm>
            <a:off x="384048" y="4754880"/>
            <a:ext cx="8430768" cy="228600"/>
          </a:xfrm>
          <a:prstGeom prst="rect">
            <a:avLst/>
          </a:prstGeom>
          <a:noFill/>
          <a:ln/>
        </p:spPr>
        <p:txBody>
          <a:bodyPr wrap="square" rtlCol="0" anchor="ctr"/>
          <a:lstStyle/>
          <a:p>
            <a:pPr marL="0" indent="0">
              <a:buNone/>
            </a:pPr>
            <a:r>
              <a:rPr lang="en-US" sz="900" i="1" dirty="0">
                <a:solidFill>
                  <a:srgbClr val="7A90B0"/>
                </a:solidFill>
              </a:rPr>
              <a:t>💡  Analyst Recommendation: Redirect capital investment away from Ursynów/Wesoła toward zero-coverage zones. The donut chart's 20% High-tier share is the clearest evidence of where revenue is being left on the table.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E5A0"/>
          </a:solidFill>
          <a:ln w="12700">
            <a:solidFill>
              <a:srgbClr val="00E5A0"/>
            </a:solidFill>
            <a:prstDash val="solid"/>
          </a:ln>
        </p:spPr>
      </p:sp>
      <p:sp>
        <p:nvSpPr>
          <p:cNvPr id="3" name="Text 1"/>
          <p:cNvSpPr/>
          <p:nvPr/>
        </p:nvSpPr>
        <p:spPr>
          <a:xfrm>
            <a:off x="256032" y="146304"/>
            <a:ext cx="8686800" cy="237744"/>
          </a:xfrm>
          <a:prstGeom prst="rect">
            <a:avLst/>
          </a:prstGeom>
          <a:noFill/>
          <a:ln/>
        </p:spPr>
        <p:txBody>
          <a:bodyPr wrap="square" rtlCol="0" anchor="ctr"/>
          <a:lstStyle/>
          <a:p>
            <a:pPr marL="0" indent="0">
              <a:buNone/>
            </a:pPr>
            <a:r>
              <a:rPr lang="en-US" sz="800" b="1" kern="0" spc="250" dirty="0">
                <a:solidFill>
                  <a:srgbClr val="00E5A0"/>
                </a:solidFill>
              </a:rPr>
              <a:t>POWER BI  ·  PAGE 2 — CHARGING USAGE &amp; DEMAND</a:t>
            </a:r>
            <a:endParaRPr lang="en-US" sz="800" dirty="0"/>
          </a:p>
        </p:txBody>
      </p:sp>
      <p:sp>
        <p:nvSpPr>
          <p:cNvPr id="4" name="Text 2"/>
          <p:cNvSpPr/>
          <p:nvPr/>
        </p:nvSpPr>
        <p:spPr>
          <a:xfrm>
            <a:off x="256032" y="384048"/>
            <a:ext cx="8595360" cy="530352"/>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Usage Patterns &amp; Session Behavior</a:t>
            </a:r>
            <a:endParaRPr lang="en-US" sz="2800" dirty="0"/>
          </a:p>
        </p:txBody>
      </p:sp>
      <p:sp>
        <p:nvSpPr>
          <p:cNvPr id="5" name="Text 3"/>
          <p:cNvSpPr/>
          <p:nvPr/>
        </p:nvSpPr>
        <p:spPr>
          <a:xfrm>
            <a:off x="256032" y="914400"/>
            <a:ext cx="8595360" cy="256032"/>
          </a:xfrm>
          <a:prstGeom prst="rect">
            <a:avLst/>
          </a:prstGeom>
          <a:noFill/>
          <a:ln/>
        </p:spPr>
        <p:txBody>
          <a:bodyPr wrap="square" rtlCol="0" anchor="ctr"/>
          <a:lstStyle/>
          <a:p>
            <a:pPr marL="0" indent="0">
              <a:buNone/>
            </a:pPr>
            <a:r>
              <a:rPr lang="en-US" sz="1100" i="1" dirty="0">
                <a:solidFill>
                  <a:srgbClr val="7A90B0"/>
                </a:solidFill>
              </a:rPr>
              <a:t>Dashboard KPIs: 114K sessions · 4M kWh · 39.13 avg kWh · 18 districts</a:t>
            </a:r>
            <a:endParaRPr lang="en-US" sz="1100" dirty="0"/>
          </a:p>
        </p:txBody>
      </p:sp>
      <p:sp>
        <p:nvSpPr>
          <p:cNvPr id="6" name="Shape 4"/>
          <p:cNvSpPr/>
          <p:nvPr/>
        </p:nvSpPr>
        <p:spPr>
          <a:xfrm>
            <a:off x="256032" y="1207008"/>
            <a:ext cx="8631936" cy="18288"/>
          </a:xfrm>
          <a:prstGeom prst="rect">
            <a:avLst/>
          </a:prstGeom>
          <a:solidFill>
            <a:srgbClr val="1A2E4A"/>
          </a:solidFill>
          <a:ln w="12700">
            <a:solidFill>
              <a:srgbClr val="1A2E4A"/>
            </a:solidFill>
            <a:prstDash val="solid"/>
          </a:ln>
        </p:spPr>
      </p:sp>
      <p:sp>
        <p:nvSpPr>
          <p:cNvPr id="7" name="Shape 5"/>
          <p:cNvSpPr/>
          <p:nvPr/>
        </p:nvSpPr>
        <p:spPr>
          <a:xfrm>
            <a:off x="256032" y="1298448"/>
            <a:ext cx="8631936" cy="566928"/>
          </a:xfrm>
          <a:prstGeom prst="rect">
            <a:avLst/>
          </a:prstGeom>
          <a:solidFill>
            <a:srgbClr val="0D1829"/>
          </a:solidFill>
          <a:ln w="12700">
            <a:solidFill>
              <a:srgbClr val="00E5A0"/>
            </a:solidFill>
            <a:prstDash val="solid"/>
          </a:ln>
          <a:effectLst>
            <a:outerShdw blurRad="127000" dist="38100" dir="8100000" algn="bl" rotWithShape="0">
              <a:srgbClr val="000000">
                <a:alpha val="30000"/>
              </a:srgbClr>
            </a:outerShdw>
          </a:effectLst>
        </p:spPr>
      </p:sp>
      <p:sp>
        <p:nvSpPr>
          <p:cNvPr id="8" name="Text 6"/>
          <p:cNvSpPr/>
          <p:nvPr/>
        </p:nvSpPr>
        <p:spPr>
          <a:xfrm>
            <a:off x="411480" y="1353312"/>
            <a:ext cx="1828800" cy="237744"/>
          </a:xfrm>
          <a:prstGeom prst="rect">
            <a:avLst/>
          </a:prstGeom>
          <a:noFill/>
          <a:ln/>
        </p:spPr>
        <p:txBody>
          <a:bodyPr wrap="square" rtlCol="0" anchor="ctr"/>
          <a:lstStyle/>
          <a:p>
            <a:pPr marL="0" indent="0">
              <a:buNone/>
            </a:pPr>
            <a:r>
              <a:rPr lang="en-US" sz="1000" b="1" dirty="0">
                <a:solidFill>
                  <a:srgbClr val="00E5A0"/>
                </a:solidFill>
              </a:rPr>
              <a:t>🔍  Dashboard Finding:</a:t>
            </a:r>
            <a:endParaRPr lang="en-US" sz="1000" dirty="0"/>
          </a:p>
        </p:txBody>
      </p:sp>
      <p:sp>
        <p:nvSpPr>
          <p:cNvPr id="9" name="Text 7"/>
          <p:cNvSpPr/>
          <p:nvPr/>
        </p:nvSpPr>
        <p:spPr>
          <a:xfrm>
            <a:off x="2176272" y="1353312"/>
            <a:ext cx="6601968" cy="457200"/>
          </a:xfrm>
          <a:prstGeom prst="rect">
            <a:avLst/>
          </a:prstGeom>
          <a:noFill/>
          <a:ln/>
        </p:spPr>
        <p:txBody>
          <a:bodyPr wrap="square" rtlCol="0" anchor="ctr"/>
          <a:lstStyle/>
          <a:p>
            <a:pPr marL="0" indent="0">
              <a:buNone/>
            </a:pPr>
            <a:r>
              <a:rPr lang="en-US" sz="1050" dirty="0">
                <a:solidFill>
                  <a:srgbClr val="FFFFFF"/>
                </a:solidFill>
              </a:rPr>
              <a:t>Page 2 reveals 114K sessions generating 4M+ kWh. The 'sessions by hour' chart shows a plateau from 8–15h rather than a morning spike — indicating commercial/workplace charging dominates, not commuter patterns.</a:t>
            </a:r>
            <a:endParaRPr lang="en-US" sz="1050" dirty="0"/>
          </a:p>
        </p:txBody>
      </p:sp>
      <p:sp>
        <p:nvSpPr>
          <p:cNvPr id="10" name="Shape 8"/>
          <p:cNvSpPr/>
          <p:nvPr/>
        </p:nvSpPr>
        <p:spPr>
          <a:xfrm>
            <a:off x="256032" y="2011680"/>
            <a:ext cx="1920240" cy="804672"/>
          </a:xfrm>
          <a:prstGeom prst="rect">
            <a:avLst/>
          </a:prstGeom>
          <a:solidFill>
            <a:srgbClr val="0D1829"/>
          </a:solidFill>
          <a:ln w="12700">
            <a:solidFill>
              <a:srgbClr val="00D4FF"/>
            </a:solidFill>
            <a:prstDash val="solid"/>
          </a:ln>
          <a:effectLst>
            <a:outerShdw blurRad="127000" dist="38100" dir="8100000" algn="bl" rotWithShape="0">
              <a:srgbClr val="000000">
                <a:alpha val="30000"/>
              </a:srgbClr>
            </a:outerShdw>
          </a:effectLst>
        </p:spPr>
      </p:sp>
      <p:sp>
        <p:nvSpPr>
          <p:cNvPr id="11" name="Text 9"/>
          <p:cNvSpPr/>
          <p:nvPr/>
        </p:nvSpPr>
        <p:spPr>
          <a:xfrm>
            <a:off x="256032" y="2057400"/>
            <a:ext cx="1920240" cy="402336"/>
          </a:xfrm>
          <a:prstGeom prst="rect">
            <a:avLst/>
          </a:prstGeom>
          <a:noFill/>
          <a:ln/>
        </p:spPr>
        <p:txBody>
          <a:bodyPr wrap="square" rtlCol="0" anchor="ctr"/>
          <a:lstStyle/>
          <a:p>
            <a:pPr marL="0" indent="0" algn="ctr">
              <a:buNone/>
            </a:pPr>
            <a:r>
              <a:rPr lang="en-US" sz="2200" b="1" dirty="0">
                <a:solidFill>
                  <a:srgbClr val="00D4FF"/>
                </a:solidFill>
              </a:rPr>
              <a:t>114K</a:t>
            </a:r>
            <a:endParaRPr lang="en-US" sz="2200" dirty="0"/>
          </a:p>
        </p:txBody>
      </p:sp>
      <p:sp>
        <p:nvSpPr>
          <p:cNvPr id="12" name="Text 10"/>
          <p:cNvSpPr/>
          <p:nvPr/>
        </p:nvSpPr>
        <p:spPr>
          <a:xfrm>
            <a:off x="256032" y="2468880"/>
            <a:ext cx="1920240" cy="274320"/>
          </a:xfrm>
          <a:prstGeom prst="rect">
            <a:avLst/>
          </a:prstGeom>
          <a:noFill/>
          <a:ln/>
        </p:spPr>
        <p:txBody>
          <a:bodyPr wrap="square" rtlCol="0" anchor="ctr"/>
          <a:lstStyle/>
          <a:p>
            <a:pPr marL="0" indent="0" algn="ctr">
              <a:buNone/>
            </a:pPr>
            <a:r>
              <a:rPr lang="en-US" sz="900" dirty="0">
                <a:solidFill>
                  <a:srgbClr val="7A90B0"/>
                </a:solidFill>
              </a:rPr>
              <a:t>Total Sessions</a:t>
            </a:r>
            <a:endParaRPr lang="en-US" sz="900" dirty="0"/>
          </a:p>
        </p:txBody>
      </p:sp>
      <p:sp>
        <p:nvSpPr>
          <p:cNvPr id="13" name="Shape 11"/>
          <p:cNvSpPr/>
          <p:nvPr/>
        </p:nvSpPr>
        <p:spPr>
          <a:xfrm>
            <a:off x="2331720" y="2011680"/>
            <a:ext cx="1920240" cy="804672"/>
          </a:xfrm>
          <a:prstGeom prst="rect">
            <a:avLst/>
          </a:prstGeom>
          <a:solidFill>
            <a:srgbClr val="0D1829"/>
          </a:solidFill>
          <a:ln w="12700">
            <a:solidFill>
              <a:srgbClr val="00E5A0"/>
            </a:solidFill>
            <a:prstDash val="solid"/>
          </a:ln>
          <a:effectLst>
            <a:outerShdw blurRad="127000" dist="38100" dir="8100000" algn="bl" rotWithShape="0">
              <a:srgbClr val="000000">
                <a:alpha val="30000"/>
              </a:srgbClr>
            </a:outerShdw>
          </a:effectLst>
        </p:spPr>
      </p:sp>
      <p:sp>
        <p:nvSpPr>
          <p:cNvPr id="14" name="Text 12"/>
          <p:cNvSpPr/>
          <p:nvPr/>
        </p:nvSpPr>
        <p:spPr>
          <a:xfrm>
            <a:off x="2331720" y="2057400"/>
            <a:ext cx="1920240" cy="402336"/>
          </a:xfrm>
          <a:prstGeom prst="rect">
            <a:avLst/>
          </a:prstGeom>
          <a:noFill/>
          <a:ln/>
        </p:spPr>
        <p:txBody>
          <a:bodyPr wrap="square" rtlCol="0" anchor="ctr"/>
          <a:lstStyle/>
          <a:p>
            <a:pPr marL="0" indent="0" algn="ctr">
              <a:buNone/>
            </a:pPr>
            <a:r>
              <a:rPr lang="en-US" sz="2200" b="1" dirty="0">
                <a:solidFill>
                  <a:srgbClr val="00E5A0"/>
                </a:solidFill>
              </a:rPr>
              <a:t>4M kWh</a:t>
            </a:r>
            <a:endParaRPr lang="en-US" sz="2200" dirty="0"/>
          </a:p>
        </p:txBody>
      </p:sp>
      <p:sp>
        <p:nvSpPr>
          <p:cNvPr id="15" name="Text 13"/>
          <p:cNvSpPr/>
          <p:nvPr/>
        </p:nvSpPr>
        <p:spPr>
          <a:xfrm>
            <a:off x="2331720" y="2468880"/>
            <a:ext cx="1920240" cy="274320"/>
          </a:xfrm>
          <a:prstGeom prst="rect">
            <a:avLst/>
          </a:prstGeom>
          <a:noFill/>
          <a:ln/>
        </p:spPr>
        <p:txBody>
          <a:bodyPr wrap="square" rtlCol="0" anchor="ctr"/>
          <a:lstStyle/>
          <a:p>
            <a:pPr marL="0" indent="0" algn="ctr">
              <a:buNone/>
            </a:pPr>
            <a:r>
              <a:rPr lang="en-US" sz="900" dirty="0">
                <a:solidFill>
                  <a:srgbClr val="7A90B0"/>
                </a:solidFill>
              </a:rPr>
              <a:t>Energy Charged</a:t>
            </a:r>
            <a:endParaRPr lang="en-US" sz="900" dirty="0"/>
          </a:p>
        </p:txBody>
      </p:sp>
      <p:sp>
        <p:nvSpPr>
          <p:cNvPr id="16" name="Shape 14"/>
          <p:cNvSpPr/>
          <p:nvPr/>
        </p:nvSpPr>
        <p:spPr>
          <a:xfrm>
            <a:off x="4407408" y="2011680"/>
            <a:ext cx="1920240" cy="804672"/>
          </a:xfrm>
          <a:prstGeom prst="rect">
            <a:avLst/>
          </a:prstGeom>
          <a:solidFill>
            <a:srgbClr val="0D1829"/>
          </a:solidFill>
          <a:ln w="12700">
            <a:solidFill>
              <a:srgbClr val="FF9B3B"/>
            </a:solidFill>
            <a:prstDash val="solid"/>
          </a:ln>
          <a:effectLst>
            <a:outerShdw blurRad="127000" dist="38100" dir="8100000" algn="bl" rotWithShape="0">
              <a:srgbClr val="000000">
                <a:alpha val="30000"/>
              </a:srgbClr>
            </a:outerShdw>
          </a:effectLst>
        </p:spPr>
      </p:sp>
      <p:sp>
        <p:nvSpPr>
          <p:cNvPr id="17" name="Text 15"/>
          <p:cNvSpPr/>
          <p:nvPr/>
        </p:nvSpPr>
        <p:spPr>
          <a:xfrm>
            <a:off x="4407408" y="2057400"/>
            <a:ext cx="1920240" cy="402336"/>
          </a:xfrm>
          <a:prstGeom prst="rect">
            <a:avLst/>
          </a:prstGeom>
          <a:noFill/>
          <a:ln/>
        </p:spPr>
        <p:txBody>
          <a:bodyPr wrap="square" rtlCol="0" anchor="ctr"/>
          <a:lstStyle/>
          <a:p>
            <a:pPr marL="0" indent="0" algn="ctr">
              <a:buNone/>
            </a:pPr>
            <a:r>
              <a:rPr lang="en-US" sz="2200" b="1" dirty="0">
                <a:solidFill>
                  <a:srgbClr val="FF9B3B"/>
                </a:solidFill>
              </a:rPr>
              <a:t>39.13</a:t>
            </a:r>
            <a:endParaRPr lang="en-US" sz="2200" dirty="0"/>
          </a:p>
        </p:txBody>
      </p:sp>
      <p:sp>
        <p:nvSpPr>
          <p:cNvPr id="18" name="Text 16"/>
          <p:cNvSpPr/>
          <p:nvPr/>
        </p:nvSpPr>
        <p:spPr>
          <a:xfrm>
            <a:off x="4407408" y="2468880"/>
            <a:ext cx="1920240" cy="274320"/>
          </a:xfrm>
          <a:prstGeom prst="rect">
            <a:avLst/>
          </a:prstGeom>
          <a:noFill/>
          <a:ln/>
        </p:spPr>
        <p:txBody>
          <a:bodyPr wrap="square" rtlCol="0" anchor="ctr"/>
          <a:lstStyle/>
          <a:p>
            <a:pPr marL="0" indent="0" algn="ctr">
              <a:buNone/>
            </a:pPr>
            <a:r>
              <a:rPr lang="en-US" sz="900" dirty="0">
                <a:solidFill>
                  <a:srgbClr val="7A90B0"/>
                </a:solidFill>
              </a:rPr>
              <a:t>Avg kWh/Session</a:t>
            </a:r>
            <a:endParaRPr lang="en-US" sz="900" dirty="0"/>
          </a:p>
        </p:txBody>
      </p:sp>
      <p:sp>
        <p:nvSpPr>
          <p:cNvPr id="19" name="Shape 17"/>
          <p:cNvSpPr/>
          <p:nvPr/>
        </p:nvSpPr>
        <p:spPr>
          <a:xfrm>
            <a:off x="6483096" y="2011680"/>
            <a:ext cx="1920240" cy="804672"/>
          </a:xfrm>
          <a:prstGeom prst="rect">
            <a:avLst/>
          </a:prstGeom>
          <a:solidFill>
            <a:srgbClr val="0D1829"/>
          </a:solidFill>
          <a:ln w="12700">
            <a:solidFill>
              <a:srgbClr val="9B7FFF"/>
            </a:solidFill>
            <a:prstDash val="solid"/>
          </a:ln>
          <a:effectLst>
            <a:outerShdw blurRad="127000" dist="38100" dir="8100000" algn="bl" rotWithShape="0">
              <a:srgbClr val="000000">
                <a:alpha val="30000"/>
              </a:srgbClr>
            </a:outerShdw>
          </a:effectLst>
        </p:spPr>
      </p:sp>
      <p:sp>
        <p:nvSpPr>
          <p:cNvPr id="20" name="Text 18"/>
          <p:cNvSpPr/>
          <p:nvPr/>
        </p:nvSpPr>
        <p:spPr>
          <a:xfrm>
            <a:off x="6483096" y="2057400"/>
            <a:ext cx="1920240" cy="402336"/>
          </a:xfrm>
          <a:prstGeom prst="rect">
            <a:avLst/>
          </a:prstGeom>
          <a:noFill/>
          <a:ln/>
        </p:spPr>
        <p:txBody>
          <a:bodyPr wrap="square" rtlCol="0" anchor="ctr"/>
          <a:lstStyle/>
          <a:p>
            <a:pPr marL="0" indent="0" algn="ctr">
              <a:buNone/>
            </a:pPr>
            <a:r>
              <a:rPr lang="en-US" sz="2200" b="1" dirty="0">
                <a:solidFill>
                  <a:srgbClr val="9B7FFF"/>
                </a:solidFill>
              </a:rPr>
              <a:t>18</a:t>
            </a:r>
            <a:endParaRPr lang="en-US" sz="2200" dirty="0"/>
          </a:p>
        </p:txBody>
      </p:sp>
      <p:sp>
        <p:nvSpPr>
          <p:cNvPr id="21" name="Text 19"/>
          <p:cNvSpPr/>
          <p:nvPr/>
        </p:nvSpPr>
        <p:spPr>
          <a:xfrm>
            <a:off x="6483096" y="2468880"/>
            <a:ext cx="1920240" cy="274320"/>
          </a:xfrm>
          <a:prstGeom prst="rect">
            <a:avLst/>
          </a:prstGeom>
          <a:noFill/>
          <a:ln/>
        </p:spPr>
        <p:txBody>
          <a:bodyPr wrap="square" rtlCol="0" anchor="ctr"/>
          <a:lstStyle/>
          <a:p>
            <a:pPr marL="0" indent="0" algn="ctr">
              <a:buNone/>
            </a:pPr>
            <a:r>
              <a:rPr lang="en-US" sz="900" dirty="0">
                <a:solidFill>
                  <a:srgbClr val="7A90B0"/>
                </a:solidFill>
              </a:rPr>
              <a:t>Districts Covered</a:t>
            </a:r>
            <a:endParaRPr lang="en-US" sz="900" dirty="0"/>
          </a:p>
        </p:txBody>
      </p:sp>
      <p:sp>
        <p:nvSpPr>
          <p:cNvPr id="22" name="Shape 20"/>
          <p:cNvSpPr/>
          <p:nvPr/>
        </p:nvSpPr>
        <p:spPr>
          <a:xfrm>
            <a:off x="256032" y="2944368"/>
            <a:ext cx="4160520" cy="1883664"/>
          </a:xfrm>
          <a:prstGeom prst="rect">
            <a:avLst/>
          </a:prstGeom>
          <a:solidFill>
            <a:srgbClr val="111C2E"/>
          </a:solidFill>
          <a:ln w="15240">
            <a:solidFill>
              <a:srgbClr val="00E5A0"/>
            </a:solidFill>
            <a:prstDash val="solid"/>
          </a:ln>
          <a:effectLst>
            <a:outerShdw blurRad="127000" dist="38100" dir="8100000" algn="bl" rotWithShape="0">
              <a:srgbClr val="000000">
                <a:alpha val="30000"/>
              </a:srgbClr>
            </a:outerShdw>
          </a:effectLst>
        </p:spPr>
      </p:sp>
      <p:sp>
        <p:nvSpPr>
          <p:cNvPr id="23" name="Shape 21"/>
          <p:cNvSpPr/>
          <p:nvPr/>
        </p:nvSpPr>
        <p:spPr>
          <a:xfrm>
            <a:off x="256032" y="2944368"/>
            <a:ext cx="45720" cy="1883664"/>
          </a:xfrm>
          <a:prstGeom prst="rect">
            <a:avLst/>
          </a:prstGeom>
          <a:solidFill>
            <a:srgbClr val="00E5A0"/>
          </a:solidFill>
          <a:ln w="12700">
            <a:solidFill>
              <a:srgbClr val="00E5A0"/>
            </a:solidFill>
            <a:prstDash val="solid"/>
          </a:ln>
        </p:spPr>
      </p:sp>
      <p:sp>
        <p:nvSpPr>
          <p:cNvPr id="24" name="Text 22"/>
          <p:cNvSpPr/>
          <p:nvPr/>
        </p:nvSpPr>
        <p:spPr>
          <a:xfrm>
            <a:off x="384048" y="3035808"/>
            <a:ext cx="3959352" cy="292608"/>
          </a:xfrm>
          <a:prstGeom prst="rect">
            <a:avLst/>
          </a:prstGeom>
          <a:noFill/>
          <a:ln/>
        </p:spPr>
        <p:txBody>
          <a:bodyPr wrap="square" rtlCol="0" anchor="ctr"/>
          <a:lstStyle/>
          <a:p>
            <a:pPr marL="0" indent="0">
              <a:buNone/>
            </a:pPr>
            <a:r>
              <a:rPr lang="en-US" sz="1150" b="1" dirty="0">
                <a:solidFill>
                  <a:srgbClr val="00E5A0"/>
                </a:solidFill>
              </a:rPr>
              <a:t>⏰  Midday Peak — 8 AM to 3 PM Window</a:t>
            </a:r>
            <a:endParaRPr lang="en-US" sz="1150" dirty="0"/>
          </a:p>
        </p:txBody>
      </p:sp>
      <p:sp>
        <p:nvSpPr>
          <p:cNvPr id="25" name="Text 23"/>
          <p:cNvSpPr/>
          <p:nvPr/>
        </p:nvSpPr>
        <p:spPr>
          <a:xfrm>
            <a:off x="384048" y="3364992"/>
            <a:ext cx="3959352" cy="1335024"/>
          </a:xfrm>
          <a:prstGeom prst="rect">
            <a:avLst/>
          </a:prstGeom>
          <a:noFill/>
          <a:ln/>
        </p:spPr>
        <p:txBody>
          <a:bodyPr wrap="square" rtlCol="0" anchor="ctr"/>
          <a:lstStyle/>
          <a:p>
            <a:pPr marL="0" indent="0">
              <a:lnSpc>
                <a:spcPct val="130000"/>
              </a:lnSpc>
              <a:buNone/>
            </a:pPr>
            <a:r>
              <a:rPr lang="en-US" sz="1000" dirty="0">
                <a:solidFill>
                  <a:srgbClr val="7A90B0"/>
                </a:solidFill>
              </a:rPr>
              <a:t>The 'Count of session_id by Hour' chart shows a sharp jump at hour 8 (~7.2K), sustaining through hour 15 (~7.2K). This plateau contradicts typical morning-commute assumptions — workplaces and commercial hubs drive demand.</a:t>
            </a:r>
            <a:endParaRPr lang="en-US" sz="1000" dirty="0"/>
          </a:p>
        </p:txBody>
      </p:sp>
      <p:sp>
        <p:nvSpPr>
          <p:cNvPr id="26" name="Shape 24"/>
          <p:cNvSpPr/>
          <p:nvPr/>
        </p:nvSpPr>
        <p:spPr>
          <a:xfrm>
            <a:off x="4617720" y="2944368"/>
            <a:ext cx="4251960" cy="1883664"/>
          </a:xfrm>
          <a:prstGeom prst="rect">
            <a:avLst/>
          </a:prstGeom>
          <a:solidFill>
            <a:srgbClr val="111C2E"/>
          </a:solidFill>
          <a:ln w="15240">
            <a:solidFill>
              <a:srgbClr val="00D4FF"/>
            </a:solidFill>
            <a:prstDash val="solid"/>
          </a:ln>
          <a:effectLst>
            <a:outerShdw blurRad="127000" dist="38100" dir="8100000" algn="bl" rotWithShape="0">
              <a:srgbClr val="000000">
                <a:alpha val="30000"/>
              </a:srgbClr>
            </a:outerShdw>
          </a:effectLst>
        </p:spPr>
      </p:sp>
      <p:sp>
        <p:nvSpPr>
          <p:cNvPr id="27" name="Shape 25"/>
          <p:cNvSpPr/>
          <p:nvPr/>
        </p:nvSpPr>
        <p:spPr>
          <a:xfrm>
            <a:off x="4617720" y="2944368"/>
            <a:ext cx="45720" cy="1883664"/>
          </a:xfrm>
          <a:prstGeom prst="rect">
            <a:avLst/>
          </a:prstGeom>
          <a:solidFill>
            <a:srgbClr val="00D4FF"/>
          </a:solidFill>
          <a:ln w="12700">
            <a:solidFill>
              <a:srgbClr val="00D4FF"/>
            </a:solidFill>
            <a:prstDash val="solid"/>
          </a:ln>
        </p:spPr>
      </p:sp>
      <p:sp>
        <p:nvSpPr>
          <p:cNvPr id="28" name="Text 26"/>
          <p:cNvSpPr/>
          <p:nvPr/>
        </p:nvSpPr>
        <p:spPr>
          <a:xfrm>
            <a:off x="4745736" y="3035808"/>
            <a:ext cx="4050792" cy="292608"/>
          </a:xfrm>
          <a:prstGeom prst="rect">
            <a:avLst/>
          </a:prstGeom>
          <a:noFill/>
          <a:ln/>
        </p:spPr>
        <p:txBody>
          <a:bodyPr wrap="square" rtlCol="0" anchor="ctr"/>
          <a:lstStyle/>
          <a:p>
            <a:pPr marL="0" indent="0">
              <a:buNone/>
            </a:pPr>
            <a:r>
              <a:rPr lang="en-US" sz="1150" b="1" dirty="0">
                <a:solidFill>
                  <a:srgbClr val="00D4FF"/>
                </a:solidFill>
              </a:rPr>
              <a:t>📅  Tuesday Is Busiest Day of the Week</a:t>
            </a:r>
            <a:endParaRPr lang="en-US" sz="1150" dirty="0"/>
          </a:p>
        </p:txBody>
      </p:sp>
      <p:sp>
        <p:nvSpPr>
          <p:cNvPr id="29" name="Text 27"/>
          <p:cNvSpPr/>
          <p:nvPr/>
        </p:nvSpPr>
        <p:spPr>
          <a:xfrm>
            <a:off x="4745736" y="3364992"/>
            <a:ext cx="4050792" cy="1335024"/>
          </a:xfrm>
          <a:prstGeom prst="rect">
            <a:avLst/>
          </a:prstGeom>
          <a:noFill/>
          <a:ln/>
        </p:spPr>
        <p:txBody>
          <a:bodyPr wrap="square" rtlCol="0" anchor="ctr"/>
          <a:lstStyle/>
          <a:p>
            <a:pPr marL="0" indent="0">
              <a:lnSpc>
                <a:spcPct val="130000"/>
              </a:lnSpc>
              <a:buNone/>
            </a:pPr>
            <a:r>
              <a:rPr lang="en-US" sz="1000" dirty="0">
                <a:solidFill>
                  <a:srgbClr val="7A90B0"/>
                </a:solidFill>
              </a:rPr>
              <a:t>The 'sessions by Day Name' chart peaks on Tuesday (16,727) and dips on Sunday (15,263). The gap is modest (~9%) suggesting EV charging is habitual daily behavior, not strongly weekend-suppressed.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9B7FFF"/>
          </a:solidFill>
          <a:ln w="12700">
            <a:solidFill>
              <a:srgbClr val="9B7FFF"/>
            </a:solidFill>
            <a:prstDash val="solid"/>
          </a:ln>
        </p:spPr>
      </p:sp>
      <p:sp>
        <p:nvSpPr>
          <p:cNvPr id="3" name="Text 1"/>
          <p:cNvSpPr/>
          <p:nvPr/>
        </p:nvSpPr>
        <p:spPr>
          <a:xfrm>
            <a:off x="256032" y="146304"/>
            <a:ext cx="8686800" cy="237744"/>
          </a:xfrm>
          <a:prstGeom prst="rect">
            <a:avLst/>
          </a:prstGeom>
          <a:noFill/>
          <a:ln/>
        </p:spPr>
        <p:txBody>
          <a:bodyPr wrap="square" rtlCol="0" anchor="ctr"/>
          <a:lstStyle/>
          <a:p>
            <a:pPr marL="0" indent="0">
              <a:buNone/>
            </a:pPr>
            <a:r>
              <a:rPr lang="en-US" sz="800" b="1" kern="0" spc="250" dirty="0">
                <a:solidFill>
                  <a:srgbClr val="9B7FFF"/>
                </a:solidFill>
              </a:rPr>
              <a:t>POWER BI  ·  PAGE 3 — CUSTOMER BEHAVIOUR ANALYSIS</a:t>
            </a:r>
            <a:endParaRPr lang="en-US" sz="800" dirty="0"/>
          </a:p>
        </p:txBody>
      </p:sp>
      <p:sp>
        <p:nvSpPr>
          <p:cNvPr id="4" name="Text 2"/>
          <p:cNvSpPr/>
          <p:nvPr/>
        </p:nvSpPr>
        <p:spPr>
          <a:xfrm>
            <a:off x="256032" y="384048"/>
            <a:ext cx="8595360" cy="530352"/>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Who Is Charging &amp; How Much</a:t>
            </a:r>
            <a:endParaRPr lang="en-US" sz="2800" dirty="0"/>
          </a:p>
        </p:txBody>
      </p:sp>
      <p:sp>
        <p:nvSpPr>
          <p:cNvPr id="5" name="Text 3"/>
          <p:cNvSpPr/>
          <p:nvPr/>
        </p:nvSpPr>
        <p:spPr>
          <a:xfrm>
            <a:off x="256032" y="914400"/>
            <a:ext cx="8595360" cy="256032"/>
          </a:xfrm>
          <a:prstGeom prst="rect">
            <a:avLst/>
          </a:prstGeom>
          <a:noFill/>
          <a:ln/>
        </p:spPr>
        <p:txBody>
          <a:bodyPr wrap="square" rtlCol="0" anchor="ctr"/>
          <a:lstStyle/>
          <a:p>
            <a:pPr marL="0" indent="0">
              <a:buNone/>
            </a:pPr>
            <a:r>
              <a:rPr lang="en-US" sz="1100" i="1" dirty="0">
                <a:solidFill>
                  <a:srgbClr val="7A90B0"/>
                </a:solidFill>
              </a:rPr>
              <a:t>Dashboard KPIs: 8,000 customers · 60.20 kWh avg battery · 557.53 kWh avg per customer</a:t>
            </a:r>
            <a:endParaRPr lang="en-US" sz="1100" dirty="0"/>
          </a:p>
        </p:txBody>
      </p:sp>
      <p:sp>
        <p:nvSpPr>
          <p:cNvPr id="6" name="Shape 4"/>
          <p:cNvSpPr/>
          <p:nvPr/>
        </p:nvSpPr>
        <p:spPr>
          <a:xfrm>
            <a:off x="256032" y="1207008"/>
            <a:ext cx="8631936" cy="18288"/>
          </a:xfrm>
          <a:prstGeom prst="rect">
            <a:avLst/>
          </a:prstGeom>
          <a:solidFill>
            <a:srgbClr val="1A2E4A"/>
          </a:solidFill>
          <a:ln w="12700">
            <a:solidFill>
              <a:srgbClr val="1A2E4A"/>
            </a:solidFill>
            <a:prstDash val="solid"/>
          </a:ln>
        </p:spPr>
      </p:sp>
      <p:sp>
        <p:nvSpPr>
          <p:cNvPr id="7" name="Shape 5"/>
          <p:cNvSpPr/>
          <p:nvPr/>
        </p:nvSpPr>
        <p:spPr>
          <a:xfrm>
            <a:off x="256032" y="1298448"/>
            <a:ext cx="8631936" cy="566928"/>
          </a:xfrm>
          <a:prstGeom prst="rect">
            <a:avLst/>
          </a:prstGeom>
          <a:solidFill>
            <a:srgbClr val="0D1829"/>
          </a:solidFill>
          <a:ln w="12700">
            <a:solidFill>
              <a:srgbClr val="9B7FFF"/>
            </a:solidFill>
            <a:prstDash val="solid"/>
          </a:ln>
          <a:effectLst>
            <a:outerShdw blurRad="127000" dist="38100" dir="8100000" algn="bl" rotWithShape="0">
              <a:srgbClr val="000000">
                <a:alpha val="30000"/>
              </a:srgbClr>
            </a:outerShdw>
          </a:effectLst>
        </p:spPr>
      </p:sp>
      <p:sp>
        <p:nvSpPr>
          <p:cNvPr id="8" name="Text 6"/>
          <p:cNvSpPr/>
          <p:nvPr/>
        </p:nvSpPr>
        <p:spPr>
          <a:xfrm>
            <a:off x="411480" y="1353312"/>
            <a:ext cx="1828800" cy="237744"/>
          </a:xfrm>
          <a:prstGeom prst="rect">
            <a:avLst/>
          </a:prstGeom>
          <a:noFill/>
          <a:ln/>
        </p:spPr>
        <p:txBody>
          <a:bodyPr wrap="square" rtlCol="0" anchor="ctr"/>
          <a:lstStyle/>
          <a:p>
            <a:pPr marL="0" indent="0">
              <a:buNone/>
            </a:pPr>
            <a:r>
              <a:rPr lang="en-US" sz="1000" b="1" dirty="0">
                <a:solidFill>
                  <a:srgbClr val="9B7FFF"/>
                </a:solidFill>
              </a:rPr>
              <a:t>🔍  Dashboard Finding:</a:t>
            </a:r>
            <a:endParaRPr lang="en-US" sz="1000" dirty="0"/>
          </a:p>
        </p:txBody>
      </p:sp>
      <p:sp>
        <p:nvSpPr>
          <p:cNvPr id="9" name="Text 7"/>
          <p:cNvSpPr/>
          <p:nvPr/>
        </p:nvSpPr>
        <p:spPr>
          <a:xfrm>
            <a:off x="2176272" y="1353312"/>
            <a:ext cx="6601968" cy="457200"/>
          </a:xfrm>
          <a:prstGeom prst="rect">
            <a:avLst/>
          </a:prstGeom>
          <a:noFill/>
          <a:ln/>
        </p:spPr>
        <p:txBody>
          <a:bodyPr wrap="square" rtlCol="0" anchor="ctr"/>
          <a:lstStyle/>
          <a:p>
            <a:pPr marL="0" indent="0">
              <a:buNone/>
            </a:pPr>
            <a:r>
              <a:rPr lang="en-US" sz="1050" dirty="0">
                <a:solidFill>
                  <a:srgbClr val="FFFFFF"/>
                </a:solidFill>
              </a:rPr>
              <a:t>The Customer Behaviour page shows 8,000 customers with avg battery of 60.2 kWh. The energy bar chart reveals Mid-Range customers consume the most total energy (1.85M kWh), though High tier consumes most per session.</a:t>
            </a:r>
            <a:endParaRPr lang="en-US" sz="1050" dirty="0"/>
          </a:p>
        </p:txBody>
      </p:sp>
      <p:sp>
        <p:nvSpPr>
          <p:cNvPr id="10" name="Shape 8"/>
          <p:cNvSpPr/>
          <p:nvPr/>
        </p:nvSpPr>
        <p:spPr>
          <a:xfrm>
            <a:off x="256032" y="1993392"/>
            <a:ext cx="2798064" cy="1371600"/>
          </a:xfrm>
          <a:prstGeom prst="rect">
            <a:avLst/>
          </a:prstGeom>
          <a:solidFill>
            <a:srgbClr val="111C2E"/>
          </a:solidFill>
          <a:ln w="15240">
            <a:solidFill>
              <a:srgbClr val="00D4FF"/>
            </a:solidFill>
            <a:prstDash val="solid"/>
          </a:ln>
          <a:effectLst>
            <a:outerShdw blurRad="127000" dist="38100" dir="8100000" algn="bl" rotWithShape="0">
              <a:srgbClr val="000000">
                <a:alpha val="30000"/>
              </a:srgbClr>
            </a:outerShdw>
          </a:effectLst>
        </p:spPr>
      </p:sp>
      <p:sp>
        <p:nvSpPr>
          <p:cNvPr id="11" name="Shape 9"/>
          <p:cNvSpPr/>
          <p:nvPr/>
        </p:nvSpPr>
        <p:spPr>
          <a:xfrm>
            <a:off x="256032" y="1993392"/>
            <a:ext cx="2798064" cy="36576"/>
          </a:xfrm>
          <a:prstGeom prst="rect">
            <a:avLst/>
          </a:prstGeom>
          <a:solidFill>
            <a:srgbClr val="00D4FF"/>
          </a:solidFill>
          <a:ln w="12700">
            <a:solidFill>
              <a:srgbClr val="00D4FF"/>
            </a:solidFill>
            <a:prstDash val="solid"/>
          </a:ln>
        </p:spPr>
      </p:sp>
      <p:sp>
        <p:nvSpPr>
          <p:cNvPr id="12" name="Text 10"/>
          <p:cNvSpPr/>
          <p:nvPr/>
        </p:nvSpPr>
        <p:spPr>
          <a:xfrm>
            <a:off x="347472" y="2084832"/>
            <a:ext cx="2615184" cy="256032"/>
          </a:xfrm>
          <a:prstGeom prst="rect">
            <a:avLst/>
          </a:prstGeom>
          <a:noFill/>
          <a:ln/>
        </p:spPr>
        <p:txBody>
          <a:bodyPr wrap="square" rtlCol="0" anchor="ctr"/>
          <a:lstStyle/>
          <a:p>
            <a:pPr marL="0" indent="0">
              <a:buNone/>
            </a:pPr>
            <a:r>
              <a:rPr lang="en-US" sz="1100" b="1" dirty="0">
                <a:solidFill>
                  <a:srgbClr val="00D4FF"/>
                </a:solidFill>
              </a:rPr>
              <a:t>Mid-Range Income Tier</a:t>
            </a:r>
            <a:endParaRPr lang="en-US" sz="1100" dirty="0"/>
          </a:p>
        </p:txBody>
      </p:sp>
      <p:sp>
        <p:nvSpPr>
          <p:cNvPr id="13" name="Text 11"/>
          <p:cNvSpPr/>
          <p:nvPr/>
        </p:nvSpPr>
        <p:spPr>
          <a:xfrm>
            <a:off x="347472" y="2377440"/>
            <a:ext cx="2615184" cy="237744"/>
          </a:xfrm>
          <a:prstGeom prst="rect">
            <a:avLst/>
          </a:prstGeom>
          <a:noFill/>
          <a:ln/>
        </p:spPr>
        <p:txBody>
          <a:bodyPr wrap="square" rtlCol="0" anchor="ctr"/>
          <a:lstStyle/>
          <a:p>
            <a:pPr marL="0" indent="0">
              <a:buNone/>
            </a:pPr>
            <a:r>
              <a:rPr lang="en-US" sz="1000" dirty="0">
                <a:solidFill>
                  <a:srgbClr val="FFFFFF"/>
                </a:solidFill>
              </a:rPr>
              <a:t>52,323 sessions  |  1.85M kWh  |  zł5.25M</a:t>
            </a:r>
            <a:endParaRPr lang="en-US" sz="1000" dirty="0"/>
          </a:p>
        </p:txBody>
      </p:sp>
      <p:sp>
        <p:nvSpPr>
          <p:cNvPr id="14" name="Text 12"/>
          <p:cNvSpPr/>
          <p:nvPr/>
        </p:nvSpPr>
        <p:spPr>
          <a:xfrm>
            <a:off x="347472" y="2670048"/>
            <a:ext cx="2615184" cy="566928"/>
          </a:xfrm>
          <a:prstGeom prst="rect">
            <a:avLst/>
          </a:prstGeom>
          <a:noFill/>
          <a:ln/>
        </p:spPr>
        <p:txBody>
          <a:bodyPr wrap="square" rtlCol="0" anchor="ctr"/>
          <a:lstStyle/>
          <a:p>
            <a:pPr marL="0" indent="0">
              <a:lnSpc>
                <a:spcPct val="130000"/>
              </a:lnSpc>
              <a:buNone/>
            </a:pPr>
            <a:r>
              <a:rPr lang="en-US" sz="950" dirty="0">
                <a:solidFill>
                  <a:srgbClr val="7A90B0"/>
                </a:solidFill>
              </a:rPr>
              <a:t>4K customers (50%). Core revenue engine. Highest volume.</a:t>
            </a:r>
            <a:endParaRPr lang="en-US" sz="950" dirty="0"/>
          </a:p>
        </p:txBody>
      </p:sp>
      <p:sp>
        <p:nvSpPr>
          <p:cNvPr id="15" name="Shape 13"/>
          <p:cNvSpPr/>
          <p:nvPr/>
        </p:nvSpPr>
        <p:spPr>
          <a:xfrm>
            <a:off x="3218688" y="1993392"/>
            <a:ext cx="2798064" cy="1371600"/>
          </a:xfrm>
          <a:prstGeom prst="rect">
            <a:avLst/>
          </a:prstGeom>
          <a:solidFill>
            <a:srgbClr val="111C2E"/>
          </a:solidFill>
          <a:ln w="15240">
            <a:solidFill>
              <a:srgbClr val="FF9B3B"/>
            </a:solidFill>
            <a:prstDash val="solid"/>
          </a:ln>
          <a:effectLst>
            <a:outerShdw blurRad="127000" dist="38100" dir="8100000" algn="bl" rotWithShape="0">
              <a:srgbClr val="000000">
                <a:alpha val="30000"/>
              </a:srgbClr>
            </a:outerShdw>
          </a:effectLst>
        </p:spPr>
      </p:sp>
      <p:sp>
        <p:nvSpPr>
          <p:cNvPr id="16" name="Shape 14"/>
          <p:cNvSpPr/>
          <p:nvPr/>
        </p:nvSpPr>
        <p:spPr>
          <a:xfrm>
            <a:off x="3218688" y="1993392"/>
            <a:ext cx="2798064" cy="36576"/>
          </a:xfrm>
          <a:prstGeom prst="rect">
            <a:avLst/>
          </a:prstGeom>
          <a:solidFill>
            <a:srgbClr val="FF9B3B"/>
          </a:solidFill>
          <a:ln w="12700">
            <a:solidFill>
              <a:srgbClr val="FF9B3B"/>
            </a:solidFill>
            <a:prstDash val="solid"/>
          </a:ln>
        </p:spPr>
      </p:sp>
      <p:sp>
        <p:nvSpPr>
          <p:cNvPr id="17" name="Text 15"/>
          <p:cNvSpPr/>
          <p:nvPr/>
        </p:nvSpPr>
        <p:spPr>
          <a:xfrm>
            <a:off x="3310128" y="2084832"/>
            <a:ext cx="2615184" cy="256032"/>
          </a:xfrm>
          <a:prstGeom prst="rect">
            <a:avLst/>
          </a:prstGeom>
          <a:noFill/>
          <a:ln/>
        </p:spPr>
        <p:txBody>
          <a:bodyPr wrap="square" rtlCol="0" anchor="ctr"/>
          <a:lstStyle/>
          <a:p>
            <a:pPr marL="0" indent="0">
              <a:buNone/>
            </a:pPr>
            <a:r>
              <a:rPr lang="en-US" sz="1100" b="1" dirty="0">
                <a:solidFill>
                  <a:srgbClr val="FF9B3B"/>
                </a:solidFill>
              </a:rPr>
              <a:t>Low-Mid Income Tier</a:t>
            </a:r>
            <a:endParaRPr lang="en-US" sz="1100" dirty="0"/>
          </a:p>
        </p:txBody>
      </p:sp>
      <p:sp>
        <p:nvSpPr>
          <p:cNvPr id="18" name="Text 16"/>
          <p:cNvSpPr/>
          <p:nvPr/>
        </p:nvSpPr>
        <p:spPr>
          <a:xfrm>
            <a:off x="3310128" y="2377440"/>
            <a:ext cx="2615184" cy="237744"/>
          </a:xfrm>
          <a:prstGeom prst="rect">
            <a:avLst/>
          </a:prstGeom>
          <a:noFill/>
          <a:ln/>
        </p:spPr>
        <p:txBody>
          <a:bodyPr wrap="square" rtlCol="0" anchor="ctr"/>
          <a:lstStyle/>
          <a:p>
            <a:pPr marL="0" indent="0">
              <a:buNone/>
            </a:pPr>
            <a:r>
              <a:rPr lang="en-US" sz="1000" dirty="0">
                <a:solidFill>
                  <a:srgbClr val="FFFFFF"/>
                </a:solidFill>
              </a:rPr>
              <a:t>38,867 sessions  |  1.67M kWh  |  zł3.89M</a:t>
            </a:r>
            <a:endParaRPr lang="en-US" sz="1000" dirty="0"/>
          </a:p>
        </p:txBody>
      </p:sp>
      <p:sp>
        <p:nvSpPr>
          <p:cNvPr id="19" name="Text 17"/>
          <p:cNvSpPr/>
          <p:nvPr/>
        </p:nvSpPr>
        <p:spPr>
          <a:xfrm>
            <a:off x="3310128" y="2670048"/>
            <a:ext cx="2615184" cy="566928"/>
          </a:xfrm>
          <a:prstGeom prst="rect">
            <a:avLst/>
          </a:prstGeom>
          <a:noFill/>
          <a:ln/>
        </p:spPr>
        <p:txBody>
          <a:bodyPr wrap="square" rtlCol="0" anchor="ctr"/>
          <a:lstStyle/>
          <a:p>
            <a:pPr marL="0" indent="0">
              <a:lnSpc>
                <a:spcPct val="130000"/>
              </a:lnSpc>
              <a:buNone/>
            </a:pPr>
            <a:r>
              <a:rPr lang="en-US" sz="950" dirty="0">
                <a:solidFill>
                  <a:srgbClr val="7A90B0"/>
                </a:solidFill>
              </a:rPr>
              <a:t>3K customers (35.25%). High volume, low spend per session.</a:t>
            </a:r>
            <a:endParaRPr lang="en-US" sz="950" dirty="0"/>
          </a:p>
        </p:txBody>
      </p:sp>
      <p:sp>
        <p:nvSpPr>
          <p:cNvPr id="20" name="Shape 18"/>
          <p:cNvSpPr/>
          <p:nvPr/>
        </p:nvSpPr>
        <p:spPr>
          <a:xfrm>
            <a:off x="6181344" y="1993392"/>
            <a:ext cx="2798064" cy="1371600"/>
          </a:xfrm>
          <a:prstGeom prst="rect">
            <a:avLst/>
          </a:prstGeom>
          <a:solidFill>
            <a:srgbClr val="111C2E"/>
          </a:solidFill>
          <a:ln w="15240">
            <a:solidFill>
              <a:srgbClr val="9B7FFF"/>
            </a:solidFill>
            <a:prstDash val="solid"/>
          </a:ln>
          <a:effectLst>
            <a:outerShdw blurRad="127000" dist="38100" dir="8100000" algn="bl" rotWithShape="0">
              <a:srgbClr val="000000">
                <a:alpha val="30000"/>
              </a:srgbClr>
            </a:outerShdw>
          </a:effectLst>
        </p:spPr>
      </p:sp>
      <p:sp>
        <p:nvSpPr>
          <p:cNvPr id="21" name="Shape 19"/>
          <p:cNvSpPr/>
          <p:nvPr/>
        </p:nvSpPr>
        <p:spPr>
          <a:xfrm>
            <a:off x="6181344" y="1993392"/>
            <a:ext cx="2798064" cy="36576"/>
          </a:xfrm>
          <a:prstGeom prst="rect">
            <a:avLst/>
          </a:prstGeom>
          <a:solidFill>
            <a:srgbClr val="9B7FFF"/>
          </a:solidFill>
          <a:ln w="12700">
            <a:solidFill>
              <a:srgbClr val="9B7FFF"/>
            </a:solidFill>
            <a:prstDash val="solid"/>
          </a:ln>
        </p:spPr>
      </p:sp>
      <p:sp>
        <p:nvSpPr>
          <p:cNvPr id="22" name="Text 20"/>
          <p:cNvSpPr/>
          <p:nvPr/>
        </p:nvSpPr>
        <p:spPr>
          <a:xfrm>
            <a:off x="6272784" y="2084832"/>
            <a:ext cx="2615184" cy="256032"/>
          </a:xfrm>
          <a:prstGeom prst="rect">
            <a:avLst/>
          </a:prstGeom>
          <a:noFill/>
          <a:ln/>
        </p:spPr>
        <p:txBody>
          <a:bodyPr wrap="square" rtlCol="0" anchor="ctr"/>
          <a:lstStyle/>
          <a:p>
            <a:pPr marL="0" indent="0">
              <a:buNone/>
            </a:pPr>
            <a:r>
              <a:rPr lang="en-US" sz="1100" b="1" dirty="0">
                <a:solidFill>
                  <a:srgbClr val="9B7FFF"/>
                </a:solidFill>
              </a:rPr>
              <a:t>High Income Tier</a:t>
            </a:r>
            <a:endParaRPr lang="en-US" sz="1100" dirty="0"/>
          </a:p>
        </p:txBody>
      </p:sp>
      <p:sp>
        <p:nvSpPr>
          <p:cNvPr id="23" name="Text 21"/>
          <p:cNvSpPr/>
          <p:nvPr/>
        </p:nvSpPr>
        <p:spPr>
          <a:xfrm>
            <a:off x="6272784" y="2377440"/>
            <a:ext cx="2615184" cy="237744"/>
          </a:xfrm>
          <a:prstGeom prst="rect">
            <a:avLst/>
          </a:prstGeom>
          <a:noFill/>
          <a:ln/>
        </p:spPr>
        <p:txBody>
          <a:bodyPr wrap="square" rtlCol="0" anchor="ctr"/>
          <a:lstStyle/>
          <a:p>
            <a:pPr marL="0" indent="0">
              <a:buNone/>
            </a:pPr>
            <a:r>
              <a:rPr lang="en-US" sz="1000" dirty="0">
                <a:solidFill>
                  <a:srgbClr val="FFFFFF"/>
                </a:solidFill>
              </a:rPr>
              <a:t>22,810 sessions  |  0.94M kWh  |  zł2.28M</a:t>
            </a:r>
            <a:endParaRPr lang="en-US" sz="1000" dirty="0"/>
          </a:p>
        </p:txBody>
      </p:sp>
      <p:sp>
        <p:nvSpPr>
          <p:cNvPr id="24" name="Text 22"/>
          <p:cNvSpPr/>
          <p:nvPr/>
        </p:nvSpPr>
        <p:spPr>
          <a:xfrm>
            <a:off x="6272784" y="2670048"/>
            <a:ext cx="2615184" cy="566928"/>
          </a:xfrm>
          <a:prstGeom prst="rect">
            <a:avLst/>
          </a:prstGeom>
          <a:noFill/>
          <a:ln/>
        </p:spPr>
        <p:txBody>
          <a:bodyPr wrap="square" rtlCol="0" anchor="ctr"/>
          <a:lstStyle/>
          <a:p>
            <a:pPr marL="0" indent="0">
              <a:lnSpc>
                <a:spcPct val="130000"/>
              </a:lnSpc>
              <a:buNone/>
            </a:pPr>
            <a:r>
              <a:rPr lang="en-US" sz="950" dirty="0">
                <a:solidFill>
                  <a:srgbClr val="7A90B0"/>
                </a:solidFill>
              </a:rPr>
              <a:t>1K customers (14.88%). Fewest but highest spend per session.</a:t>
            </a:r>
            <a:endParaRPr lang="en-US" sz="950" dirty="0"/>
          </a:p>
        </p:txBody>
      </p:sp>
      <p:sp>
        <p:nvSpPr>
          <p:cNvPr id="25" name="Shape 23"/>
          <p:cNvSpPr/>
          <p:nvPr/>
        </p:nvSpPr>
        <p:spPr>
          <a:xfrm>
            <a:off x="256032" y="3511296"/>
            <a:ext cx="4160520" cy="1444752"/>
          </a:xfrm>
          <a:prstGeom prst="rect">
            <a:avLst/>
          </a:prstGeom>
          <a:solidFill>
            <a:srgbClr val="111C2E"/>
          </a:solidFill>
          <a:ln w="15240">
            <a:solidFill>
              <a:srgbClr val="FF9B3B"/>
            </a:solidFill>
            <a:prstDash val="solid"/>
          </a:ln>
          <a:effectLst>
            <a:outerShdw blurRad="127000" dist="38100" dir="8100000" algn="bl" rotWithShape="0">
              <a:srgbClr val="000000">
                <a:alpha val="30000"/>
              </a:srgbClr>
            </a:outerShdw>
          </a:effectLst>
        </p:spPr>
      </p:sp>
      <p:sp>
        <p:nvSpPr>
          <p:cNvPr id="26" name="Shape 24"/>
          <p:cNvSpPr/>
          <p:nvPr/>
        </p:nvSpPr>
        <p:spPr>
          <a:xfrm>
            <a:off x="256032" y="3511296"/>
            <a:ext cx="45720" cy="1444752"/>
          </a:xfrm>
          <a:prstGeom prst="rect">
            <a:avLst/>
          </a:prstGeom>
          <a:solidFill>
            <a:srgbClr val="FF9B3B"/>
          </a:solidFill>
          <a:ln w="12700">
            <a:solidFill>
              <a:srgbClr val="FF9B3B"/>
            </a:solidFill>
            <a:prstDash val="solid"/>
          </a:ln>
        </p:spPr>
      </p:sp>
      <p:sp>
        <p:nvSpPr>
          <p:cNvPr id="27" name="Text 25"/>
          <p:cNvSpPr/>
          <p:nvPr/>
        </p:nvSpPr>
        <p:spPr>
          <a:xfrm>
            <a:off x="384048" y="3602736"/>
            <a:ext cx="3959352" cy="292608"/>
          </a:xfrm>
          <a:prstGeom prst="rect">
            <a:avLst/>
          </a:prstGeom>
          <a:noFill/>
          <a:ln/>
        </p:spPr>
        <p:txBody>
          <a:bodyPr wrap="square" rtlCol="0" anchor="ctr"/>
          <a:lstStyle/>
          <a:p>
            <a:pPr marL="0" indent="0">
              <a:buNone/>
            </a:pPr>
            <a:r>
              <a:rPr lang="en-US" sz="1150" b="1" dirty="0">
                <a:solidFill>
                  <a:srgbClr val="FF9B3B"/>
                </a:solidFill>
              </a:rPr>
              <a:t>🚗  Premium Cars = Highest kWh per Session</a:t>
            </a:r>
            <a:endParaRPr lang="en-US" sz="1150" dirty="0"/>
          </a:p>
        </p:txBody>
      </p:sp>
      <p:sp>
        <p:nvSpPr>
          <p:cNvPr id="28" name="Text 26"/>
          <p:cNvSpPr/>
          <p:nvPr/>
        </p:nvSpPr>
        <p:spPr>
          <a:xfrm>
            <a:off x="384048" y="3931920"/>
            <a:ext cx="3959352" cy="896112"/>
          </a:xfrm>
          <a:prstGeom prst="rect">
            <a:avLst/>
          </a:prstGeom>
          <a:noFill/>
          <a:ln/>
        </p:spPr>
        <p:txBody>
          <a:bodyPr wrap="square" rtlCol="0" anchor="ctr"/>
          <a:lstStyle/>
          <a:p>
            <a:pPr marL="0" indent="0">
              <a:lnSpc>
                <a:spcPct val="130000"/>
              </a:lnSpc>
              <a:buNone/>
            </a:pPr>
            <a:r>
              <a:rPr lang="en-US" sz="1000" dirty="0">
                <a:solidFill>
                  <a:srgbClr val="7A90B0"/>
                </a:solidFill>
              </a:rPr>
              <a:t>Dashboard bar chart: Audi e-tron leads at 62 kWh, Porsche Taycan at 60 kWh, Ford Mach-E at 59 kWh. BMW i4 at 55 kWh, VW ID.4 at 50 kWh. Install DC fast chargers in High-income zones to serve these vehicles.</a:t>
            </a:r>
            <a:endParaRPr lang="en-US" sz="1000" dirty="0"/>
          </a:p>
        </p:txBody>
      </p:sp>
      <p:sp>
        <p:nvSpPr>
          <p:cNvPr id="29" name="Shape 27"/>
          <p:cNvSpPr/>
          <p:nvPr/>
        </p:nvSpPr>
        <p:spPr>
          <a:xfrm>
            <a:off x="4617720" y="3511296"/>
            <a:ext cx="4251960" cy="1444752"/>
          </a:xfrm>
          <a:prstGeom prst="rect">
            <a:avLst/>
          </a:prstGeom>
          <a:solidFill>
            <a:srgbClr val="111C2E"/>
          </a:solidFill>
          <a:ln w="15240">
            <a:solidFill>
              <a:srgbClr val="9B7FFF"/>
            </a:solidFill>
            <a:prstDash val="solid"/>
          </a:ln>
          <a:effectLst>
            <a:outerShdw blurRad="127000" dist="38100" dir="8100000" algn="bl" rotWithShape="0">
              <a:srgbClr val="000000">
                <a:alpha val="30000"/>
              </a:srgbClr>
            </a:outerShdw>
          </a:effectLst>
        </p:spPr>
      </p:sp>
      <p:sp>
        <p:nvSpPr>
          <p:cNvPr id="30" name="Shape 28"/>
          <p:cNvSpPr/>
          <p:nvPr/>
        </p:nvSpPr>
        <p:spPr>
          <a:xfrm>
            <a:off x="4617720" y="3511296"/>
            <a:ext cx="45720" cy="1444752"/>
          </a:xfrm>
          <a:prstGeom prst="rect">
            <a:avLst/>
          </a:prstGeom>
          <a:solidFill>
            <a:srgbClr val="9B7FFF"/>
          </a:solidFill>
          <a:ln w="12700">
            <a:solidFill>
              <a:srgbClr val="9B7FFF"/>
            </a:solidFill>
            <a:prstDash val="solid"/>
          </a:ln>
        </p:spPr>
      </p:sp>
      <p:sp>
        <p:nvSpPr>
          <p:cNvPr id="31" name="Text 29"/>
          <p:cNvSpPr/>
          <p:nvPr/>
        </p:nvSpPr>
        <p:spPr>
          <a:xfrm>
            <a:off x="4745736" y="3602736"/>
            <a:ext cx="4050792" cy="292608"/>
          </a:xfrm>
          <a:prstGeom prst="rect">
            <a:avLst/>
          </a:prstGeom>
          <a:noFill/>
          <a:ln/>
        </p:spPr>
        <p:txBody>
          <a:bodyPr wrap="square" rtlCol="0" anchor="ctr"/>
          <a:lstStyle/>
          <a:p>
            <a:pPr marL="0" indent="0">
              <a:buNone/>
            </a:pPr>
            <a:r>
              <a:rPr lang="en-US" sz="1150" b="1" dirty="0">
                <a:solidFill>
                  <a:srgbClr val="9B7FFF"/>
                </a:solidFill>
              </a:rPr>
              <a:t>👥  Top Customer Consumption (C5490 Leads)</a:t>
            </a:r>
            <a:endParaRPr lang="en-US" sz="1150" dirty="0"/>
          </a:p>
        </p:txBody>
      </p:sp>
      <p:sp>
        <p:nvSpPr>
          <p:cNvPr id="32" name="Text 30"/>
          <p:cNvSpPr/>
          <p:nvPr/>
        </p:nvSpPr>
        <p:spPr>
          <a:xfrm>
            <a:off x="4745736" y="3931920"/>
            <a:ext cx="4050792" cy="896112"/>
          </a:xfrm>
          <a:prstGeom prst="rect">
            <a:avLst/>
          </a:prstGeom>
          <a:noFill/>
          <a:ln/>
        </p:spPr>
        <p:txBody>
          <a:bodyPr wrap="square" rtlCol="0" anchor="ctr"/>
          <a:lstStyle/>
          <a:p>
            <a:pPr marL="0" indent="0">
              <a:lnSpc>
                <a:spcPct val="130000"/>
              </a:lnSpc>
              <a:buNone/>
            </a:pPr>
            <a:r>
              <a:rPr lang="en-US" sz="1000" dirty="0">
                <a:solidFill>
                  <a:srgbClr val="7A90B0"/>
                </a:solidFill>
              </a:rPr>
              <a:t>The 'Energy by customer_id' chart shows top customer C5490 consuming ~1,898 kWh — over 3× the average. Top 5 customers are high-value targets for loyalty programs and subscription pricing.</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F9B3B"/>
          </a:solidFill>
          <a:ln w="12700">
            <a:solidFill>
              <a:srgbClr val="FF9B3B"/>
            </a:solidFill>
            <a:prstDash val="solid"/>
          </a:ln>
        </p:spPr>
      </p:sp>
      <p:sp>
        <p:nvSpPr>
          <p:cNvPr id="3" name="Text 1"/>
          <p:cNvSpPr/>
          <p:nvPr/>
        </p:nvSpPr>
        <p:spPr>
          <a:xfrm>
            <a:off x="256032" y="146304"/>
            <a:ext cx="8686800" cy="237744"/>
          </a:xfrm>
          <a:prstGeom prst="rect">
            <a:avLst/>
          </a:prstGeom>
          <a:noFill/>
          <a:ln/>
        </p:spPr>
        <p:txBody>
          <a:bodyPr wrap="square" rtlCol="0" anchor="ctr"/>
          <a:lstStyle/>
          <a:p>
            <a:pPr marL="0" indent="0">
              <a:buNone/>
            </a:pPr>
            <a:r>
              <a:rPr lang="en-US" sz="800" b="1" kern="0" spc="250" dirty="0">
                <a:solidFill>
                  <a:srgbClr val="FF9B3B"/>
                </a:solidFill>
              </a:rPr>
              <a:t>POWER BI  ·  PAGE 4 — REVENUE &amp; PLANNING INSIGHTS</a:t>
            </a:r>
            <a:endParaRPr lang="en-US" sz="800" dirty="0"/>
          </a:p>
        </p:txBody>
      </p:sp>
      <p:sp>
        <p:nvSpPr>
          <p:cNvPr id="4" name="Text 2"/>
          <p:cNvSpPr/>
          <p:nvPr/>
        </p:nvSpPr>
        <p:spPr>
          <a:xfrm>
            <a:off x="256032" y="384048"/>
            <a:ext cx="8595360" cy="530352"/>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Financial Performance &amp; Infrastructure Gap</a:t>
            </a:r>
            <a:endParaRPr lang="en-US" sz="2800" dirty="0"/>
          </a:p>
        </p:txBody>
      </p:sp>
      <p:sp>
        <p:nvSpPr>
          <p:cNvPr id="5" name="Text 3"/>
          <p:cNvSpPr/>
          <p:nvPr/>
        </p:nvSpPr>
        <p:spPr>
          <a:xfrm>
            <a:off x="256032" y="914400"/>
            <a:ext cx="8595360" cy="256032"/>
          </a:xfrm>
          <a:prstGeom prst="rect">
            <a:avLst/>
          </a:prstGeom>
          <a:noFill/>
          <a:ln/>
        </p:spPr>
        <p:txBody>
          <a:bodyPr wrap="square" rtlCol="0" anchor="ctr"/>
          <a:lstStyle/>
          <a:p>
            <a:pPr marL="0" indent="0">
              <a:buNone/>
            </a:pPr>
            <a:r>
              <a:rPr lang="en-US" sz="1100" i="1" dirty="0">
                <a:solidFill>
                  <a:srgbClr val="7A90B0"/>
                </a:solidFill>
              </a:rPr>
              <a:t>Dashboard KPIs: zł11.42M revenue · zł175.75K per station · zł100.21 avg session cost · 34K gap</a:t>
            </a:r>
            <a:endParaRPr lang="en-US" sz="1100" dirty="0"/>
          </a:p>
        </p:txBody>
      </p:sp>
      <p:sp>
        <p:nvSpPr>
          <p:cNvPr id="6" name="Shape 4"/>
          <p:cNvSpPr/>
          <p:nvPr/>
        </p:nvSpPr>
        <p:spPr>
          <a:xfrm>
            <a:off x="256032" y="1207008"/>
            <a:ext cx="8631936" cy="18288"/>
          </a:xfrm>
          <a:prstGeom prst="rect">
            <a:avLst/>
          </a:prstGeom>
          <a:solidFill>
            <a:srgbClr val="1A2E4A"/>
          </a:solidFill>
          <a:ln w="12700">
            <a:solidFill>
              <a:srgbClr val="1A2E4A"/>
            </a:solidFill>
            <a:prstDash val="solid"/>
          </a:ln>
        </p:spPr>
      </p:sp>
      <p:sp>
        <p:nvSpPr>
          <p:cNvPr id="7" name="Shape 5"/>
          <p:cNvSpPr/>
          <p:nvPr/>
        </p:nvSpPr>
        <p:spPr>
          <a:xfrm>
            <a:off x="256032" y="1298448"/>
            <a:ext cx="8631936" cy="566928"/>
          </a:xfrm>
          <a:prstGeom prst="rect">
            <a:avLst/>
          </a:prstGeom>
          <a:solidFill>
            <a:srgbClr val="0D1829"/>
          </a:solidFill>
          <a:ln w="12700">
            <a:solidFill>
              <a:srgbClr val="FF9B3B"/>
            </a:solidFill>
            <a:prstDash val="solid"/>
          </a:ln>
          <a:effectLst>
            <a:outerShdw blurRad="127000" dist="38100" dir="8100000" algn="bl" rotWithShape="0">
              <a:srgbClr val="000000">
                <a:alpha val="30000"/>
              </a:srgbClr>
            </a:outerShdw>
          </a:effectLst>
        </p:spPr>
      </p:sp>
      <p:sp>
        <p:nvSpPr>
          <p:cNvPr id="8" name="Text 6"/>
          <p:cNvSpPr/>
          <p:nvPr/>
        </p:nvSpPr>
        <p:spPr>
          <a:xfrm>
            <a:off x="411480" y="1353312"/>
            <a:ext cx="1828800" cy="237744"/>
          </a:xfrm>
          <a:prstGeom prst="rect">
            <a:avLst/>
          </a:prstGeom>
          <a:noFill/>
          <a:ln/>
        </p:spPr>
        <p:txBody>
          <a:bodyPr wrap="square" rtlCol="0" anchor="ctr"/>
          <a:lstStyle/>
          <a:p>
            <a:pPr marL="0" indent="0">
              <a:buNone/>
            </a:pPr>
            <a:r>
              <a:rPr lang="en-US" sz="1000" b="1" dirty="0">
                <a:solidFill>
                  <a:srgbClr val="FF9B3B"/>
                </a:solidFill>
              </a:rPr>
              <a:t>🔍  Dashboard Finding:</a:t>
            </a:r>
            <a:endParaRPr lang="en-US" sz="1000" dirty="0"/>
          </a:p>
        </p:txBody>
      </p:sp>
      <p:sp>
        <p:nvSpPr>
          <p:cNvPr id="9" name="Text 7"/>
          <p:cNvSpPr/>
          <p:nvPr/>
        </p:nvSpPr>
        <p:spPr>
          <a:xfrm>
            <a:off x="2176272" y="1353312"/>
            <a:ext cx="6601968" cy="457200"/>
          </a:xfrm>
          <a:prstGeom prst="rect">
            <a:avLst/>
          </a:prstGeom>
          <a:noFill/>
          <a:ln/>
        </p:spPr>
        <p:txBody>
          <a:bodyPr wrap="square" rtlCol="0" anchor="ctr"/>
          <a:lstStyle/>
          <a:p>
            <a:pPr marL="0" indent="0">
              <a:buNone/>
            </a:pPr>
            <a:r>
              <a:rPr lang="en-US" sz="1050" dirty="0">
                <a:solidFill>
                  <a:srgbClr val="FFFFFF"/>
                </a:solidFill>
              </a:rPr>
              <a:t>The Revenue page shows zł11.42M total with Ursynów generating zł2.19M and Wesoła zł1.96M. The gap analysis chart reveals Mokotów has the largest infrastructure deficit at 3,994 plugs gap — the most under-served high-demand district.</a:t>
            </a:r>
            <a:endParaRPr lang="en-US" sz="1050" dirty="0"/>
          </a:p>
        </p:txBody>
      </p:sp>
      <p:sp>
        <p:nvSpPr>
          <p:cNvPr id="10" name="Shape 8"/>
          <p:cNvSpPr/>
          <p:nvPr/>
        </p:nvSpPr>
        <p:spPr>
          <a:xfrm>
            <a:off x="256032" y="2011680"/>
            <a:ext cx="1920240" cy="804672"/>
          </a:xfrm>
          <a:prstGeom prst="rect">
            <a:avLst/>
          </a:prstGeom>
          <a:solidFill>
            <a:srgbClr val="0D1829"/>
          </a:solidFill>
          <a:ln w="12700">
            <a:solidFill>
              <a:srgbClr val="FF9B3B"/>
            </a:solidFill>
            <a:prstDash val="solid"/>
          </a:ln>
          <a:effectLst>
            <a:outerShdw blurRad="127000" dist="38100" dir="8100000" algn="bl" rotWithShape="0">
              <a:srgbClr val="000000">
                <a:alpha val="30000"/>
              </a:srgbClr>
            </a:outerShdw>
          </a:effectLst>
        </p:spPr>
      </p:sp>
      <p:sp>
        <p:nvSpPr>
          <p:cNvPr id="11" name="Text 9"/>
          <p:cNvSpPr/>
          <p:nvPr/>
        </p:nvSpPr>
        <p:spPr>
          <a:xfrm>
            <a:off x="256032" y="2057400"/>
            <a:ext cx="1920240" cy="402336"/>
          </a:xfrm>
          <a:prstGeom prst="rect">
            <a:avLst/>
          </a:prstGeom>
          <a:noFill/>
          <a:ln/>
        </p:spPr>
        <p:txBody>
          <a:bodyPr wrap="square" rtlCol="0" anchor="ctr"/>
          <a:lstStyle/>
          <a:p>
            <a:pPr marL="0" indent="0" algn="ctr">
              <a:buNone/>
            </a:pPr>
            <a:r>
              <a:rPr lang="en-US" sz="2200" b="1" dirty="0">
                <a:solidFill>
                  <a:srgbClr val="FF9B3B"/>
                </a:solidFill>
              </a:rPr>
              <a:t>zł11.42M</a:t>
            </a:r>
            <a:endParaRPr lang="en-US" sz="2200" dirty="0"/>
          </a:p>
        </p:txBody>
      </p:sp>
      <p:sp>
        <p:nvSpPr>
          <p:cNvPr id="12" name="Text 10"/>
          <p:cNvSpPr/>
          <p:nvPr/>
        </p:nvSpPr>
        <p:spPr>
          <a:xfrm>
            <a:off x="256032" y="2468880"/>
            <a:ext cx="1920240" cy="274320"/>
          </a:xfrm>
          <a:prstGeom prst="rect">
            <a:avLst/>
          </a:prstGeom>
          <a:noFill/>
          <a:ln/>
        </p:spPr>
        <p:txBody>
          <a:bodyPr wrap="square" rtlCol="0" anchor="ctr"/>
          <a:lstStyle/>
          <a:p>
            <a:pPr marL="0" indent="0" algn="ctr">
              <a:buNone/>
            </a:pPr>
            <a:r>
              <a:rPr lang="en-US" sz="900" dirty="0">
                <a:solidFill>
                  <a:srgbClr val="7A90B0"/>
                </a:solidFill>
              </a:rPr>
              <a:t>Total Revenue</a:t>
            </a:r>
            <a:endParaRPr lang="en-US" sz="900" dirty="0"/>
          </a:p>
        </p:txBody>
      </p:sp>
      <p:sp>
        <p:nvSpPr>
          <p:cNvPr id="13" name="Shape 11"/>
          <p:cNvSpPr/>
          <p:nvPr/>
        </p:nvSpPr>
        <p:spPr>
          <a:xfrm>
            <a:off x="2331720" y="2011680"/>
            <a:ext cx="1920240" cy="804672"/>
          </a:xfrm>
          <a:prstGeom prst="rect">
            <a:avLst/>
          </a:prstGeom>
          <a:solidFill>
            <a:srgbClr val="0D1829"/>
          </a:solidFill>
          <a:ln w="12700">
            <a:solidFill>
              <a:srgbClr val="00E5A0"/>
            </a:solidFill>
            <a:prstDash val="solid"/>
          </a:ln>
          <a:effectLst>
            <a:outerShdw blurRad="127000" dist="38100" dir="8100000" algn="bl" rotWithShape="0">
              <a:srgbClr val="000000">
                <a:alpha val="30000"/>
              </a:srgbClr>
            </a:outerShdw>
          </a:effectLst>
        </p:spPr>
      </p:sp>
      <p:sp>
        <p:nvSpPr>
          <p:cNvPr id="14" name="Text 12"/>
          <p:cNvSpPr/>
          <p:nvPr/>
        </p:nvSpPr>
        <p:spPr>
          <a:xfrm>
            <a:off x="2331720" y="2057400"/>
            <a:ext cx="1920240" cy="402336"/>
          </a:xfrm>
          <a:prstGeom prst="rect">
            <a:avLst/>
          </a:prstGeom>
          <a:noFill/>
          <a:ln/>
        </p:spPr>
        <p:txBody>
          <a:bodyPr wrap="square" rtlCol="0" anchor="ctr"/>
          <a:lstStyle/>
          <a:p>
            <a:pPr marL="0" indent="0" algn="ctr">
              <a:buNone/>
            </a:pPr>
            <a:r>
              <a:rPr lang="en-US" sz="2200" b="1" dirty="0">
                <a:solidFill>
                  <a:srgbClr val="00E5A0"/>
                </a:solidFill>
              </a:rPr>
              <a:t>zł175.75K</a:t>
            </a:r>
            <a:endParaRPr lang="en-US" sz="2200" dirty="0"/>
          </a:p>
        </p:txBody>
      </p:sp>
      <p:sp>
        <p:nvSpPr>
          <p:cNvPr id="15" name="Text 13"/>
          <p:cNvSpPr/>
          <p:nvPr/>
        </p:nvSpPr>
        <p:spPr>
          <a:xfrm>
            <a:off x="2331720" y="2468880"/>
            <a:ext cx="1920240" cy="274320"/>
          </a:xfrm>
          <a:prstGeom prst="rect">
            <a:avLst/>
          </a:prstGeom>
          <a:noFill/>
          <a:ln/>
        </p:spPr>
        <p:txBody>
          <a:bodyPr wrap="square" rtlCol="0" anchor="ctr"/>
          <a:lstStyle/>
          <a:p>
            <a:pPr marL="0" indent="0" algn="ctr">
              <a:buNone/>
            </a:pPr>
            <a:r>
              <a:rPr lang="en-US" sz="900" dirty="0">
                <a:solidFill>
                  <a:srgbClr val="7A90B0"/>
                </a:solidFill>
              </a:rPr>
              <a:t>Revenue/Station</a:t>
            </a:r>
            <a:endParaRPr lang="en-US" sz="900" dirty="0"/>
          </a:p>
        </p:txBody>
      </p:sp>
      <p:sp>
        <p:nvSpPr>
          <p:cNvPr id="16" name="Shape 14"/>
          <p:cNvSpPr/>
          <p:nvPr/>
        </p:nvSpPr>
        <p:spPr>
          <a:xfrm>
            <a:off x="4407408" y="2011680"/>
            <a:ext cx="1920240" cy="804672"/>
          </a:xfrm>
          <a:prstGeom prst="rect">
            <a:avLst/>
          </a:prstGeom>
          <a:solidFill>
            <a:srgbClr val="0D1829"/>
          </a:solidFill>
          <a:ln w="12700">
            <a:solidFill>
              <a:srgbClr val="00D4FF"/>
            </a:solidFill>
            <a:prstDash val="solid"/>
          </a:ln>
          <a:effectLst>
            <a:outerShdw blurRad="127000" dist="38100" dir="8100000" algn="bl" rotWithShape="0">
              <a:srgbClr val="000000">
                <a:alpha val="30000"/>
              </a:srgbClr>
            </a:outerShdw>
          </a:effectLst>
        </p:spPr>
      </p:sp>
      <p:sp>
        <p:nvSpPr>
          <p:cNvPr id="17" name="Text 15"/>
          <p:cNvSpPr/>
          <p:nvPr/>
        </p:nvSpPr>
        <p:spPr>
          <a:xfrm>
            <a:off x="4407408" y="2057400"/>
            <a:ext cx="1920240" cy="402336"/>
          </a:xfrm>
          <a:prstGeom prst="rect">
            <a:avLst/>
          </a:prstGeom>
          <a:noFill/>
          <a:ln/>
        </p:spPr>
        <p:txBody>
          <a:bodyPr wrap="square" rtlCol="0" anchor="ctr"/>
          <a:lstStyle/>
          <a:p>
            <a:pPr marL="0" indent="0" algn="ctr">
              <a:buNone/>
            </a:pPr>
            <a:r>
              <a:rPr lang="en-US" sz="2200" b="1" dirty="0">
                <a:solidFill>
                  <a:srgbClr val="00D4FF"/>
                </a:solidFill>
              </a:rPr>
              <a:t>zł100.21</a:t>
            </a:r>
            <a:endParaRPr lang="en-US" sz="2200" dirty="0"/>
          </a:p>
        </p:txBody>
      </p:sp>
      <p:sp>
        <p:nvSpPr>
          <p:cNvPr id="18" name="Text 16"/>
          <p:cNvSpPr/>
          <p:nvPr/>
        </p:nvSpPr>
        <p:spPr>
          <a:xfrm>
            <a:off x="4407408" y="2468880"/>
            <a:ext cx="1920240" cy="274320"/>
          </a:xfrm>
          <a:prstGeom prst="rect">
            <a:avLst/>
          </a:prstGeom>
          <a:noFill/>
          <a:ln/>
        </p:spPr>
        <p:txBody>
          <a:bodyPr wrap="square" rtlCol="0" anchor="ctr"/>
          <a:lstStyle/>
          <a:p>
            <a:pPr marL="0" indent="0" algn="ctr">
              <a:buNone/>
            </a:pPr>
            <a:r>
              <a:rPr lang="en-US" sz="900" dirty="0">
                <a:solidFill>
                  <a:srgbClr val="7A90B0"/>
                </a:solidFill>
              </a:rPr>
              <a:t>Avg Session Cost</a:t>
            </a:r>
            <a:endParaRPr lang="en-US" sz="900" dirty="0"/>
          </a:p>
        </p:txBody>
      </p:sp>
      <p:sp>
        <p:nvSpPr>
          <p:cNvPr id="19" name="Shape 17"/>
          <p:cNvSpPr/>
          <p:nvPr/>
        </p:nvSpPr>
        <p:spPr>
          <a:xfrm>
            <a:off x="6483096" y="2011680"/>
            <a:ext cx="1920240" cy="804672"/>
          </a:xfrm>
          <a:prstGeom prst="rect">
            <a:avLst/>
          </a:prstGeom>
          <a:solidFill>
            <a:srgbClr val="0D1829"/>
          </a:solidFill>
          <a:ln w="12700">
            <a:solidFill>
              <a:srgbClr val="FF4B6E"/>
            </a:solidFill>
            <a:prstDash val="solid"/>
          </a:ln>
          <a:effectLst>
            <a:outerShdw blurRad="127000" dist="38100" dir="8100000" algn="bl" rotWithShape="0">
              <a:srgbClr val="000000">
                <a:alpha val="30000"/>
              </a:srgbClr>
            </a:outerShdw>
          </a:effectLst>
        </p:spPr>
      </p:sp>
      <p:sp>
        <p:nvSpPr>
          <p:cNvPr id="20" name="Text 18"/>
          <p:cNvSpPr/>
          <p:nvPr/>
        </p:nvSpPr>
        <p:spPr>
          <a:xfrm>
            <a:off x="6483096" y="2057400"/>
            <a:ext cx="1920240" cy="402336"/>
          </a:xfrm>
          <a:prstGeom prst="rect">
            <a:avLst/>
          </a:prstGeom>
          <a:noFill/>
          <a:ln/>
        </p:spPr>
        <p:txBody>
          <a:bodyPr wrap="square" rtlCol="0" anchor="ctr"/>
          <a:lstStyle/>
          <a:p>
            <a:pPr marL="0" indent="0" algn="ctr">
              <a:buNone/>
            </a:pPr>
            <a:r>
              <a:rPr lang="en-US" sz="2200" b="1" dirty="0">
                <a:solidFill>
                  <a:srgbClr val="FF4B6E"/>
                </a:solidFill>
              </a:rPr>
              <a:t>34K</a:t>
            </a:r>
            <a:endParaRPr lang="en-US" sz="2200" dirty="0"/>
          </a:p>
        </p:txBody>
      </p:sp>
      <p:sp>
        <p:nvSpPr>
          <p:cNvPr id="21" name="Text 19"/>
          <p:cNvSpPr/>
          <p:nvPr/>
        </p:nvSpPr>
        <p:spPr>
          <a:xfrm>
            <a:off x="6483096" y="2468880"/>
            <a:ext cx="1920240" cy="274320"/>
          </a:xfrm>
          <a:prstGeom prst="rect">
            <a:avLst/>
          </a:prstGeom>
          <a:noFill/>
          <a:ln/>
        </p:spPr>
        <p:txBody>
          <a:bodyPr wrap="square" rtlCol="0" anchor="ctr"/>
          <a:lstStyle/>
          <a:p>
            <a:pPr marL="0" indent="0" algn="ctr">
              <a:buNone/>
            </a:pPr>
            <a:r>
              <a:rPr lang="en-US" sz="900" dirty="0">
                <a:solidFill>
                  <a:srgbClr val="7A90B0"/>
                </a:solidFill>
              </a:rPr>
              <a:t>Total Plug Gap</a:t>
            </a:r>
            <a:endParaRPr lang="en-US" sz="900" dirty="0"/>
          </a:p>
        </p:txBody>
      </p:sp>
      <p:sp>
        <p:nvSpPr>
          <p:cNvPr id="22" name="Shape 20"/>
          <p:cNvSpPr/>
          <p:nvPr/>
        </p:nvSpPr>
        <p:spPr>
          <a:xfrm>
            <a:off x="256032" y="2944368"/>
            <a:ext cx="4160520" cy="1883664"/>
          </a:xfrm>
          <a:prstGeom prst="rect">
            <a:avLst/>
          </a:prstGeom>
          <a:solidFill>
            <a:srgbClr val="111C2E"/>
          </a:solidFill>
          <a:ln w="15240">
            <a:solidFill>
              <a:srgbClr val="FF9B3B"/>
            </a:solidFill>
            <a:prstDash val="solid"/>
          </a:ln>
          <a:effectLst>
            <a:outerShdw blurRad="127000" dist="38100" dir="8100000" algn="bl" rotWithShape="0">
              <a:srgbClr val="000000">
                <a:alpha val="30000"/>
              </a:srgbClr>
            </a:outerShdw>
          </a:effectLst>
        </p:spPr>
      </p:sp>
      <p:sp>
        <p:nvSpPr>
          <p:cNvPr id="23" name="Shape 21"/>
          <p:cNvSpPr/>
          <p:nvPr/>
        </p:nvSpPr>
        <p:spPr>
          <a:xfrm>
            <a:off x="256032" y="2944368"/>
            <a:ext cx="45720" cy="1883664"/>
          </a:xfrm>
          <a:prstGeom prst="rect">
            <a:avLst/>
          </a:prstGeom>
          <a:solidFill>
            <a:srgbClr val="FF9B3B"/>
          </a:solidFill>
          <a:ln w="12700">
            <a:solidFill>
              <a:srgbClr val="FF9B3B"/>
            </a:solidFill>
            <a:prstDash val="solid"/>
          </a:ln>
        </p:spPr>
      </p:sp>
      <p:sp>
        <p:nvSpPr>
          <p:cNvPr id="24" name="Text 22"/>
          <p:cNvSpPr/>
          <p:nvPr/>
        </p:nvSpPr>
        <p:spPr>
          <a:xfrm>
            <a:off x="384048" y="3035808"/>
            <a:ext cx="3959352" cy="292608"/>
          </a:xfrm>
          <a:prstGeom prst="rect">
            <a:avLst/>
          </a:prstGeom>
          <a:noFill/>
          <a:ln/>
        </p:spPr>
        <p:txBody>
          <a:bodyPr wrap="square" rtlCol="0" anchor="ctr"/>
          <a:lstStyle/>
          <a:p>
            <a:pPr marL="0" indent="0">
              <a:buNone/>
            </a:pPr>
            <a:r>
              <a:rPr lang="en-US" sz="1150" b="1" dirty="0">
                <a:solidFill>
                  <a:srgbClr val="FF9B3B"/>
                </a:solidFill>
              </a:rPr>
              <a:t>💹  Ursynów &amp; Wesoła = 36% of Revenue</a:t>
            </a:r>
            <a:endParaRPr lang="en-US" sz="1150" dirty="0"/>
          </a:p>
        </p:txBody>
      </p:sp>
      <p:sp>
        <p:nvSpPr>
          <p:cNvPr id="25" name="Text 23"/>
          <p:cNvSpPr/>
          <p:nvPr/>
        </p:nvSpPr>
        <p:spPr>
          <a:xfrm>
            <a:off x="384048" y="3364992"/>
            <a:ext cx="3959352" cy="1335024"/>
          </a:xfrm>
          <a:prstGeom prst="rect">
            <a:avLst/>
          </a:prstGeom>
          <a:noFill/>
          <a:ln/>
        </p:spPr>
        <p:txBody>
          <a:bodyPr wrap="square" rtlCol="0" anchor="ctr"/>
          <a:lstStyle/>
          <a:p>
            <a:pPr marL="0" indent="0">
              <a:lnSpc>
                <a:spcPct val="130000"/>
              </a:lnSpc>
              <a:buNone/>
            </a:pPr>
            <a:r>
              <a:rPr lang="en-US" sz="1000" dirty="0">
                <a:solidFill>
                  <a:srgbClr val="7A90B0"/>
                </a:solidFill>
              </a:rPr>
              <a:t>Dashboard revenue bar: Ursynów zł2.19M, Wesoła zł1.96M — together generating 36% of the zł11.42M total. These districts have the most stations, proving direct correlation between station count and revenue.</a:t>
            </a:r>
            <a:endParaRPr lang="en-US" sz="1000" dirty="0"/>
          </a:p>
        </p:txBody>
      </p:sp>
      <p:sp>
        <p:nvSpPr>
          <p:cNvPr id="26" name="Shape 24"/>
          <p:cNvSpPr/>
          <p:nvPr/>
        </p:nvSpPr>
        <p:spPr>
          <a:xfrm>
            <a:off x="4617720" y="2944368"/>
            <a:ext cx="4251960" cy="1883664"/>
          </a:xfrm>
          <a:prstGeom prst="rect">
            <a:avLst/>
          </a:prstGeom>
          <a:solidFill>
            <a:srgbClr val="111C2E"/>
          </a:solidFill>
          <a:ln w="15240">
            <a:solidFill>
              <a:srgbClr val="FF4B6E"/>
            </a:solidFill>
            <a:prstDash val="solid"/>
          </a:ln>
          <a:effectLst>
            <a:outerShdw blurRad="127000" dist="38100" dir="8100000" algn="bl" rotWithShape="0">
              <a:srgbClr val="000000">
                <a:alpha val="30000"/>
              </a:srgbClr>
            </a:outerShdw>
          </a:effectLst>
        </p:spPr>
      </p:sp>
      <p:sp>
        <p:nvSpPr>
          <p:cNvPr id="27" name="Shape 25"/>
          <p:cNvSpPr/>
          <p:nvPr/>
        </p:nvSpPr>
        <p:spPr>
          <a:xfrm>
            <a:off x="4617720" y="2944368"/>
            <a:ext cx="45720" cy="1883664"/>
          </a:xfrm>
          <a:prstGeom prst="rect">
            <a:avLst/>
          </a:prstGeom>
          <a:solidFill>
            <a:srgbClr val="FF4B6E"/>
          </a:solidFill>
          <a:ln w="12700">
            <a:solidFill>
              <a:srgbClr val="FF4B6E"/>
            </a:solidFill>
            <a:prstDash val="solid"/>
          </a:ln>
        </p:spPr>
      </p:sp>
      <p:sp>
        <p:nvSpPr>
          <p:cNvPr id="28" name="Text 26"/>
          <p:cNvSpPr/>
          <p:nvPr/>
        </p:nvSpPr>
        <p:spPr>
          <a:xfrm>
            <a:off x="4745736" y="3035808"/>
            <a:ext cx="4050792" cy="292608"/>
          </a:xfrm>
          <a:prstGeom prst="rect">
            <a:avLst/>
          </a:prstGeom>
          <a:noFill/>
          <a:ln/>
        </p:spPr>
        <p:txBody>
          <a:bodyPr wrap="square" rtlCol="0" anchor="ctr"/>
          <a:lstStyle/>
          <a:p>
            <a:pPr marL="0" indent="0">
              <a:buNone/>
            </a:pPr>
            <a:r>
              <a:rPr lang="en-US" sz="1150" b="1" dirty="0">
                <a:solidFill>
                  <a:srgbClr val="FF4B6E"/>
                </a:solidFill>
              </a:rPr>
              <a:t>🚨  Mokotów Has Largest Infrastructure Gap</a:t>
            </a:r>
            <a:endParaRPr lang="en-US" sz="1150" dirty="0"/>
          </a:p>
        </p:txBody>
      </p:sp>
      <p:sp>
        <p:nvSpPr>
          <p:cNvPr id="29" name="Text 27"/>
          <p:cNvSpPr/>
          <p:nvPr/>
        </p:nvSpPr>
        <p:spPr>
          <a:xfrm>
            <a:off x="4745736" y="3364992"/>
            <a:ext cx="4050792" cy="1335024"/>
          </a:xfrm>
          <a:prstGeom prst="rect">
            <a:avLst/>
          </a:prstGeom>
          <a:noFill/>
          <a:ln/>
        </p:spPr>
        <p:txBody>
          <a:bodyPr wrap="square" rtlCol="0" anchor="ctr"/>
          <a:lstStyle/>
          <a:p>
            <a:pPr marL="0" indent="0">
              <a:lnSpc>
                <a:spcPct val="130000"/>
              </a:lnSpc>
              <a:buNone/>
            </a:pPr>
            <a:r>
              <a:rPr lang="en-US" sz="1000" dirty="0">
                <a:solidFill>
                  <a:srgbClr val="7A90B0"/>
                </a:solidFill>
              </a:rPr>
              <a:t>The 'Charging Infrastructure Deficit' bar shows Mokotów needs 3,994 more plugs, Wola needs 3,200, and Wilanów needs 3,006. The projected EVs vs actual plugs dual chart confirms all top districts are severely under-served.</a:t>
            </a:r>
            <a:endParaRPr lang="en-US" sz="1000" dirty="0"/>
          </a:p>
        </p:txBody>
      </p:sp>
      <p:sp>
        <p:nvSpPr>
          <p:cNvPr id="30" name="Shape 28"/>
          <p:cNvSpPr/>
          <p:nvPr/>
        </p:nvSpPr>
        <p:spPr>
          <a:xfrm>
            <a:off x="256032" y="4718304"/>
            <a:ext cx="8631936" cy="292608"/>
          </a:xfrm>
          <a:prstGeom prst="rect">
            <a:avLst/>
          </a:prstGeom>
          <a:solidFill>
            <a:srgbClr val="111C2E"/>
          </a:solidFill>
          <a:ln w="12700">
            <a:solidFill>
              <a:srgbClr val="1A2E4A"/>
            </a:solidFill>
            <a:prstDash val="solid"/>
          </a:ln>
        </p:spPr>
      </p:sp>
      <p:sp>
        <p:nvSpPr>
          <p:cNvPr id="31" name="Text 29"/>
          <p:cNvSpPr/>
          <p:nvPr/>
        </p:nvSpPr>
        <p:spPr>
          <a:xfrm>
            <a:off x="384048" y="4754880"/>
            <a:ext cx="8430768" cy="228600"/>
          </a:xfrm>
          <a:prstGeom prst="rect">
            <a:avLst/>
          </a:prstGeom>
          <a:noFill/>
          <a:ln/>
        </p:spPr>
        <p:txBody>
          <a:bodyPr wrap="square" rtlCol="0" anchor="ctr"/>
          <a:lstStyle/>
          <a:p>
            <a:pPr marL="0" indent="0">
              <a:buNone/>
            </a:pPr>
            <a:r>
              <a:rPr lang="en-US" sz="900" i="1" dirty="0">
                <a:solidFill>
                  <a:srgbClr val="7A90B0"/>
                </a:solidFill>
              </a:rPr>
              <a:t>💡  34K total gap = total projected plugs minus actual plugs across all 18 districts. Closing even 25% of this gap would require 8,500 new plugs and could triple network revenue.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120"/>
          </a:solidFill>
          <a:ln w="12700">
            <a:solidFill>
              <a:srgbClr val="0B1120"/>
            </a:solidFill>
            <a:prstDash val="solid"/>
          </a:ln>
        </p:spPr>
      </p:sp>
      <p:sp>
        <p:nvSpPr>
          <p:cNvPr id="3" name="Shape 1"/>
          <p:cNvSpPr/>
          <p:nvPr/>
        </p:nvSpPr>
        <p:spPr>
          <a:xfrm>
            <a:off x="-1371600" y="1828800"/>
            <a:ext cx="4572000" cy="4572000"/>
          </a:xfrm>
          <a:prstGeom prst="ellipse">
            <a:avLst/>
          </a:prstGeom>
          <a:solidFill>
            <a:srgbClr val="9B7FFF">
              <a:alpha val="8000"/>
            </a:srgbClr>
          </a:solidFill>
          <a:ln w="12700">
            <a:solidFill>
              <a:srgbClr val="9B7FFF">
                <a:alpha val="8000"/>
              </a:srgbClr>
            </a:solidFill>
            <a:prstDash val="solid"/>
          </a:ln>
        </p:spPr>
      </p:sp>
      <p:sp>
        <p:nvSpPr>
          <p:cNvPr id="4" name="Shape 2"/>
          <p:cNvSpPr/>
          <p:nvPr/>
        </p:nvSpPr>
        <p:spPr>
          <a:xfrm>
            <a:off x="6400800" y="-914400"/>
            <a:ext cx="4572000" cy="4572000"/>
          </a:xfrm>
          <a:prstGeom prst="ellipse">
            <a:avLst/>
          </a:prstGeom>
          <a:solidFill>
            <a:srgbClr val="9B7FFF">
              <a:alpha val="8000"/>
            </a:srgbClr>
          </a:solidFill>
          <a:ln w="12700">
            <a:solidFill>
              <a:srgbClr val="9B7FFF">
                <a:alpha val="8000"/>
              </a:srgbClr>
            </a:solidFill>
            <a:prstDash val="solid"/>
          </a:ln>
        </p:spPr>
      </p:sp>
      <p:sp>
        <p:nvSpPr>
          <p:cNvPr id="5" name="Shape 3"/>
          <p:cNvSpPr/>
          <p:nvPr/>
        </p:nvSpPr>
        <p:spPr>
          <a:xfrm>
            <a:off x="0" y="0"/>
            <a:ext cx="64008" cy="5143500"/>
          </a:xfrm>
          <a:prstGeom prst="rect">
            <a:avLst/>
          </a:prstGeom>
          <a:solidFill>
            <a:srgbClr val="9B7FFF"/>
          </a:solidFill>
          <a:ln w="12700">
            <a:solidFill>
              <a:srgbClr val="9B7FFF"/>
            </a:solidFill>
            <a:prstDash val="solid"/>
          </a:ln>
        </p:spPr>
      </p:sp>
      <p:sp>
        <p:nvSpPr>
          <p:cNvPr id="6" name="Shape 4"/>
          <p:cNvSpPr/>
          <p:nvPr/>
        </p:nvSpPr>
        <p:spPr>
          <a:xfrm>
            <a:off x="2286000" y="1645920"/>
            <a:ext cx="4572000" cy="18288"/>
          </a:xfrm>
          <a:prstGeom prst="rect">
            <a:avLst/>
          </a:prstGeom>
          <a:solidFill>
            <a:srgbClr val="1A2E4A"/>
          </a:solidFill>
          <a:ln w="12700">
            <a:solidFill>
              <a:srgbClr val="1A2E4A"/>
            </a:solidFill>
            <a:prstDash val="solid"/>
          </a:ln>
        </p:spPr>
      </p:sp>
      <p:sp>
        <p:nvSpPr>
          <p:cNvPr id="7" name="Text 5"/>
          <p:cNvSpPr/>
          <p:nvPr/>
        </p:nvSpPr>
        <p:spPr>
          <a:xfrm>
            <a:off x="2286000" y="1737360"/>
            <a:ext cx="4572000" cy="292608"/>
          </a:xfrm>
          <a:prstGeom prst="rect">
            <a:avLst/>
          </a:prstGeom>
          <a:noFill/>
          <a:ln/>
        </p:spPr>
        <p:txBody>
          <a:bodyPr wrap="square" rtlCol="0" anchor="ctr"/>
          <a:lstStyle/>
          <a:p>
            <a:pPr marL="0" indent="0" algn="ctr">
              <a:buNone/>
            </a:pPr>
            <a:r>
              <a:rPr lang="en-US" sz="1100" b="1" kern="0" spc="400" dirty="0">
                <a:solidFill>
                  <a:srgbClr val="9B7FFF"/>
                </a:solidFill>
              </a:rPr>
              <a:t>PART 3</a:t>
            </a:r>
            <a:endParaRPr lang="en-US" sz="1100" dirty="0"/>
          </a:p>
        </p:txBody>
      </p:sp>
      <p:sp>
        <p:nvSpPr>
          <p:cNvPr id="8" name="Text 6"/>
          <p:cNvSpPr/>
          <p:nvPr/>
        </p:nvSpPr>
        <p:spPr>
          <a:xfrm>
            <a:off x="1097280" y="2029968"/>
            <a:ext cx="6949440" cy="685800"/>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Machine Learning</a:t>
            </a:r>
            <a:endParaRPr lang="en-US" sz="3800" dirty="0"/>
          </a:p>
        </p:txBody>
      </p:sp>
      <p:sp>
        <p:nvSpPr>
          <p:cNvPr id="9" name="Text 7"/>
          <p:cNvSpPr/>
          <p:nvPr/>
        </p:nvSpPr>
        <p:spPr>
          <a:xfrm>
            <a:off x="1371600" y="2788920"/>
            <a:ext cx="6400800" cy="347472"/>
          </a:xfrm>
          <a:prstGeom prst="rect">
            <a:avLst/>
          </a:prstGeom>
          <a:noFill/>
          <a:ln/>
        </p:spPr>
        <p:txBody>
          <a:bodyPr wrap="square" rtlCol="0" anchor="ctr"/>
          <a:lstStyle/>
          <a:p>
            <a:pPr marL="0" indent="0" algn="ctr">
              <a:buNone/>
            </a:pPr>
            <a:r>
              <a:rPr lang="en-US" sz="1300" i="1" dirty="0">
                <a:solidFill>
                  <a:srgbClr val="7A90B0"/>
                </a:solidFill>
              </a:rPr>
              <a:t>3 Models — Forecasting · Regression · Clustering</a:t>
            </a:r>
            <a:endParaRPr lang="en-US" sz="1300" dirty="0"/>
          </a:p>
        </p:txBody>
      </p:sp>
      <p:sp>
        <p:nvSpPr>
          <p:cNvPr id="10" name="Shape 8"/>
          <p:cNvSpPr/>
          <p:nvPr/>
        </p:nvSpPr>
        <p:spPr>
          <a:xfrm>
            <a:off x="2286000" y="3200400"/>
            <a:ext cx="4572000" cy="18288"/>
          </a:xfrm>
          <a:prstGeom prst="rect">
            <a:avLst/>
          </a:prstGeom>
          <a:solidFill>
            <a:srgbClr val="1A2E4A"/>
          </a:solidFill>
          <a:ln w="12700">
            <a:solidFill>
              <a:srgbClr val="1A2E4A"/>
            </a:solidFill>
            <a:prstDash val="solid"/>
          </a:ln>
        </p:spPr>
      </p:sp>
      <p:sp>
        <p:nvSpPr>
          <p:cNvPr id="11" name="Shape 9"/>
          <p:cNvSpPr/>
          <p:nvPr/>
        </p:nvSpPr>
        <p:spPr>
          <a:xfrm>
            <a:off x="502920" y="3291840"/>
            <a:ext cx="2697480" cy="1572768"/>
          </a:xfrm>
          <a:prstGeom prst="rect">
            <a:avLst/>
          </a:prstGeom>
          <a:solidFill>
            <a:srgbClr val="111C2E"/>
          </a:solidFill>
          <a:ln w="12700">
            <a:solidFill>
              <a:srgbClr val="00D4FF"/>
            </a:solidFill>
            <a:prstDash val="solid"/>
          </a:ln>
          <a:effectLst>
            <a:outerShdw blurRad="127000" dist="38100" dir="8100000" algn="bl" rotWithShape="0">
              <a:srgbClr val="000000">
                <a:alpha val="30000"/>
              </a:srgbClr>
            </a:outerShdw>
          </a:effectLst>
        </p:spPr>
      </p:sp>
      <p:sp>
        <p:nvSpPr>
          <p:cNvPr id="12" name="Shape 10"/>
          <p:cNvSpPr/>
          <p:nvPr/>
        </p:nvSpPr>
        <p:spPr>
          <a:xfrm>
            <a:off x="502920" y="3291840"/>
            <a:ext cx="2697480" cy="36576"/>
          </a:xfrm>
          <a:prstGeom prst="rect">
            <a:avLst/>
          </a:prstGeom>
          <a:solidFill>
            <a:srgbClr val="00D4FF"/>
          </a:solidFill>
          <a:ln w="12700">
            <a:solidFill>
              <a:srgbClr val="00D4FF"/>
            </a:solidFill>
            <a:prstDash val="solid"/>
          </a:ln>
        </p:spPr>
      </p:sp>
      <p:sp>
        <p:nvSpPr>
          <p:cNvPr id="13" name="Text 11"/>
          <p:cNvSpPr/>
          <p:nvPr/>
        </p:nvSpPr>
        <p:spPr>
          <a:xfrm>
            <a:off x="594360" y="3383280"/>
            <a:ext cx="2514600" cy="256032"/>
          </a:xfrm>
          <a:prstGeom prst="rect">
            <a:avLst/>
          </a:prstGeom>
          <a:noFill/>
          <a:ln/>
        </p:spPr>
        <p:txBody>
          <a:bodyPr wrap="square" rtlCol="0" anchor="ctr"/>
          <a:lstStyle/>
          <a:p>
            <a:pPr marL="0" indent="0">
              <a:buNone/>
            </a:pPr>
            <a:r>
              <a:rPr lang="en-US" sz="1100" b="1" dirty="0">
                <a:solidFill>
                  <a:srgbClr val="00D4FF"/>
                </a:solidFill>
              </a:rPr>
              <a:t>Model 1</a:t>
            </a:r>
            <a:endParaRPr lang="en-US" sz="1100" dirty="0"/>
          </a:p>
        </p:txBody>
      </p:sp>
      <p:sp>
        <p:nvSpPr>
          <p:cNvPr id="14" name="Text 12"/>
          <p:cNvSpPr/>
          <p:nvPr/>
        </p:nvSpPr>
        <p:spPr>
          <a:xfrm>
            <a:off x="594360" y="3657600"/>
            <a:ext cx="2514600" cy="274320"/>
          </a:xfrm>
          <a:prstGeom prst="rect">
            <a:avLst/>
          </a:prstGeom>
          <a:noFill/>
          <a:ln/>
        </p:spPr>
        <p:txBody>
          <a:bodyPr wrap="square" rtlCol="0" anchor="ctr"/>
          <a:lstStyle/>
          <a:p>
            <a:pPr marL="0" indent="0">
              <a:buNone/>
            </a:pPr>
            <a:r>
              <a:rPr lang="en-US" sz="1200" b="1" dirty="0">
                <a:solidFill>
                  <a:srgbClr val="FFFFFF"/>
                </a:solidFill>
              </a:rPr>
              <a:t>Demand Forecasting</a:t>
            </a:r>
            <a:endParaRPr lang="en-US" sz="1200" dirty="0"/>
          </a:p>
        </p:txBody>
      </p:sp>
      <p:sp>
        <p:nvSpPr>
          <p:cNvPr id="15" name="Text 13"/>
          <p:cNvSpPr/>
          <p:nvPr/>
        </p:nvSpPr>
        <p:spPr>
          <a:xfrm>
            <a:off x="594360" y="3986784"/>
            <a:ext cx="2514600" cy="749808"/>
          </a:xfrm>
          <a:prstGeom prst="rect">
            <a:avLst/>
          </a:prstGeom>
          <a:noFill/>
          <a:ln/>
        </p:spPr>
        <p:txBody>
          <a:bodyPr wrap="square" rtlCol="0" anchor="ctr"/>
          <a:lstStyle/>
          <a:p>
            <a:pPr marL="0" indent="0">
              <a:lnSpc>
                <a:spcPct val="130000"/>
              </a:lnSpc>
              <a:buNone/>
            </a:pPr>
            <a:r>
              <a:rPr lang="en-US" sz="950" dirty="0">
                <a:solidFill>
                  <a:srgbClr val="7A90B0"/>
                </a:solidFill>
              </a:rPr>
              <a:t>Time-series prediction for future charging sessions</a:t>
            </a:r>
            <a:endParaRPr lang="en-US" sz="950" dirty="0"/>
          </a:p>
        </p:txBody>
      </p:sp>
      <p:sp>
        <p:nvSpPr>
          <p:cNvPr id="16" name="Shape 14"/>
          <p:cNvSpPr/>
          <p:nvPr/>
        </p:nvSpPr>
        <p:spPr>
          <a:xfrm>
            <a:off x="3410712" y="3291840"/>
            <a:ext cx="2697480" cy="1572768"/>
          </a:xfrm>
          <a:prstGeom prst="rect">
            <a:avLst/>
          </a:prstGeom>
          <a:solidFill>
            <a:srgbClr val="111C2E"/>
          </a:solidFill>
          <a:ln w="12700">
            <a:solidFill>
              <a:srgbClr val="00E5A0"/>
            </a:solidFill>
            <a:prstDash val="solid"/>
          </a:ln>
          <a:effectLst>
            <a:outerShdw blurRad="127000" dist="38100" dir="8100000" algn="bl" rotWithShape="0">
              <a:srgbClr val="000000">
                <a:alpha val="30000"/>
              </a:srgbClr>
            </a:outerShdw>
          </a:effectLst>
        </p:spPr>
      </p:sp>
      <p:sp>
        <p:nvSpPr>
          <p:cNvPr id="17" name="Shape 15"/>
          <p:cNvSpPr/>
          <p:nvPr/>
        </p:nvSpPr>
        <p:spPr>
          <a:xfrm>
            <a:off x="3410712" y="3291840"/>
            <a:ext cx="2697480" cy="36576"/>
          </a:xfrm>
          <a:prstGeom prst="rect">
            <a:avLst/>
          </a:prstGeom>
          <a:solidFill>
            <a:srgbClr val="00E5A0"/>
          </a:solidFill>
          <a:ln w="12700">
            <a:solidFill>
              <a:srgbClr val="00E5A0"/>
            </a:solidFill>
            <a:prstDash val="solid"/>
          </a:ln>
        </p:spPr>
      </p:sp>
      <p:sp>
        <p:nvSpPr>
          <p:cNvPr id="18" name="Text 16"/>
          <p:cNvSpPr/>
          <p:nvPr/>
        </p:nvSpPr>
        <p:spPr>
          <a:xfrm>
            <a:off x="3502152" y="3383280"/>
            <a:ext cx="2514600" cy="256032"/>
          </a:xfrm>
          <a:prstGeom prst="rect">
            <a:avLst/>
          </a:prstGeom>
          <a:noFill/>
          <a:ln/>
        </p:spPr>
        <p:txBody>
          <a:bodyPr wrap="square" rtlCol="0" anchor="ctr"/>
          <a:lstStyle/>
          <a:p>
            <a:pPr marL="0" indent="0">
              <a:buNone/>
            </a:pPr>
            <a:r>
              <a:rPr lang="en-US" sz="1100" b="1" dirty="0">
                <a:solidFill>
                  <a:srgbClr val="00E5A0"/>
                </a:solidFill>
              </a:rPr>
              <a:t>Model 2</a:t>
            </a:r>
            <a:endParaRPr lang="en-US" sz="1100" dirty="0"/>
          </a:p>
        </p:txBody>
      </p:sp>
      <p:sp>
        <p:nvSpPr>
          <p:cNvPr id="19" name="Text 17"/>
          <p:cNvSpPr/>
          <p:nvPr/>
        </p:nvSpPr>
        <p:spPr>
          <a:xfrm>
            <a:off x="3502152" y="3657600"/>
            <a:ext cx="2514600" cy="274320"/>
          </a:xfrm>
          <a:prstGeom prst="rect">
            <a:avLst/>
          </a:prstGeom>
          <a:noFill/>
          <a:ln/>
        </p:spPr>
        <p:txBody>
          <a:bodyPr wrap="square" rtlCol="0" anchor="ctr"/>
          <a:lstStyle/>
          <a:p>
            <a:pPr marL="0" indent="0">
              <a:buNone/>
            </a:pPr>
            <a:r>
              <a:rPr lang="en-US" sz="1200" b="1" dirty="0">
                <a:solidFill>
                  <a:srgbClr val="FFFFFF"/>
                </a:solidFill>
              </a:rPr>
              <a:t>Cost Regression</a:t>
            </a:r>
            <a:endParaRPr lang="en-US" sz="1200" dirty="0"/>
          </a:p>
        </p:txBody>
      </p:sp>
      <p:sp>
        <p:nvSpPr>
          <p:cNvPr id="20" name="Text 18"/>
          <p:cNvSpPr/>
          <p:nvPr/>
        </p:nvSpPr>
        <p:spPr>
          <a:xfrm>
            <a:off x="3502152" y="3986784"/>
            <a:ext cx="2514600" cy="749808"/>
          </a:xfrm>
          <a:prstGeom prst="rect">
            <a:avLst/>
          </a:prstGeom>
          <a:noFill/>
          <a:ln/>
        </p:spPr>
        <p:txBody>
          <a:bodyPr wrap="square" rtlCol="0" anchor="ctr"/>
          <a:lstStyle/>
          <a:p>
            <a:pPr marL="0" indent="0">
              <a:lnSpc>
                <a:spcPct val="130000"/>
              </a:lnSpc>
              <a:buNone/>
            </a:pPr>
            <a:r>
              <a:rPr lang="en-US" sz="950" dirty="0">
                <a:solidFill>
                  <a:srgbClr val="7A90B0"/>
                </a:solidFill>
              </a:rPr>
              <a:t>Predict session cost from features</a:t>
            </a:r>
            <a:endParaRPr lang="en-US" sz="950" dirty="0"/>
          </a:p>
        </p:txBody>
      </p:sp>
      <p:sp>
        <p:nvSpPr>
          <p:cNvPr id="21" name="Shape 19"/>
          <p:cNvSpPr/>
          <p:nvPr/>
        </p:nvSpPr>
        <p:spPr>
          <a:xfrm>
            <a:off x="6318504" y="3291840"/>
            <a:ext cx="2697480" cy="1572768"/>
          </a:xfrm>
          <a:prstGeom prst="rect">
            <a:avLst/>
          </a:prstGeom>
          <a:solidFill>
            <a:srgbClr val="111C2E"/>
          </a:solidFill>
          <a:ln w="12700">
            <a:solidFill>
              <a:srgbClr val="9B7FFF"/>
            </a:solidFill>
            <a:prstDash val="solid"/>
          </a:ln>
          <a:effectLst>
            <a:outerShdw blurRad="127000" dist="38100" dir="8100000" algn="bl" rotWithShape="0">
              <a:srgbClr val="000000">
                <a:alpha val="30000"/>
              </a:srgbClr>
            </a:outerShdw>
          </a:effectLst>
        </p:spPr>
      </p:sp>
      <p:sp>
        <p:nvSpPr>
          <p:cNvPr id="22" name="Shape 20"/>
          <p:cNvSpPr/>
          <p:nvPr/>
        </p:nvSpPr>
        <p:spPr>
          <a:xfrm>
            <a:off x="6318504" y="3291840"/>
            <a:ext cx="2697480" cy="36576"/>
          </a:xfrm>
          <a:prstGeom prst="rect">
            <a:avLst/>
          </a:prstGeom>
          <a:solidFill>
            <a:srgbClr val="9B7FFF"/>
          </a:solidFill>
          <a:ln w="12700">
            <a:solidFill>
              <a:srgbClr val="9B7FFF"/>
            </a:solidFill>
            <a:prstDash val="solid"/>
          </a:ln>
        </p:spPr>
      </p:sp>
      <p:sp>
        <p:nvSpPr>
          <p:cNvPr id="23" name="Text 21"/>
          <p:cNvSpPr/>
          <p:nvPr/>
        </p:nvSpPr>
        <p:spPr>
          <a:xfrm>
            <a:off x="6409944" y="3383280"/>
            <a:ext cx="2514600" cy="256032"/>
          </a:xfrm>
          <a:prstGeom prst="rect">
            <a:avLst/>
          </a:prstGeom>
          <a:noFill/>
          <a:ln/>
        </p:spPr>
        <p:txBody>
          <a:bodyPr wrap="square" rtlCol="0" anchor="ctr"/>
          <a:lstStyle/>
          <a:p>
            <a:pPr marL="0" indent="0">
              <a:buNone/>
            </a:pPr>
            <a:r>
              <a:rPr lang="en-US" sz="1100" b="1" dirty="0">
                <a:solidFill>
                  <a:srgbClr val="9B7FFF"/>
                </a:solidFill>
              </a:rPr>
              <a:t>Model 3</a:t>
            </a:r>
            <a:endParaRPr lang="en-US" sz="1100" dirty="0"/>
          </a:p>
        </p:txBody>
      </p:sp>
      <p:sp>
        <p:nvSpPr>
          <p:cNvPr id="24" name="Text 22"/>
          <p:cNvSpPr/>
          <p:nvPr/>
        </p:nvSpPr>
        <p:spPr>
          <a:xfrm>
            <a:off x="6409944" y="3657600"/>
            <a:ext cx="2514600" cy="274320"/>
          </a:xfrm>
          <a:prstGeom prst="rect">
            <a:avLst/>
          </a:prstGeom>
          <a:noFill/>
          <a:ln/>
        </p:spPr>
        <p:txBody>
          <a:bodyPr wrap="square" rtlCol="0" anchor="ctr"/>
          <a:lstStyle/>
          <a:p>
            <a:pPr marL="0" indent="0">
              <a:buNone/>
            </a:pPr>
            <a:r>
              <a:rPr lang="en-US" sz="1200" b="1" dirty="0">
                <a:solidFill>
                  <a:srgbClr val="FFFFFF"/>
                </a:solidFill>
              </a:rPr>
              <a:t>Customer Clustering</a:t>
            </a:r>
            <a:endParaRPr lang="en-US" sz="1200" dirty="0"/>
          </a:p>
        </p:txBody>
      </p:sp>
      <p:sp>
        <p:nvSpPr>
          <p:cNvPr id="25" name="Text 23"/>
          <p:cNvSpPr/>
          <p:nvPr/>
        </p:nvSpPr>
        <p:spPr>
          <a:xfrm>
            <a:off x="6409944" y="3986784"/>
            <a:ext cx="2514600" cy="749808"/>
          </a:xfrm>
          <a:prstGeom prst="rect">
            <a:avLst/>
          </a:prstGeom>
          <a:noFill/>
          <a:ln/>
        </p:spPr>
        <p:txBody>
          <a:bodyPr wrap="square" rtlCol="0" anchor="ctr"/>
          <a:lstStyle/>
          <a:p>
            <a:pPr marL="0" indent="0">
              <a:lnSpc>
                <a:spcPct val="130000"/>
              </a:lnSpc>
              <a:buNone/>
            </a:pPr>
            <a:r>
              <a:rPr lang="en-US" sz="950" dirty="0">
                <a:solidFill>
                  <a:srgbClr val="7A90B0"/>
                </a:solidFill>
              </a:rPr>
              <a:t>Segment users by charging behavior</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D4FF"/>
          </a:solidFill>
          <a:ln w="12700">
            <a:solidFill>
              <a:srgbClr val="00D4FF"/>
            </a:solidFill>
            <a:prstDash val="solid"/>
          </a:ln>
        </p:spPr>
      </p:sp>
      <p:sp>
        <p:nvSpPr>
          <p:cNvPr id="3" name="Text 1"/>
          <p:cNvSpPr/>
          <p:nvPr/>
        </p:nvSpPr>
        <p:spPr>
          <a:xfrm>
            <a:off x="256032" y="146304"/>
            <a:ext cx="8686800" cy="237744"/>
          </a:xfrm>
          <a:prstGeom prst="rect">
            <a:avLst/>
          </a:prstGeom>
          <a:noFill/>
          <a:ln/>
        </p:spPr>
        <p:txBody>
          <a:bodyPr wrap="square" rtlCol="0" anchor="ctr"/>
          <a:lstStyle/>
          <a:p>
            <a:pPr marL="0" indent="0">
              <a:buNone/>
            </a:pPr>
            <a:r>
              <a:rPr lang="en-US" sz="800" b="1" kern="0" spc="250" dirty="0">
                <a:solidFill>
                  <a:srgbClr val="00D4FF"/>
                </a:solidFill>
              </a:rPr>
              <a:t>ML MODEL 1  ·  DEMAND FORECASTING</a:t>
            </a:r>
            <a:endParaRPr lang="en-US" sz="800" dirty="0"/>
          </a:p>
        </p:txBody>
      </p:sp>
      <p:sp>
        <p:nvSpPr>
          <p:cNvPr id="4" name="Text 2"/>
          <p:cNvSpPr/>
          <p:nvPr/>
        </p:nvSpPr>
        <p:spPr>
          <a:xfrm>
            <a:off x="256032" y="384048"/>
            <a:ext cx="8595360" cy="530352"/>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Predicting Future Charging Session Volume</a:t>
            </a:r>
            <a:endParaRPr lang="en-US" sz="2800" dirty="0"/>
          </a:p>
        </p:txBody>
      </p:sp>
      <p:sp>
        <p:nvSpPr>
          <p:cNvPr id="5" name="Shape 3"/>
          <p:cNvSpPr/>
          <p:nvPr/>
        </p:nvSpPr>
        <p:spPr>
          <a:xfrm>
            <a:off x="256032" y="987552"/>
            <a:ext cx="8631936" cy="18288"/>
          </a:xfrm>
          <a:prstGeom prst="rect">
            <a:avLst/>
          </a:prstGeom>
          <a:solidFill>
            <a:srgbClr val="1A2E4A"/>
          </a:solidFill>
          <a:ln w="12700">
            <a:solidFill>
              <a:srgbClr val="1A2E4A"/>
            </a:solidFill>
            <a:prstDash val="solid"/>
          </a:ln>
        </p:spPr>
      </p:sp>
      <p:sp>
        <p:nvSpPr>
          <p:cNvPr id="6" name="Shape 4"/>
          <p:cNvSpPr/>
          <p:nvPr/>
        </p:nvSpPr>
        <p:spPr>
          <a:xfrm>
            <a:off x="256032" y="1847088"/>
            <a:ext cx="5120640" cy="1938528"/>
          </a:xfrm>
          <a:prstGeom prst="rect">
            <a:avLst/>
          </a:prstGeom>
          <a:solidFill>
            <a:srgbClr val="0D1117"/>
          </a:solidFill>
          <a:ln w="12700">
            <a:solidFill>
              <a:srgbClr val="1A2E4A"/>
            </a:solidFill>
            <a:prstDash val="solid"/>
          </a:ln>
          <a:effectLst>
            <a:outerShdw blurRad="127000" dist="38100" dir="8100000" algn="bl" rotWithShape="0">
              <a:srgbClr val="000000">
                <a:alpha val="30000"/>
              </a:srgbClr>
            </a:outerShdw>
          </a:effectLst>
        </p:spPr>
      </p:sp>
      <p:sp>
        <p:nvSpPr>
          <p:cNvPr id="7" name="Shape 5"/>
          <p:cNvSpPr/>
          <p:nvPr/>
        </p:nvSpPr>
        <p:spPr>
          <a:xfrm>
            <a:off x="256032" y="1847088"/>
            <a:ext cx="5120640" cy="274320"/>
          </a:xfrm>
          <a:prstGeom prst="rect">
            <a:avLst/>
          </a:prstGeom>
          <a:solidFill>
            <a:srgbClr val="1C2333"/>
          </a:solidFill>
          <a:ln w="12700">
            <a:solidFill>
              <a:srgbClr val="1A2E4A"/>
            </a:solidFill>
            <a:prstDash val="solid"/>
          </a:ln>
        </p:spPr>
      </p:sp>
      <p:sp>
        <p:nvSpPr>
          <p:cNvPr id="8" name="Text 6"/>
          <p:cNvSpPr/>
          <p:nvPr/>
        </p:nvSpPr>
        <p:spPr>
          <a:xfrm>
            <a:off x="347472" y="1883664"/>
            <a:ext cx="4937760" cy="201168"/>
          </a:xfrm>
          <a:prstGeom prst="rect">
            <a:avLst/>
          </a:prstGeom>
          <a:noFill/>
          <a:ln/>
        </p:spPr>
        <p:txBody>
          <a:bodyPr wrap="square" rtlCol="0" anchor="ctr"/>
          <a:lstStyle/>
          <a:p>
            <a:pPr marL="0" indent="0">
              <a:buNone/>
            </a:pPr>
            <a:r>
              <a:rPr lang="en-US" sz="900" dirty="0">
                <a:solidFill>
                  <a:srgbClr val="00D4FF"/>
                </a:solidFill>
              </a:rPr>
              <a:t>⚙  Python · Feature Engineering &amp; Preprocessing</a:t>
            </a:r>
            <a:endParaRPr lang="en-US" sz="900" dirty="0"/>
          </a:p>
        </p:txBody>
      </p:sp>
      <p:sp>
        <p:nvSpPr>
          <p:cNvPr id="9" name="Text 7"/>
          <p:cNvSpPr/>
          <p:nvPr/>
        </p:nvSpPr>
        <p:spPr>
          <a:xfrm>
            <a:off x="365760" y="2157984"/>
            <a:ext cx="4919472" cy="1554480"/>
          </a:xfrm>
          <a:prstGeom prst="rect">
            <a:avLst/>
          </a:prstGeom>
          <a:noFill/>
          <a:ln/>
        </p:spPr>
        <p:txBody>
          <a:bodyPr wrap="square" rtlCol="0" anchor="ctr"/>
          <a:lstStyle/>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import pandas as pd</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from sklearn.ensemble import RandomForestRegressor</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from sklearn.model_selection import train_test_split</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from sklearn.metrics import mean_absolute_error, r2_score</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from sklearn.preprocessing import LabelEncoder</a:t>
            </a:r>
            <a:endParaRPr lang="en-US" sz="850" dirty="0"/>
          </a:p>
          <a:p>
            <a:pPr marL="0" indent="0">
              <a:lnSpc>
                <a:spcPct val="130000"/>
              </a:lnSpc>
              <a:buNone/>
            </a:pP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Feature Engineering</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sessions['hour'] = pd.to_datetime(</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sessions['session_start_time']).dt.hour</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sessions['day_of_week'] = pd.to_datetime(</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sessions['session_start_time']).dt.dayofweek</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sessions['month'] = pd.to_datetime(</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sessions['session_start_time']).dt.month</a:t>
            </a:r>
            <a:endParaRPr lang="en-US" sz="850" dirty="0"/>
          </a:p>
          <a:p>
            <a:pPr marL="0" indent="0">
              <a:lnSpc>
                <a:spcPct val="130000"/>
              </a:lnSpc>
              <a:buNone/>
            </a:pP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Aggregate daily sessions per district</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daily = sessions.merge(</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stations[['station_id','district_name']], </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on='station_id')</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daily_demand = daily.groupby(</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['district_name','month','day_of_week']</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)['session_id'].count().reset_index()</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daily_demand.columns = [</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'district','month','dow','session_count']</a:t>
            </a:r>
            <a:endParaRPr lang="en-US" sz="850" dirty="0"/>
          </a:p>
        </p:txBody>
      </p:sp>
      <p:sp>
        <p:nvSpPr>
          <p:cNvPr id="10" name="Shape 8"/>
          <p:cNvSpPr/>
          <p:nvPr/>
        </p:nvSpPr>
        <p:spPr>
          <a:xfrm>
            <a:off x="256032" y="1298448"/>
            <a:ext cx="8631936" cy="438912"/>
          </a:xfrm>
          <a:prstGeom prst="rect">
            <a:avLst/>
          </a:prstGeom>
          <a:solidFill>
            <a:srgbClr val="0D1829"/>
          </a:solidFill>
          <a:ln w="19050">
            <a:solidFill>
              <a:srgbClr val="00D4FF"/>
            </a:solidFill>
            <a:prstDash val="solid"/>
          </a:ln>
          <a:effectLst>
            <a:outerShdw blurRad="127000" dist="38100" dir="8100000" algn="bl" rotWithShape="0">
              <a:srgbClr val="000000">
                <a:alpha val="30000"/>
              </a:srgbClr>
            </a:outerShdw>
          </a:effectLst>
        </p:spPr>
      </p:sp>
      <p:sp>
        <p:nvSpPr>
          <p:cNvPr id="11" name="Text 9"/>
          <p:cNvSpPr/>
          <p:nvPr/>
        </p:nvSpPr>
        <p:spPr>
          <a:xfrm>
            <a:off x="384048" y="1335024"/>
            <a:ext cx="8394192" cy="329184"/>
          </a:xfrm>
          <a:prstGeom prst="rect">
            <a:avLst/>
          </a:prstGeom>
          <a:noFill/>
          <a:ln/>
        </p:spPr>
        <p:txBody>
          <a:bodyPr wrap="square" rtlCol="0" anchor="ctr"/>
          <a:lstStyle/>
          <a:p>
            <a:pPr marL="0" indent="0">
              <a:buNone/>
            </a:pPr>
            <a:r>
              <a:rPr lang="en-US" sz="1050" dirty="0">
                <a:solidFill>
                  <a:srgbClr val="FFFFFF"/>
                </a:solidFill>
              </a:rPr>
              <a:t>📌  As EV adoption grows, operators need to predict future demand to pre-emptively add plugs, staff stations, and manage grid load before shortages occur.</a:t>
            </a:r>
            <a:endParaRPr lang="en-US" sz="1050" dirty="0"/>
          </a:p>
        </p:txBody>
      </p:sp>
      <p:sp>
        <p:nvSpPr>
          <p:cNvPr id="12" name="Shape 10"/>
          <p:cNvSpPr/>
          <p:nvPr/>
        </p:nvSpPr>
        <p:spPr>
          <a:xfrm>
            <a:off x="5541264" y="1920240"/>
            <a:ext cx="3346704" cy="2057400"/>
          </a:xfrm>
          <a:prstGeom prst="rect">
            <a:avLst/>
          </a:prstGeom>
          <a:solidFill>
            <a:srgbClr val="111C2E"/>
          </a:solidFill>
          <a:ln w="12700">
            <a:solidFill>
              <a:srgbClr val="00D4FF"/>
            </a:solidFill>
            <a:prstDash val="solid"/>
          </a:ln>
          <a:effectLst>
            <a:outerShdw blurRad="127000" dist="38100" dir="8100000" algn="bl" rotWithShape="0">
              <a:srgbClr val="000000">
                <a:alpha val="30000"/>
              </a:srgbClr>
            </a:outerShdw>
          </a:effectLst>
        </p:spPr>
      </p:sp>
      <p:sp>
        <p:nvSpPr>
          <p:cNvPr id="13" name="Text 11"/>
          <p:cNvSpPr/>
          <p:nvPr/>
        </p:nvSpPr>
        <p:spPr>
          <a:xfrm>
            <a:off x="5650992" y="1993392"/>
            <a:ext cx="3145536" cy="237744"/>
          </a:xfrm>
          <a:prstGeom prst="rect">
            <a:avLst/>
          </a:prstGeom>
          <a:noFill/>
          <a:ln/>
        </p:spPr>
        <p:txBody>
          <a:bodyPr wrap="square" rtlCol="0" anchor="ctr"/>
          <a:lstStyle/>
          <a:p>
            <a:pPr marL="0" indent="0">
              <a:buNone/>
            </a:pPr>
            <a:r>
              <a:rPr lang="en-US" sz="1050" b="1" dirty="0">
                <a:solidFill>
                  <a:srgbClr val="00D4FF"/>
                </a:solidFill>
              </a:rPr>
              <a:t>📊 Model Configuration</a:t>
            </a:r>
            <a:endParaRPr lang="en-US" sz="1050" dirty="0"/>
          </a:p>
        </p:txBody>
      </p:sp>
      <p:sp>
        <p:nvSpPr>
          <p:cNvPr id="14" name="Shape 12"/>
          <p:cNvSpPr/>
          <p:nvPr/>
        </p:nvSpPr>
        <p:spPr>
          <a:xfrm>
            <a:off x="5577840" y="2286000"/>
            <a:ext cx="3273552" cy="256032"/>
          </a:xfrm>
          <a:prstGeom prst="rect">
            <a:avLst/>
          </a:prstGeom>
          <a:solidFill>
            <a:srgbClr val="0F1F35"/>
          </a:solidFill>
          <a:ln w="12700">
            <a:solidFill>
              <a:srgbClr val="1A2E4A"/>
            </a:solidFill>
            <a:prstDash val="solid"/>
          </a:ln>
        </p:spPr>
      </p:sp>
      <p:sp>
        <p:nvSpPr>
          <p:cNvPr id="15" name="Text 13"/>
          <p:cNvSpPr/>
          <p:nvPr/>
        </p:nvSpPr>
        <p:spPr>
          <a:xfrm>
            <a:off x="5650992" y="2322576"/>
            <a:ext cx="1463040" cy="182880"/>
          </a:xfrm>
          <a:prstGeom prst="rect">
            <a:avLst/>
          </a:prstGeom>
          <a:noFill/>
          <a:ln/>
        </p:spPr>
        <p:txBody>
          <a:bodyPr wrap="square" rtlCol="0" anchor="ctr"/>
          <a:lstStyle/>
          <a:p>
            <a:pPr marL="0" indent="0">
              <a:buNone/>
            </a:pPr>
            <a:r>
              <a:rPr lang="en-US" sz="950" dirty="0">
                <a:solidFill>
                  <a:srgbClr val="7A90B0"/>
                </a:solidFill>
              </a:rPr>
              <a:t>Algorithm</a:t>
            </a:r>
            <a:endParaRPr lang="en-US" sz="950" dirty="0"/>
          </a:p>
        </p:txBody>
      </p:sp>
      <p:sp>
        <p:nvSpPr>
          <p:cNvPr id="16" name="Text 14"/>
          <p:cNvSpPr/>
          <p:nvPr/>
        </p:nvSpPr>
        <p:spPr>
          <a:xfrm>
            <a:off x="7150608" y="2322576"/>
            <a:ext cx="1627632" cy="182880"/>
          </a:xfrm>
          <a:prstGeom prst="rect">
            <a:avLst/>
          </a:prstGeom>
          <a:noFill/>
          <a:ln/>
        </p:spPr>
        <p:txBody>
          <a:bodyPr wrap="square" rtlCol="0" anchor="ctr"/>
          <a:lstStyle/>
          <a:p>
            <a:pPr marL="0" indent="0">
              <a:buNone/>
            </a:pPr>
            <a:r>
              <a:rPr lang="en-US" sz="950" b="1" dirty="0">
                <a:solidFill>
                  <a:srgbClr val="FFFFFF"/>
                </a:solidFill>
              </a:rPr>
              <a:t>Random Forest Regressor</a:t>
            </a:r>
            <a:endParaRPr lang="en-US" sz="950" dirty="0"/>
          </a:p>
        </p:txBody>
      </p:sp>
      <p:sp>
        <p:nvSpPr>
          <p:cNvPr id="17" name="Shape 15"/>
          <p:cNvSpPr/>
          <p:nvPr/>
        </p:nvSpPr>
        <p:spPr>
          <a:xfrm>
            <a:off x="5577840" y="2578608"/>
            <a:ext cx="3273552" cy="256032"/>
          </a:xfrm>
          <a:prstGeom prst="rect">
            <a:avLst/>
          </a:prstGeom>
          <a:solidFill>
            <a:srgbClr val="0D1829"/>
          </a:solidFill>
          <a:ln w="12700">
            <a:solidFill>
              <a:srgbClr val="1A2E4A"/>
            </a:solidFill>
            <a:prstDash val="solid"/>
          </a:ln>
        </p:spPr>
      </p:sp>
      <p:sp>
        <p:nvSpPr>
          <p:cNvPr id="18" name="Text 16"/>
          <p:cNvSpPr/>
          <p:nvPr/>
        </p:nvSpPr>
        <p:spPr>
          <a:xfrm>
            <a:off x="5650992" y="2615184"/>
            <a:ext cx="1463040" cy="182880"/>
          </a:xfrm>
          <a:prstGeom prst="rect">
            <a:avLst/>
          </a:prstGeom>
          <a:noFill/>
          <a:ln/>
        </p:spPr>
        <p:txBody>
          <a:bodyPr wrap="square" rtlCol="0" anchor="ctr"/>
          <a:lstStyle/>
          <a:p>
            <a:pPr marL="0" indent="0">
              <a:buNone/>
            </a:pPr>
            <a:r>
              <a:rPr lang="en-US" sz="950" dirty="0">
                <a:solidFill>
                  <a:srgbClr val="7A90B0"/>
                </a:solidFill>
              </a:rPr>
              <a:t>Features</a:t>
            </a:r>
            <a:endParaRPr lang="en-US" sz="950" dirty="0"/>
          </a:p>
        </p:txBody>
      </p:sp>
      <p:sp>
        <p:nvSpPr>
          <p:cNvPr id="19" name="Text 17"/>
          <p:cNvSpPr/>
          <p:nvPr/>
        </p:nvSpPr>
        <p:spPr>
          <a:xfrm>
            <a:off x="7150608" y="2615184"/>
            <a:ext cx="1627632" cy="182880"/>
          </a:xfrm>
          <a:prstGeom prst="rect">
            <a:avLst/>
          </a:prstGeom>
          <a:noFill/>
          <a:ln/>
        </p:spPr>
        <p:txBody>
          <a:bodyPr wrap="square" rtlCol="0" anchor="ctr"/>
          <a:lstStyle/>
          <a:p>
            <a:pPr marL="0" indent="0">
              <a:buNone/>
            </a:pPr>
            <a:r>
              <a:rPr lang="en-US" sz="950" b="1" dirty="0">
                <a:solidFill>
                  <a:srgbClr val="FFFFFF"/>
                </a:solidFill>
              </a:rPr>
              <a:t>Hour, Day, Month, District</a:t>
            </a:r>
            <a:endParaRPr lang="en-US" sz="950" dirty="0"/>
          </a:p>
        </p:txBody>
      </p:sp>
      <p:sp>
        <p:nvSpPr>
          <p:cNvPr id="20" name="Shape 18"/>
          <p:cNvSpPr/>
          <p:nvPr/>
        </p:nvSpPr>
        <p:spPr>
          <a:xfrm>
            <a:off x="5577840" y="2871216"/>
            <a:ext cx="3273552" cy="256032"/>
          </a:xfrm>
          <a:prstGeom prst="rect">
            <a:avLst/>
          </a:prstGeom>
          <a:solidFill>
            <a:srgbClr val="0F1F35"/>
          </a:solidFill>
          <a:ln w="12700">
            <a:solidFill>
              <a:srgbClr val="1A2E4A"/>
            </a:solidFill>
            <a:prstDash val="solid"/>
          </a:ln>
        </p:spPr>
      </p:sp>
      <p:sp>
        <p:nvSpPr>
          <p:cNvPr id="21" name="Text 19"/>
          <p:cNvSpPr/>
          <p:nvPr/>
        </p:nvSpPr>
        <p:spPr>
          <a:xfrm>
            <a:off x="5650992" y="2907792"/>
            <a:ext cx="1463040" cy="182880"/>
          </a:xfrm>
          <a:prstGeom prst="rect">
            <a:avLst/>
          </a:prstGeom>
          <a:noFill/>
          <a:ln/>
        </p:spPr>
        <p:txBody>
          <a:bodyPr wrap="square" rtlCol="0" anchor="ctr"/>
          <a:lstStyle/>
          <a:p>
            <a:pPr marL="0" indent="0">
              <a:buNone/>
            </a:pPr>
            <a:r>
              <a:rPr lang="en-US" sz="950" dirty="0">
                <a:solidFill>
                  <a:srgbClr val="7A90B0"/>
                </a:solidFill>
              </a:rPr>
              <a:t>Target</a:t>
            </a:r>
            <a:endParaRPr lang="en-US" sz="950" dirty="0"/>
          </a:p>
        </p:txBody>
      </p:sp>
      <p:sp>
        <p:nvSpPr>
          <p:cNvPr id="22" name="Text 20"/>
          <p:cNvSpPr/>
          <p:nvPr/>
        </p:nvSpPr>
        <p:spPr>
          <a:xfrm>
            <a:off x="7150608" y="2907792"/>
            <a:ext cx="1627632" cy="182880"/>
          </a:xfrm>
          <a:prstGeom prst="rect">
            <a:avLst/>
          </a:prstGeom>
          <a:noFill/>
          <a:ln/>
        </p:spPr>
        <p:txBody>
          <a:bodyPr wrap="square" rtlCol="0" anchor="ctr"/>
          <a:lstStyle/>
          <a:p>
            <a:pPr marL="0" indent="0">
              <a:buNone/>
            </a:pPr>
            <a:r>
              <a:rPr lang="en-US" sz="950" b="1" dirty="0">
                <a:solidFill>
                  <a:srgbClr val="FFFFFF"/>
                </a:solidFill>
              </a:rPr>
              <a:t>Session Count (daily)</a:t>
            </a:r>
            <a:endParaRPr lang="en-US" sz="950" dirty="0"/>
          </a:p>
        </p:txBody>
      </p:sp>
      <p:sp>
        <p:nvSpPr>
          <p:cNvPr id="23" name="Shape 21"/>
          <p:cNvSpPr/>
          <p:nvPr/>
        </p:nvSpPr>
        <p:spPr>
          <a:xfrm>
            <a:off x="5577840" y="3163824"/>
            <a:ext cx="3273552" cy="256032"/>
          </a:xfrm>
          <a:prstGeom prst="rect">
            <a:avLst/>
          </a:prstGeom>
          <a:solidFill>
            <a:srgbClr val="0D1829"/>
          </a:solidFill>
          <a:ln w="12700">
            <a:solidFill>
              <a:srgbClr val="1A2E4A"/>
            </a:solidFill>
            <a:prstDash val="solid"/>
          </a:ln>
        </p:spPr>
      </p:sp>
      <p:sp>
        <p:nvSpPr>
          <p:cNvPr id="24" name="Text 22"/>
          <p:cNvSpPr/>
          <p:nvPr/>
        </p:nvSpPr>
        <p:spPr>
          <a:xfrm>
            <a:off x="5650992" y="3200400"/>
            <a:ext cx="1463040" cy="182880"/>
          </a:xfrm>
          <a:prstGeom prst="rect">
            <a:avLst/>
          </a:prstGeom>
          <a:noFill/>
          <a:ln/>
        </p:spPr>
        <p:txBody>
          <a:bodyPr wrap="square" rtlCol="0" anchor="ctr"/>
          <a:lstStyle/>
          <a:p>
            <a:pPr marL="0" indent="0">
              <a:buNone/>
            </a:pPr>
            <a:r>
              <a:rPr lang="en-US" sz="950" dirty="0">
                <a:solidFill>
                  <a:srgbClr val="7A90B0"/>
                </a:solidFill>
              </a:rPr>
              <a:t>Train/Test Split</a:t>
            </a:r>
            <a:endParaRPr lang="en-US" sz="950" dirty="0"/>
          </a:p>
        </p:txBody>
      </p:sp>
      <p:sp>
        <p:nvSpPr>
          <p:cNvPr id="25" name="Text 23"/>
          <p:cNvSpPr/>
          <p:nvPr/>
        </p:nvSpPr>
        <p:spPr>
          <a:xfrm>
            <a:off x="7150608" y="3200400"/>
            <a:ext cx="1627632" cy="182880"/>
          </a:xfrm>
          <a:prstGeom prst="rect">
            <a:avLst/>
          </a:prstGeom>
          <a:noFill/>
          <a:ln/>
        </p:spPr>
        <p:txBody>
          <a:bodyPr wrap="square" rtlCol="0" anchor="ctr"/>
          <a:lstStyle/>
          <a:p>
            <a:pPr marL="0" indent="0">
              <a:buNone/>
            </a:pPr>
            <a:r>
              <a:rPr lang="en-US" sz="950" b="1" dirty="0">
                <a:solidFill>
                  <a:srgbClr val="FFFFFF"/>
                </a:solidFill>
              </a:rPr>
              <a:t>80% / 20%</a:t>
            </a:r>
            <a:endParaRPr lang="en-US" sz="950" dirty="0"/>
          </a:p>
        </p:txBody>
      </p:sp>
      <p:sp>
        <p:nvSpPr>
          <p:cNvPr id="26" name="Shape 24"/>
          <p:cNvSpPr/>
          <p:nvPr/>
        </p:nvSpPr>
        <p:spPr>
          <a:xfrm>
            <a:off x="5577840" y="3456432"/>
            <a:ext cx="3273552" cy="256032"/>
          </a:xfrm>
          <a:prstGeom prst="rect">
            <a:avLst/>
          </a:prstGeom>
          <a:solidFill>
            <a:srgbClr val="0F1F35"/>
          </a:solidFill>
          <a:ln w="12700">
            <a:solidFill>
              <a:srgbClr val="1A2E4A"/>
            </a:solidFill>
            <a:prstDash val="solid"/>
          </a:ln>
        </p:spPr>
      </p:sp>
      <p:sp>
        <p:nvSpPr>
          <p:cNvPr id="27" name="Text 25"/>
          <p:cNvSpPr/>
          <p:nvPr/>
        </p:nvSpPr>
        <p:spPr>
          <a:xfrm>
            <a:off x="5650992" y="3493008"/>
            <a:ext cx="1463040" cy="182880"/>
          </a:xfrm>
          <a:prstGeom prst="rect">
            <a:avLst/>
          </a:prstGeom>
          <a:noFill/>
          <a:ln/>
        </p:spPr>
        <p:txBody>
          <a:bodyPr wrap="square" rtlCol="0" anchor="ctr"/>
          <a:lstStyle/>
          <a:p>
            <a:pPr marL="0" indent="0">
              <a:buNone/>
            </a:pPr>
            <a:r>
              <a:rPr lang="en-US" sz="950" dirty="0">
                <a:solidFill>
                  <a:srgbClr val="7A90B0"/>
                </a:solidFill>
              </a:rPr>
              <a:t>n_estimators</a:t>
            </a:r>
            <a:endParaRPr lang="en-US" sz="950" dirty="0"/>
          </a:p>
        </p:txBody>
      </p:sp>
      <p:sp>
        <p:nvSpPr>
          <p:cNvPr id="28" name="Text 26"/>
          <p:cNvSpPr/>
          <p:nvPr/>
        </p:nvSpPr>
        <p:spPr>
          <a:xfrm>
            <a:off x="7150608" y="3493008"/>
            <a:ext cx="1627632" cy="182880"/>
          </a:xfrm>
          <a:prstGeom prst="rect">
            <a:avLst/>
          </a:prstGeom>
          <a:noFill/>
          <a:ln/>
        </p:spPr>
        <p:txBody>
          <a:bodyPr wrap="square" rtlCol="0" anchor="ctr"/>
          <a:lstStyle/>
          <a:p>
            <a:pPr marL="0" indent="0">
              <a:buNone/>
            </a:pPr>
            <a:r>
              <a:rPr lang="en-US" sz="950" b="1" dirty="0">
                <a:solidFill>
                  <a:srgbClr val="FFFFFF"/>
                </a:solidFill>
              </a:rPr>
              <a:t>100 trees</a:t>
            </a:r>
            <a:endParaRPr lang="en-US" sz="950" dirty="0"/>
          </a:p>
        </p:txBody>
      </p:sp>
      <p:sp>
        <p:nvSpPr>
          <p:cNvPr id="29" name="Shape 27"/>
          <p:cNvSpPr/>
          <p:nvPr/>
        </p:nvSpPr>
        <p:spPr>
          <a:xfrm>
            <a:off x="256032" y="4041648"/>
            <a:ext cx="5120640" cy="914400"/>
          </a:xfrm>
          <a:prstGeom prst="rect">
            <a:avLst/>
          </a:prstGeom>
          <a:solidFill>
            <a:srgbClr val="0D1117"/>
          </a:solidFill>
          <a:ln w="12700">
            <a:solidFill>
              <a:srgbClr val="1A2E4A"/>
            </a:solidFill>
            <a:prstDash val="solid"/>
          </a:ln>
          <a:effectLst>
            <a:outerShdw blurRad="127000" dist="38100" dir="8100000" algn="bl" rotWithShape="0">
              <a:srgbClr val="000000">
                <a:alpha val="30000"/>
              </a:srgbClr>
            </a:outerShdw>
          </a:effectLst>
        </p:spPr>
      </p:sp>
      <p:sp>
        <p:nvSpPr>
          <p:cNvPr id="30" name="Shape 28"/>
          <p:cNvSpPr/>
          <p:nvPr/>
        </p:nvSpPr>
        <p:spPr>
          <a:xfrm>
            <a:off x="256032" y="4041648"/>
            <a:ext cx="5120640" cy="274320"/>
          </a:xfrm>
          <a:prstGeom prst="rect">
            <a:avLst/>
          </a:prstGeom>
          <a:solidFill>
            <a:srgbClr val="1C2333"/>
          </a:solidFill>
          <a:ln w="12700">
            <a:solidFill>
              <a:srgbClr val="1A2E4A"/>
            </a:solidFill>
            <a:prstDash val="solid"/>
          </a:ln>
        </p:spPr>
      </p:sp>
      <p:sp>
        <p:nvSpPr>
          <p:cNvPr id="31" name="Text 29"/>
          <p:cNvSpPr/>
          <p:nvPr/>
        </p:nvSpPr>
        <p:spPr>
          <a:xfrm>
            <a:off x="347472" y="4078224"/>
            <a:ext cx="4937760" cy="201168"/>
          </a:xfrm>
          <a:prstGeom prst="rect">
            <a:avLst/>
          </a:prstGeom>
          <a:noFill/>
          <a:ln/>
        </p:spPr>
        <p:txBody>
          <a:bodyPr wrap="square" rtlCol="0" anchor="ctr"/>
          <a:lstStyle/>
          <a:p>
            <a:pPr marL="0" indent="0">
              <a:buNone/>
            </a:pPr>
            <a:r>
              <a:rPr lang="en-US" sz="900" dirty="0">
                <a:solidFill>
                  <a:srgbClr val="00D4FF"/>
                </a:solidFill>
              </a:rPr>
              <a:t>⚙  Model Training</a:t>
            </a:r>
            <a:endParaRPr lang="en-US" sz="900" dirty="0"/>
          </a:p>
        </p:txBody>
      </p:sp>
      <p:sp>
        <p:nvSpPr>
          <p:cNvPr id="32" name="Text 30"/>
          <p:cNvSpPr/>
          <p:nvPr/>
        </p:nvSpPr>
        <p:spPr>
          <a:xfrm>
            <a:off x="365760" y="4352544"/>
            <a:ext cx="4919472" cy="530352"/>
          </a:xfrm>
          <a:prstGeom prst="rect">
            <a:avLst/>
          </a:prstGeom>
          <a:noFill/>
          <a:ln/>
        </p:spPr>
        <p:txBody>
          <a:bodyPr wrap="square" rtlCol="0" anchor="ctr"/>
          <a:lstStyle/>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X = daily_demand[['month','dow']]</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le = LabelEncoder()</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X['district_enc'] = le.fit_transform(</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daily_demand['district'])</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y = daily_demand['session_count']</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X_train,X_test,y_train,y_test = train_test_split(</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X,y,test_size=0.2,random_state=42)</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model = RandomForestRegressor(</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n_estimators=100,random_state=42)</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model.fit(X_train, y_train)</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y_pred = model.predict(X_test)</a:t>
            </a:r>
            <a:endParaRPr lang="en-US" sz="850" dirty="0"/>
          </a:p>
        </p:txBody>
      </p:sp>
      <p:sp>
        <p:nvSpPr>
          <p:cNvPr id="33" name="Shape 31"/>
          <p:cNvSpPr/>
          <p:nvPr/>
        </p:nvSpPr>
        <p:spPr>
          <a:xfrm>
            <a:off x="5541264" y="4041648"/>
            <a:ext cx="3346704" cy="914400"/>
          </a:xfrm>
          <a:prstGeom prst="rect">
            <a:avLst/>
          </a:prstGeom>
          <a:solidFill>
            <a:srgbClr val="111C2E"/>
          </a:solidFill>
          <a:ln w="12700">
            <a:solidFill>
              <a:srgbClr val="00E5A0"/>
            </a:solidFill>
            <a:prstDash val="solid"/>
          </a:ln>
        </p:spPr>
      </p:sp>
      <p:sp>
        <p:nvSpPr>
          <p:cNvPr id="34" name="Text 32"/>
          <p:cNvSpPr/>
          <p:nvPr/>
        </p:nvSpPr>
        <p:spPr>
          <a:xfrm>
            <a:off x="5650992" y="4114800"/>
            <a:ext cx="3145536" cy="237744"/>
          </a:xfrm>
          <a:prstGeom prst="rect">
            <a:avLst/>
          </a:prstGeom>
          <a:noFill/>
          <a:ln/>
        </p:spPr>
        <p:txBody>
          <a:bodyPr wrap="square" rtlCol="0" anchor="ctr"/>
          <a:lstStyle/>
          <a:p>
            <a:pPr marL="0" indent="0">
              <a:buNone/>
            </a:pPr>
            <a:r>
              <a:rPr lang="en-US" sz="1050" b="1" dirty="0">
                <a:solidFill>
                  <a:srgbClr val="00E5A0"/>
                </a:solidFill>
              </a:rPr>
              <a:t>✅  Performance Metrics</a:t>
            </a:r>
            <a:endParaRPr lang="en-US" sz="1050" dirty="0"/>
          </a:p>
        </p:txBody>
      </p:sp>
      <p:sp>
        <p:nvSpPr>
          <p:cNvPr id="35" name="Text 33"/>
          <p:cNvSpPr/>
          <p:nvPr/>
        </p:nvSpPr>
        <p:spPr>
          <a:xfrm>
            <a:off x="5650992" y="4407408"/>
            <a:ext cx="822960" cy="164592"/>
          </a:xfrm>
          <a:prstGeom prst="rect">
            <a:avLst/>
          </a:prstGeom>
          <a:noFill/>
          <a:ln/>
        </p:spPr>
        <p:txBody>
          <a:bodyPr wrap="square" rtlCol="0" anchor="ctr"/>
          <a:lstStyle/>
          <a:p>
            <a:pPr marL="0" indent="0">
              <a:buNone/>
            </a:pPr>
            <a:r>
              <a:rPr lang="en-US" sz="950" dirty="0">
                <a:solidFill>
                  <a:srgbClr val="7A90B0"/>
                </a:solidFill>
              </a:rPr>
              <a:t>MAE:</a:t>
            </a:r>
            <a:endParaRPr lang="en-US" sz="950" dirty="0"/>
          </a:p>
        </p:txBody>
      </p:sp>
      <p:sp>
        <p:nvSpPr>
          <p:cNvPr id="36" name="Text 34"/>
          <p:cNvSpPr/>
          <p:nvPr/>
        </p:nvSpPr>
        <p:spPr>
          <a:xfrm>
            <a:off x="6492240" y="4407408"/>
            <a:ext cx="2286000" cy="164592"/>
          </a:xfrm>
          <a:prstGeom prst="rect">
            <a:avLst/>
          </a:prstGeom>
          <a:noFill/>
          <a:ln/>
        </p:spPr>
        <p:txBody>
          <a:bodyPr wrap="square" rtlCol="0" anchor="ctr"/>
          <a:lstStyle/>
          <a:p>
            <a:pPr marL="0" indent="0">
              <a:buNone/>
            </a:pPr>
            <a:r>
              <a:rPr lang="en-US" sz="950" b="1" dirty="0">
                <a:solidFill>
                  <a:srgbClr val="00E5A0"/>
                </a:solidFill>
              </a:rPr>
              <a:t>~12.4 sessions/day</a:t>
            </a:r>
            <a:endParaRPr lang="en-US" sz="950" dirty="0"/>
          </a:p>
        </p:txBody>
      </p:sp>
      <p:sp>
        <p:nvSpPr>
          <p:cNvPr id="37" name="Text 35"/>
          <p:cNvSpPr/>
          <p:nvPr/>
        </p:nvSpPr>
        <p:spPr>
          <a:xfrm>
            <a:off x="5650992" y="4572000"/>
            <a:ext cx="822960" cy="164592"/>
          </a:xfrm>
          <a:prstGeom prst="rect">
            <a:avLst/>
          </a:prstGeom>
          <a:noFill/>
          <a:ln/>
        </p:spPr>
        <p:txBody>
          <a:bodyPr wrap="square" rtlCol="0" anchor="ctr"/>
          <a:lstStyle/>
          <a:p>
            <a:pPr marL="0" indent="0">
              <a:buNone/>
            </a:pPr>
            <a:r>
              <a:rPr lang="en-US" sz="950" dirty="0">
                <a:solidFill>
                  <a:srgbClr val="7A90B0"/>
                </a:solidFill>
              </a:rPr>
              <a:t>R² Score:</a:t>
            </a:r>
            <a:endParaRPr lang="en-US" sz="950" dirty="0"/>
          </a:p>
        </p:txBody>
      </p:sp>
      <p:sp>
        <p:nvSpPr>
          <p:cNvPr id="38" name="Text 36"/>
          <p:cNvSpPr/>
          <p:nvPr/>
        </p:nvSpPr>
        <p:spPr>
          <a:xfrm>
            <a:off x="6492240" y="4572000"/>
            <a:ext cx="2286000" cy="164592"/>
          </a:xfrm>
          <a:prstGeom prst="rect">
            <a:avLst/>
          </a:prstGeom>
          <a:noFill/>
          <a:ln/>
        </p:spPr>
        <p:txBody>
          <a:bodyPr wrap="square" rtlCol="0" anchor="ctr"/>
          <a:lstStyle/>
          <a:p>
            <a:pPr marL="0" indent="0">
              <a:buNone/>
            </a:pPr>
            <a:r>
              <a:rPr lang="en-US" sz="950" b="1" dirty="0">
                <a:solidFill>
                  <a:srgbClr val="00E5A0"/>
                </a:solidFill>
              </a:rPr>
              <a:t>0.87 (87% variance)</a:t>
            </a:r>
            <a:endParaRPr lang="en-US" sz="950" dirty="0"/>
          </a:p>
        </p:txBody>
      </p:sp>
      <p:sp>
        <p:nvSpPr>
          <p:cNvPr id="39" name="Text 37"/>
          <p:cNvSpPr/>
          <p:nvPr/>
        </p:nvSpPr>
        <p:spPr>
          <a:xfrm>
            <a:off x="5650992" y="4736592"/>
            <a:ext cx="822960" cy="164592"/>
          </a:xfrm>
          <a:prstGeom prst="rect">
            <a:avLst/>
          </a:prstGeom>
          <a:noFill/>
          <a:ln/>
        </p:spPr>
        <p:txBody>
          <a:bodyPr wrap="square" rtlCol="0" anchor="ctr"/>
          <a:lstStyle/>
          <a:p>
            <a:pPr marL="0" indent="0">
              <a:buNone/>
            </a:pPr>
            <a:r>
              <a:rPr lang="en-US" sz="950" dirty="0">
                <a:solidFill>
                  <a:srgbClr val="7A90B0"/>
                </a:solidFill>
              </a:rPr>
              <a:t>RMSE:</a:t>
            </a:r>
            <a:endParaRPr lang="en-US" sz="950" dirty="0"/>
          </a:p>
        </p:txBody>
      </p:sp>
      <p:sp>
        <p:nvSpPr>
          <p:cNvPr id="40" name="Text 38"/>
          <p:cNvSpPr/>
          <p:nvPr/>
        </p:nvSpPr>
        <p:spPr>
          <a:xfrm>
            <a:off x="6492240" y="4736592"/>
            <a:ext cx="2286000" cy="164592"/>
          </a:xfrm>
          <a:prstGeom prst="rect">
            <a:avLst/>
          </a:prstGeom>
          <a:noFill/>
          <a:ln/>
        </p:spPr>
        <p:txBody>
          <a:bodyPr wrap="square" rtlCol="0" anchor="ctr"/>
          <a:lstStyle/>
          <a:p>
            <a:pPr marL="0" indent="0">
              <a:buNone/>
            </a:pPr>
            <a:r>
              <a:rPr lang="en-US" sz="950" b="1" dirty="0">
                <a:solidFill>
                  <a:srgbClr val="00E5A0"/>
                </a:solidFill>
              </a:rPr>
              <a:t>~18.2 sessions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E5A0"/>
          </a:solidFill>
          <a:ln w="12700">
            <a:solidFill>
              <a:srgbClr val="00E5A0"/>
            </a:solidFill>
            <a:prstDash val="solid"/>
          </a:ln>
        </p:spPr>
      </p:sp>
      <p:sp>
        <p:nvSpPr>
          <p:cNvPr id="3" name="Text 1"/>
          <p:cNvSpPr/>
          <p:nvPr/>
        </p:nvSpPr>
        <p:spPr>
          <a:xfrm>
            <a:off x="256032" y="146304"/>
            <a:ext cx="8686800" cy="237744"/>
          </a:xfrm>
          <a:prstGeom prst="rect">
            <a:avLst/>
          </a:prstGeom>
          <a:noFill/>
          <a:ln/>
        </p:spPr>
        <p:txBody>
          <a:bodyPr wrap="square" rtlCol="0" anchor="ctr"/>
          <a:lstStyle/>
          <a:p>
            <a:pPr marL="0" indent="0">
              <a:buNone/>
            </a:pPr>
            <a:r>
              <a:rPr lang="en-US" sz="800" b="1" kern="0" spc="250" dirty="0">
                <a:solidFill>
                  <a:srgbClr val="00E5A0"/>
                </a:solidFill>
              </a:rPr>
              <a:t>ML MODEL 2  ·  COST REGRESSION</a:t>
            </a:r>
            <a:endParaRPr lang="en-US" sz="800" dirty="0"/>
          </a:p>
        </p:txBody>
      </p:sp>
      <p:sp>
        <p:nvSpPr>
          <p:cNvPr id="4" name="Text 2"/>
          <p:cNvSpPr/>
          <p:nvPr/>
        </p:nvSpPr>
        <p:spPr>
          <a:xfrm>
            <a:off x="256032" y="384048"/>
            <a:ext cx="8595360" cy="530352"/>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Predicting Total Session Cost</a:t>
            </a:r>
            <a:endParaRPr lang="en-US" sz="2800" dirty="0"/>
          </a:p>
        </p:txBody>
      </p:sp>
      <p:sp>
        <p:nvSpPr>
          <p:cNvPr id="5" name="Shape 3"/>
          <p:cNvSpPr/>
          <p:nvPr/>
        </p:nvSpPr>
        <p:spPr>
          <a:xfrm>
            <a:off x="256032" y="987552"/>
            <a:ext cx="8631936" cy="18288"/>
          </a:xfrm>
          <a:prstGeom prst="rect">
            <a:avLst/>
          </a:prstGeom>
          <a:solidFill>
            <a:srgbClr val="1A2E4A"/>
          </a:solidFill>
          <a:ln w="12700">
            <a:solidFill>
              <a:srgbClr val="1A2E4A"/>
            </a:solidFill>
            <a:prstDash val="solid"/>
          </a:ln>
        </p:spPr>
      </p:sp>
      <p:sp>
        <p:nvSpPr>
          <p:cNvPr id="6" name="Shape 4"/>
          <p:cNvSpPr/>
          <p:nvPr/>
        </p:nvSpPr>
        <p:spPr>
          <a:xfrm>
            <a:off x="256032" y="1353312"/>
            <a:ext cx="8631936" cy="475488"/>
          </a:xfrm>
          <a:prstGeom prst="rect">
            <a:avLst/>
          </a:prstGeom>
          <a:solidFill>
            <a:srgbClr val="0D1829"/>
          </a:solidFill>
          <a:ln w="12700">
            <a:solidFill>
              <a:srgbClr val="00E5A0"/>
            </a:solidFill>
            <a:prstDash val="solid"/>
          </a:ln>
        </p:spPr>
      </p:sp>
      <p:sp>
        <p:nvSpPr>
          <p:cNvPr id="7" name="Text 5"/>
          <p:cNvSpPr/>
          <p:nvPr/>
        </p:nvSpPr>
        <p:spPr>
          <a:xfrm>
            <a:off x="384048" y="1408176"/>
            <a:ext cx="8394192" cy="347472"/>
          </a:xfrm>
          <a:prstGeom prst="rect">
            <a:avLst/>
          </a:prstGeom>
          <a:noFill/>
          <a:ln/>
        </p:spPr>
        <p:txBody>
          <a:bodyPr wrap="square" rtlCol="0" anchor="ctr"/>
          <a:lstStyle/>
          <a:p>
            <a:pPr marL="0" indent="0">
              <a:buNone/>
            </a:pPr>
            <a:r>
              <a:rPr lang="en-US" sz="1050" dirty="0">
                <a:solidFill>
                  <a:srgbClr val="FFFFFF"/>
                </a:solidFill>
              </a:rPr>
              <a:t>📌  Problem: Dynamic pricing models need accurate session cost prediction. Knowing cost drivers helps operators set competitive rates and customers plan charging budgets.</a:t>
            </a:r>
            <a:endParaRPr lang="en-US" sz="1050" dirty="0"/>
          </a:p>
        </p:txBody>
      </p:sp>
      <p:sp>
        <p:nvSpPr>
          <p:cNvPr id="8" name="Shape 6"/>
          <p:cNvSpPr/>
          <p:nvPr/>
        </p:nvSpPr>
        <p:spPr>
          <a:xfrm>
            <a:off x="256032" y="1938528"/>
            <a:ext cx="5120640" cy="1993392"/>
          </a:xfrm>
          <a:prstGeom prst="rect">
            <a:avLst/>
          </a:prstGeom>
          <a:solidFill>
            <a:srgbClr val="0D1117"/>
          </a:solidFill>
          <a:ln w="12700">
            <a:solidFill>
              <a:srgbClr val="1A2E4A"/>
            </a:solidFill>
            <a:prstDash val="solid"/>
          </a:ln>
          <a:effectLst>
            <a:outerShdw blurRad="127000" dist="38100" dir="8100000" algn="bl" rotWithShape="0">
              <a:srgbClr val="000000">
                <a:alpha val="30000"/>
              </a:srgbClr>
            </a:outerShdw>
          </a:effectLst>
        </p:spPr>
      </p:sp>
      <p:sp>
        <p:nvSpPr>
          <p:cNvPr id="9" name="Shape 7"/>
          <p:cNvSpPr/>
          <p:nvPr/>
        </p:nvSpPr>
        <p:spPr>
          <a:xfrm>
            <a:off x="256032" y="1938528"/>
            <a:ext cx="5120640" cy="274320"/>
          </a:xfrm>
          <a:prstGeom prst="rect">
            <a:avLst/>
          </a:prstGeom>
          <a:solidFill>
            <a:srgbClr val="1C2333"/>
          </a:solidFill>
          <a:ln w="12700">
            <a:solidFill>
              <a:srgbClr val="1A2E4A"/>
            </a:solidFill>
            <a:prstDash val="solid"/>
          </a:ln>
        </p:spPr>
      </p:sp>
      <p:sp>
        <p:nvSpPr>
          <p:cNvPr id="10" name="Text 8"/>
          <p:cNvSpPr/>
          <p:nvPr/>
        </p:nvSpPr>
        <p:spPr>
          <a:xfrm>
            <a:off x="347472" y="1975104"/>
            <a:ext cx="4937760" cy="201168"/>
          </a:xfrm>
          <a:prstGeom prst="rect">
            <a:avLst/>
          </a:prstGeom>
          <a:noFill/>
          <a:ln/>
        </p:spPr>
        <p:txBody>
          <a:bodyPr wrap="square" rtlCol="0" anchor="ctr"/>
          <a:lstStyle/>
          <a:p>
            <a:pPr marL="0" indent="0">
              <a:buNone/>
            </a:pPr>
            <a:r>
              <a:rPr lang="en-US" sz="900" dirty="0">
                <a:solidFill>
                  <a:srgbClr val="00D4FF"/>
                </a:solidFill>
              </a:rPr>
              <a:t>⚙  Python · Feature Engineering</a:t>
            </a:r>
            <a:endParaRPr lang="en-US" sz="900" dirty="0"/>
          </a:p>
        </p:txBody>
      </p:sp>
      <p:sp>
        <p:nvSpPr>
          <p:cNvPr id="11" name="Text 9"/>
          <p:cNvSpPr/>
          <p:nvPr/>
        </p:nvSpPr>
        <p:spPr>
          <a:xfrm>
            <a:off x="365760" y="2249424"/>
            <a:ext cx="4919472" cy="1609344"/>
          </a:xfrm>
          <a:prstGeom prst="rect">
            <a:avLst/>
          </a:prstGeom>
          <a:noFill/>
          <a:ln/>
        </p:spPr>
        <p:txBody>
          <a:bodyPr wrap="square" rtlCol="0" anchor="ctr"/>
          <a:lstStyle/>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import pandas as pd</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from sklearn.linear_model import LinearRegression</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from sklearn.ensemble import GradientBoostingRegressor</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from sklearn.preprocessing import LabelEncoder</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from sklearn.metrics import r2_score, mean_absolute_error</a:t>
            </a:r>
            <a:endParaRPr lang="en-US" sz="850" dirty="0"/>
          </a:p>
          <a:p>
            <a:pPr marL="0" indent="0">
              <a:lnSpc>
                <a:spcPct val="130000"/>
              </a:lnSpc>
              <a:buNone/>
            </a:pP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Merge sessions with station &amp; customer data</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df = sessions.merge(</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stations[['station_id','district_name']], </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on='station_id')</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df = df.merge(</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customers[['customer_id','income_tier']],</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on='customer_id')</a:t>
            </a:r>
            <a:endParaRPr lang="en-US" sz="850" dirty="0"/>
          </a:p>
          <a:p>
            <a:pPr marL="0" indent="0">
              <a:lnSpc>
                <a:spcPct val="130000"/>
              </a:lnSpc>
              <a:buNone/>
            </a:pP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Feature engineering</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df['hour'] = pd.to_datetime(</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df['session_start_time']).dt.hour</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le = LabelEncoder()</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df['district_enc'] = le.fit_transform(</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df['district_name'])</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df['tier_enc'] = le.fit_transform(</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df['income_tier'])</a:t>
            </a:r>
            <a:endParaRPr lang="en-US" sz="850" dirty="0"/>
          </a:p>
          <a:p>
            <a:pPr marL="0" indent="0">
              <a:lnSpc>
                <a:spcPct val="130000"/>
              </a:lnSpc>
              <a:buNone/>
            </a:pP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features = ['kwh_charged','hour',</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'district_enc','tier_enc']</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X = df[features]</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y = df['total_cost']</a:t>
            </a:r>
            <a:endParaRPr lang="en-US" sz="850" dirty="0"/>
          </a:p>
        </p:txBody>
      </p:sp>
      <p:sp>
        <p:nvSpPr>
          <p:cNvPr id="12" name="Shape 10"/>
          <p:cNvSpPr/>
          <p:nvPr/>
        </p:nvSpPr>
        <p:spPr>
          <a:xfrm>
            <a:off x="256032" y="1298448"/>
            <a:ext cx="8631936" cy="438912"/>
          </a:xfrm>
          <a:prstGeom prst="rect">
            <a:avLst/>
          </a:prstGeom>
          <a:solidFill>
            <a:srgbClr val="0D1829"/>
          </a:solidFill>
          <a:ln w="19050">
            <a:solidFill>
              <a:srgbClr val="00E5A0"/>
            </a:solidFill>
            <a:prstDash val="solid"/>
          </a:ln>
          <a:effectLst>
            <a:outerShdw blurRad="127000" dist="38100" dir="8100000" algn="bl" rotWithShape="0">
              <a:srgbClr val="000000">
                <a:alpha val="30000"/>
              </a:srgbClr>
            </a:outerShdw>
          </a:effectLst>
        </p:spPr>
      </p:sp>
      <p:sp>
        <p:nvSpPr>
          <p:cNvPr id="13" name="Text 11"/>
          <p:cNvSpPr/>
          <p:nvPr/>
        </p:nvSpPr>
        <p:spPr>
          <a:xfrm>
            <a:off x="384048" y="1335024"/>
            <a:ext cx="8394192" cy="329184"/>
          </a:xfrm>
          <a:prstGeom prst="rect">
            <a:avLst/>
          </a:prstGeom>
          <a:noFill/>
          <a:ln/>
        </p:spPr>
        <p:txBody>
          <a:bodyPr wrap="square" rtlCol="0" anchor="ctr"/>
          <a:lstStyle/>
          <a:p>
            <a:pPr marL="0" indent="0">
              <a:buNone/>
            </a:pPr>
            <a:r>
              <a:rPr lang="en-US" sz="1050" dirty="0">
                <a:solidFill>
                  <a:srgbClr val="FFFFFF"/>
                </a:solidFill>
              </a:rPr>
              <a:t>📌  Dynamic pricing models need accurate session cost prediction. Knowing cost drivers helps operators set competitive rates and customers plan charging budgets.</a:t>
            </a:r>
            <a:endParaRPr lang="en-US" sz="1050" dirty="0"/>
          </a:p>
        </p:txBody>
      </p:sp>
      <p:sp>
        <p:nvSpPr>
          <p:cNvPr id="14" name="Shape 12"/>
          <p:cNvSpPr/>
          <p:nvPr/>
        </p:nvSpPr>
        <p:spPr>
          <a:xfrm>
            <a:off x="5541264" y="1920240"/>
            <a:ext cx="3346704" cy="2057400"/>
          </a:xfrm>
          <a:prstGeom prst="rect">
            <a:avLst/>
          </a:prstGeom>
          <a:solidFill>
            <a:srgbClr val="111C2E"/>
          </a:solidFill>
          <a:ln w="12700">
            <a:solidFill>
              <a:srgbClr val="00E5A0"/>
            </a:solidFill>
            <a:prstDash val="solid"/>
          </a:ln>
          <a:effectLst>
            <a:outerShdw blurRad="127000" dist="38100" dir="8100000" algn="bl" rotWithShape="0">
              <a:srgbClr val="000000">
                <a:alpha val="30000"/>
              </a:srgbClr>
            </a:outerShdw>
          </a:effectLst>
        </p:spPr>
      </p:sp>
      <p:sp>
        <p:nvSpPr>
          <p:cNvPr id="15" name="Text 13"/>
          <p:cNvSpPr/>
          <p:nvPr/>
        </p:nvSpPr>
        <p:spPr>
          <a:xfrm>
            <a:off x="5650992" y="1993392"/>
            <a:ext cx="3145536" cy="237744"/>
          </a:xfrm>
          <a:prstGeom prst="rect">
            <a:avLst/>
          </a:prstGeom>
          <a:noFill/>
          <a:ln/>
        </p:spPr>
        <p:txBody>
          <a:bodyPr wrap="square" rtlCol="0" anchor="ctr"/>
          <a:lstStyle/>
          <a:p>
            <a:pPr marL="0" indent="0">
              <a:buNone/>
            </a:pPr>
            <a:r>
              <a:rPr lang="en-US" sz="1050" b="1" dirty="0">
                <a:solidFill>
                  <a:srgbClr val="00E5A0"/>
                </a:solidFill>
              </a:rPr>
              <a:t>📊 Model Configuration</a:t>
            </a:r>
            <a:endParaRPr lang="en-US" sz="1050" dirty="0"/>
          </a:p>
        </p:txBody>
      </p:sp>
      <p:sp>
        <p:nvSpPr>
          <p:cNvPr id="16" name="Shape 14"/>
          <p:cNvSpPr/>
          <p:nvPr/>
        </p:nvSpPr>
        <p:spPr>
          <a:xfrm>
            <a:off x="5577840" y="2286000"/>
            <a:ext cx="3273552" cy="256032"/>
          </a:xfrm>
          <a:prstGeom prst="rect">
            <a:avLst/>
          </a:prstGeom>
          <a:solidFill>
            <a:srgbClr val="0F1F35"/>
          </a:solidFill>
          <a:ln w="12700">
            <a:solidFill>
              <a:srgbClr val="1A2E4A"/>
            </a:solidFill>
            <a:prstDash val="solid"/>
          </a:ln>
        </p:spPr>
      </p:sp>
      <p:sp>
        <p:nvSpPr>
          <p:cNvPr id="17" name="Text 15"/>
          <p:cNvSpPr/>
          <p:nvPr/>
        </p:nvSpPr>
        <p:spPr>
          <a:xfrm>
            <a:off x="5650992" y="2322576"/>
            <a:ext cx="1463040" cy="182880"/>
          </a:xfrm>
          <a:prstGeom prst="rect">
            <a:avLst/>
          </a:prstGeom>
          <a:noFill/>
          <a:ln/>
        </p:spPr>
        <p:txBody>
          <a:bodyPr wrap="square" rtlCol="0" anchor="ctr"/>
          <a:lstStyle/>
          <a:p>
            <a:pPr marL="0" indent="0">
              <a:buNone/>
            </a:pPr>
            <a:r>
              <a:rPr lang="en-US" sz="950" dirty="0">
                <a:solidFill>
                  <a:srgbClr val="7A90B0"/>
                </a:solidFill>
              </a:rPr>
              <a:t>Algorithm</a:t>
            </a:r>
            <a:endParaRPr lang="en-US" sz="950" dirty="0"/>
          </a:p>
        </p:txBody>
      </p:sp>
      <p:sp>
        <p:nvSpPr>
          <p:cNvPr id="18" name="Text 16"/>
          <p:cNvSpPr/>
          <p:nvPr/>
        </p:nvSpPr>
        <p:spPr>
          <a:xfrm>
            <a:off x="7150608" y="2322576"/>
            <a:ext cx="1627632" cy="182880"/>
          </a:xfrm>
          <a:prstGeom prst="rect">
            <a:avLst/>
          </a:prstGeom>
          <a:noFill/>
          <a:ln/>
        </p:spPr>
        <p:txBody>
          <a:bodyPr wrap="square" rtlCol="0" anchor="ctr"/>
          <a:lstStyle/>
          <a:p>
            <a:pPr marL="0" indent="0">
              <a:buNone/>
            </a:pPr>
            <a:r>
              <a:rPr lang="en-US" sz="950" b="1" dirty="0">
                <a:solidFill>
                  <a:srgbClr val="FFFFFF"/>
                </a:solidFill>
              </a:rPr>
              <a:t>Gradient Boosting Regressor</a:t>
            </a:r>
            <a:endParaRPr lang="en-US" sz="950" dirty="0"/>
          </a:p>
        </p:txBody>
      </p:sp>
      <p:sp>
        <p:nvSpPr>
          <p:cNvPr id="19" name="Shape 17"/>
          <p:cNvSpPr/>
          <p:nvPr/>
        </p:nvSpPr>
        <p:spPr>
          <a:xfrm>
            <a:off x="5577840" y="2578608"/>
            <a:ext cx="3273552" cy="256032"/>
          </a:xfrm>
          <a:prstGeom prst="rect">
            <a:avLst/>
          </a:prstGeom>
          <a:solidFill>
            <a:srgbClr val="0D1829"/>
          </a:solidFill>
          <a:ln w="12700">
            <a:solidFill>
              <a:srgbClr val="1A2E4A"/>
            </a:solidFill>
            <a:prstDash val="solid"/>
          </a:ln>
        </p:spPr>
      </p:sp>
      <p:sp>
        <p:nvSpPr>
          <p:cNvPr id="20" name="Text 18"/>
          <p:cNvSpPr/>
          <p:nvPr/>
        </p:nvSpPr>
        <p:spPr>
          <a:xfrm>
            <a:off x="5650992" y="2615184"/>
            <a:ext cx="1463040" cy="182880"/>
          </a:xfrm>
          <a:prstGeom prst="rect">
            <a:avLst/>
          </a:prstGeom>
          <a:noFill/>
          <a:ln/>
        </p:spPr>
        <p:txBody>
          <a:bodyPr wrap="square" rtlCol="0" anchor="ctr"/>
          <a:lstStyle/>
          <a:p>
            <a:pPr marL="0" indent="0">
              <a:buNone/>
            </a:pPr>
            <a:r>
              <a:rPr lang="en-US" sz="950" dirty="0">
                <a:solidFill>
                  <a:srgbClr val="7A90B0"/>
                </a:solidFill>
              </a:rPr>
              <a:t>Key Feature</a:t>
            </a:r>
            <a:endParaRPr lang="en-US" sz="950" dirty="0"/>
          </a:p>
        </p:txBody>
      </p:sp>
      <p:sp>
        <p:nvSpPr>
          <p:cNvPr id="21" name="Text 19"/>
          <p:cNvSpPr/>
          <p:nvPr/>
        </p:nvSpPr>
        <p:spPr>
          <a:xfrm>
            <a:off x="7150608" y="2615184"/>
            <a:ext cx="1627632" cy="182880"/>
          </a:xfrm>
          <a:prstGeom prst="rect">
            <a:avLst/>
          </a:prstGeom>
          <a:noFill/>
          <a:ln/>
        </p:spPr>
        <p:txBody>
          <a:bodyPr wrap="square" rtlCol="0" anchor="ctr"/>
          <a:lstStyle/>
          <a:p>
            <a:pPr marL="0" indent="0">
              <a:buNone/>
            </a:pPr>
            <a:r>
              <a:rPr lang="en-US" sz="950" b="1" dirty="0">
                <a:solidFill>
                  <a:srgbClr val="FFFFFF"/>
                </a:solidFill>
              </a:rPr>
              <a:t>kwh_charged (strongest)</a:t>
            </a:r>
            <a:endParaRPr lang="en-US" sz="950" dirty="0"/>
          </a:p>
        </p:txBody>
      </p:sp>
      <p:sp>
        <p:nvSpPr>
          <p:cNvPr id="22" name="Shape 20"/>
          <p:cNvSpPr/>
          <p:nvPr/>
        </p:nvSpPr>
        <p:spPr>
          <a:xfrm>
            <a:off x="5577840" y="2871216"/>
            <a:ext cx="3273552" cy="256032"/>
          </a:xfrm>
          <a:prstGeom prst="rect">
            <a:avLst/>
          </a:prstGeom>
          <a:solidFill>
            <a:srgbClr val="0F1F35"/>
          </a:solidFill>
          <a:ln w="12700">
            <a:solidFill>
              <a:srgbClr val="1A2E4A"/>
            </a:solidFill>
            <a:prstDash val="solid"/>
          </a:ln>
        </p:spPr>
      </p:sp>
      <p:sp>
        <p:nvSpPr>
          <p:cNvPr id="23" name="Text 21"/>
          <p:cNvSpPr/>
          <p:nvPr/>
        </p:nvSpPr>
        <p:spPr>
          <a:xfrm>
            <a:off x="5650992" y="2907792"/>
            <a:ext cx="1463040" cy="182880"/>
          </a:xfrm>
          <a:prstGeom prst="rect">
            <a:avLst/>
          </a:prstGeom>
          <a:noFill/>
          <a:ln/>
        </p:spPr>
        <p:txBody>
          <a:bodyPr wrap="square" rtlCol="0" anchor="ctr"/>
          <a:lstStyle/>
          <a:p>
            <a:pPr marL="0" indent="0">
              <a:buNone/>
            </a:pPr>
            <a:r>
              <a:rPr lang="en-US" sz="950" dirty="0">
                <a:solidFill>
                  <a:srgbClr val="7A90B0"/>
                </a:solidFill>
              </a:rPr>
              <a:t>Features</a:t>
            </a:r>
            <a:endParaRPr lang="en-US" sz="950" dirty="0"/>
          </a:p>
        </p:txBody>
      </p:sp>
      <p:sp>
        <p:nvSpPr>
          <p:cNvPr id="24" name="Text 22"/>
          <p:cNvSpPr/>
          <p:nvPr/>
        </p:nvSpPr>
        <p:spPr>
          <a:xfrm>
            <a:off x="7150608" y="2907792"/>
            <a:ext cx="1627632" cy="182880"/>
          </a:xfrm>
          <a:prstGeom prst="rect">
            <a:avLst/>
          </a:prstGeom>
          <a:noFill/>
          <a:ln/>
        </p:spPr>
        <p:txBody>
          <a:bodyPr wrap="square" rtlCol="0" anchor="ctr"/>
          <a:lstStyle/>
          <a:p>
            <a:pPr marL="0" indent="0">
              <a:buNone/>
            </a:pPr>
            <a:r>
              <a:rPr lang="en-US" sz="950" b="1" dirty="0">
                <a:solidFill>
                  <a:srgbClr val="FFFFFF"/>
                </a:solidFill>
              </a:rPr>
              <a:t>kWh, Hour, District, Tier</a:t>
            </a:r>
            <a:endParaRPr lang="en-US" sz="950" dirty="0"/>
          </a:p>
        </p:txBody>
      </p:sp>
      <p:sp>
        <p:nvSpPr>
          <p:cNvPr id="25" name="Shape 23"/>
          <p:cNvSpPr/>
          <p:nvPr/>
        </p:nvSpPr>
        <p:spPr>
          <a:xfrm>
            <a:off x="5577840" y="3163824"/>
            <a:ext cx="3273552" cy="256032"/>
          </a:xfrm>
          <a:prstGeom prst="rect">
            <a:avLst/>
          </a:prstGeom>
          <a:solidFill>
            <a:srgbClr val="0D1829"/>
          </a:solidFill>
          <a:ln w="12700">
            <a:solidFill>
              <a:srgbClr val="1A2E4A"/>
            </a:solidFill>
            <a:prstDash val="solid"/>
          </a:ln>
        </p:spPr>
      </p:sp>
      <p:sp>
        <p:nvSpPr>
          <p:cNvPr id="26" name="Text 24"/>
          <p:cNvSpPr/>
          <p:nvPr/>
        </p:nvSpPr>
        <p:spPr>
          <a:xfrm>
            <a:off x="5650992" y="3200400"/>
            <a:ext cx="1463040" cy="182880"/>
          </a:xfrm>
          <a:prstGeom prst="rect">
            <a:avLst/>
          </a:prstGeom>
          <a:noFill/>
          <a:ln/>
        </p:spPr>
        <p:txBody>
          <a:bodyPr wrap="square" rtlCol="0" anchor="ctr"/>
          <a:lstStyle/>
          <a:p>
            <a:pPr marL="0" indent="0">
              <a:buNone/>
            </a:pPr>
            <a:r>
              <a:rPr lang="en-US" sz="950" dirty="0">
                <a:solidFill>
                  <a:srgbClr val="7A90B0"/>
                </a:solidFill>
              </a:rPr>
              <a:t>Train/Test</a:t>
            </a:r>
            <a:endParaRPr lang="en-US" sz="950" dirty="0"/>
          </a:p>
        </p:txBody>
      </p:sp>
      <p:sp>
        <p:nvSpPr>
          <p:cNvPr id="27" name="Text 25"/>
          <p:cNvSpPr/>
          <p:nvPr/>
        </p:nvSpPr>
        <p:spPr>
          <a:xfrm>
            <a:off x="7150608" y="3200400"/>
            <a:ext cx="1627632" cy="182880"/>
          </a:xfrm>
          <a:prstGeom prst="rect">
            <a:avLst/>
          </a:prstGeom>
          <a:noFill/>
          <a:ln/>
        </p:spPr>
        <p:txBody>
          <a:bodyPr wrap="square" rtlCol="0" anchor="ctr"/>
          <a:lstStyle/>
          <a:p>
            <a:pPr marL="0" indent="0">
              <a:buNone/>
            </a:pPr>
            <a:r>
              <a:rPr lang="en-US" sz="950" b="1" dirty="0">
                <a:solidFill>
                  <a:srgbClr val="FFFFFF"/>
                </a:solidFill>
              </a:rPr>
              <a:t>80% / 20%</a:t>
            </a:r>
            <a:endParaRPr lang="en-US" sz="950" dirty="0"/>
          </a:p>
        </p:txBody>
      </p:sp>
      <p:sp>
        <p:nvSpPr>
          <p:cNvPr id="28" name="Shape 26"/>
          <p:cNvSpPr/>
          <p:nvPr/>
        </p:nvSpPr>
        <p:spPr>
          <a:xfrm>
            <a:off x="5577840" y="3456432"/>
            <a:ext cx="3273552" cy="256032"/>
          </a:xfrm>
          <a:prstGeom prst="rect">
            <a:avLst/>
          </a:prstGeom>
          <a:solidFill>
            <a:srgbClr val="0F1F35"/>
          </a:solidFill>
          <a:ln w="12700">
            <a:solidFill>
              <a:srgbClr val="1A2E4A"/>
            </a:solidFill>
            <a:prstDash val="solid"/>
          </a:ln>
        </p:spPr>
      </p:sp>
      <p:sp>
        <p:nvSpPr>
          <p:cNvPr id="29" name="Text 27"/>
          <p:cNvSpPr/>
          <p:nvPr/>
        </p:nvSpPr>
        <p:spPr>
          <a:xfrm>
            <a:off x="5650992" y="3493008"/>
            <a:ext cx="1463040" cy="182880"/>
          </a:xfrm>
          <a:prstGeom prst="rect">
            <a:avLst/>
          </a:prstGeom>
          <a:noFill/>
          <a:ln/>
        </p:spPr>
        <p:txBody>
          <a:bodyPr wrap="square" rtlCol="0" anchor="ctr"/>
          <a:lstStyle/>
          <a:p>
            <a:pPr marL="0" indent="0">
              <a:buNone/>
            </a:pPr>
            <a:r>
              <a:rPr lang="en-US" sz="950" dirty="0">
                <a:solidFill>
                  <a:srgbClr val="7A90B0"/>
                </a:solidFill>
              </a:rPr>
              <a:t>n_estimators</a:t>
            </a:r>
            <a:endParaRPr lang="en-US" sz="950" dirty="0"/>
          </a:p>
        </p:txBody>
      </p:sp>
      <p:sp>
        <p:nvSpPr>
          <p:cNvPr id="30" name="Text 28"/>
          <p:cNvSpPr/>
          <p:nvPr/>
        </p:nvSpPr>
        <p:spPr>
          <a:xfrm>
            <a:off x="7150608" y="3493008"/>
            <a:ext cx="1627632" cy="182880"/>
          </a:xfrm>
          <a:prstGeom prst="rect">
            <a:avLst/>
          </a:prstGeom>
          <a:noFill/>
          <a:ln/>
        </p:spPr>
        <p:txBody>
          <a:bodyPr wrap="square" rtlCol="0" anchor="ctr"/>
          <a:lstStyle/>
          <a:p>
            <a:pPr marL="0" indent="0">
              <a:buNone/>
            </a:pPr>
            <a:r>
              <a:rPr lang="en-US" sz="950" b="1" dirty="0">
                <a:solidFill>
                  <a:srgbClr val="FFFFFF"/>
                </a:solidFill>
              </a:rPr>
              <a:t>200 trees, lr=0.05</a:t>
            </a:r>
            <a:endParaRPr lang="en-US" sz="950" dirty="0"/>
          </a:p>
        </p:txBody>
      </p:sp>
      <p:sp>
        <p:nvSpPr>
          <p:cNvPr id="31" name="Shape 29"/>
          <p:cNvSpPr/>
          <p:nvPr/>
        </p:nvSpPr>
        <p:spPr>
          <a:xfrm>
            <a:off x="256032" y="4041648"/>
            <a:ext cx="5120640" cy="914400"/>
          </a:xfrm>
          <a:prstGeom prst="rect">
            <a:avLst/>
          </a:prstGeom>
          <a:solidFill>
            <a:srgbClr val="0D1117"/>
          </a:solidFill>
          <a:ln w="12700">
            <a:solidFill>
              <a:srgbClr val="1A2E4A"/>
            </a:solidFill>
            <a:prstDash val="solid"/>
          </a:ln>
          <a:effectLst>
            <a:outerShdw blurRad="127000" dist="38100" dir="8100000" algn="bl" rotWithShape="0">
              <a:srgbClr val="000000">
                <a:alpha val="30000"/>
              </a:srgbClr>
            </a:outerShdw>
          </a:effectLst>
        </p:spPr>
      </p:sp>
      <p:sp>
        <p:nvSpPr>
          <p:cNvPr id="32" name="Shape 30"/>
          <p:cNvSpPr/>
          <p:nvPr/>
        </p:nvSpPr>
        <p:spPr>
          <a:xfrm>
            <a:off x="256032" y="4041648"/>
            <a:ext cx="5120640" cy="274320"/>
          </a:xfrm>
          <a:prstGeom prst="rect">
            <a:avLst/>
          </a:prstGeom>
          <a:solidFill>
            <a:srgbClr val="1C2333"/>
          </a:solidFill>
          <a:ln w="12700">
            <a:solidFill>
              <a:srgbClr val="1A2E4A"/>
            </a:solidFill>
            <a:prstDash val="solid"/>
          </a:ln>
        </p:spPr>
      </p:sp>
      <p:sp>
        <p:nvSpPr>
          <p:cNvPr id="33" name="Text 31"/>
          <p:cNvSpPr/>
          <p:nvPr/>
        </p:nvSpPr>
        <p:spPr>
          <a:xfrm>
            <a:off x="347472" y="4078224"/>
            <a:ext cx="4937760" cy="201168"/>
          </a:xfrm>
          <a:prstGeom prst="rect">
            <a:avLst/>
          </a:prstGeom>
          <a:noFill/>
          <a:ln/>
        </p:spPr>
        <p:txBody>
          <a:bodyPr wrap="square" rtlCol="0" anchor="ctr"/>
          <a:lstStyle/>
          <a:p>
            <a:pPr marL="0" indent="0">
              <a:buNone/>
            </a:pPr>
            <a:r>
              <a:rPr lang="en-US" sz="900" dirty="0">
                <a:solidFill>
                  <a:srgbClr val="00D4FF"/>
                </a:solidFill>
              </a:rPr>
              <a:t>⚙  Model Training &amp; Evaluation</a:t>
            </a:r>
            <a:endParaRPr lang="en-US" sz="900" dirty="0"/>
          </a:p>
        </p:txBody>
      </p:sp>
      <p:sp>
        <p:nvSpPr>
          <p:cNvPr id="34" name="Text 32"/>
          <p:cNvSpPr/>
          <p:nvPr/>
        </p:nvSpPr>
        <p:spPr>
          <a:xfrm>
            <a:off x="365760" y="4352544"/>
            <a:ext cx="4919472" cy="530352"/>
          </a:xfrm>
          <a:prstGeom prst="rect">
            <a:avLst/>
          </a:prstGeom>
          <a:noFill/>
          <a:ln/>
        </p:spPr>
        <p:txBody>
          <a:bodyPr wrap="square" rtlCol="0" anchor="ctr"/>
          <a:lstStyle/>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X_train,X_test,y_train,y_test = train_test_split(</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X, y, test_size=0.2, random_state=42)</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model = GradientBoostingRegressor(</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n_estimators=200, learning_rate=0.05,</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max_depth=4, random_state=42)</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model.fit(X_train, y_train)</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y_pred = model.predict(X_test)</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print(f"R2: {r2_score(y_test,y_pred):.4f}")</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print(f"MAE: {mean_absolute_error(y_test,y_pred):.2f}")</a:t>
            </a:r>
            <a:endParaRPr lang="en-US" sz="850" dirty="0"/>
          </a:p>
        </p:txBody>
      </p:sp>
      <p:sp>
        <p:nvSpPr>
          <p:cNvPr id="35" name="Shape 33"/>
          <p:cNvSpPr/>
          <p:nvPr/>
        </p:nvSpPr>
        <p:spPr>
          <a:xfrm>
            <a:off x="5541264" y="4041648"/>
            <a:ext cx="3346704" cy="914400"/>
          </a:xfrm>
          <a:prstGeom prst="rect">
            <a:avLst/>
          </a:prstGeom>
          <a:solidFill>
            <a:srgbClr val="111C2E"/>
          </a:solidFill>
          <a:ln w="12700">
            <a:solidFill>
              <a:srgbClr val="00E5A0"/>
            </a:solidFill>
            <a:prstDash val="solid"/>
          </a:ln>
        </p:spPr>
      </p:sp>
      <p:sp>
        <p:nvSpPr>
          <p:cNvPr id="36" name="Text 34"/>
          <p:cNvSpPr/>
          <p:nvPr/>
        </p:nvSpPr>
        <p:spPr>
          <a:xfrm>
            <a:off x="5650992" y="4114800"/>
            <a:ext cx="3145536" cy="237744"/>
          </a:xfrm>
          <a:prstGeom prst="rect">
            <a:avLst/>
          </a:prstGeom>
          <a:noFill/>
          <a:ln/>
        </p:spPr>
        <p:txBody>
          <a:bodyPr wrap="square" rtlCol="0" anchor="ctr"/>
          <a:lstStyle/>
          <a:p>
            <a:pPr marL="0" indent="0">
              <a:buNone/>
            </a:pPr>
            <a:r>
              <a:rPr lang="en-US" sz="1050" b="1" dirty="0">
                <a:solidFill>
                  <a:srgbClr val="00E5A0"/>
                </a:solidFill>
              </a:rPr>
              <a:t>✅  Performance Metrics</a:t>
            </a:r>
            <a:endParaRPr lang="en-US" sz="1050" dirty="0"/>
          </a:p>
        </p:txBody>
      </p:sp>
      <p:sp>
        <p:nvSpPr>
          <p:cNvPr id="37" name="Text 35"/>
          <p:cNvSpPr/>
          <p:nvPr/>
        </p:nvSpPr>
        <p:spPr>
          <a:xfrm>
            <a:off x="5650992" y="4407408"/>
            <a:ext cx="1371600" cy="164592"/>
          </a:xfrm>
          <a:prstGeom prst="rect">
            <a:avLst/>
          </a:prstGeom>
          <a:noFill/>
          <a:ln/>
        </p:spPr>
        <p:txBody>
          <a:bodyPr wrap="square" rtlCol="0" anchor="ctr"/>
          <a:lstStyle/>
          <a:p>
            <a:pPr marL="0" indent="0">
              <a:buNone/>
            </a:pPr>
            <a:r>
              <a:rPr lang="en-US" sz="950" dirty="0">
                <a:solidFill>
                  <a:srgbClr val="7A90B0"/>
                </a:solidFill>
              </a:rPr>
              <a:t>R² Score:</a:t>
            </a:r>
            <a:endParaRPr lang="en-US" sz="950" dirty="0"/>
          </a:p>
        </p:txBody>
      </p:sp>
      <p:sp>
        <p:nvSpPr>
          <p:cNvPr id="38" name="Text 36"/>
          <p:cNvSpPr/>
          <p:nvPr/>
        </p:nvSpPr>
        <p:spPr>
          <a:xfrm>
            <a:off x="7040880" y="4407408"/>
            <a:ext cx="1737360" cy="164592"/>
          </a:xfrm>
          <a:prstGeom prst="rect">
            <a:avLst/>
          </a:prstGeom>
          <a:noFill/>
          <a:ln/>
        </p:spPr>
        <p:txBody>
          <a:bodyPr wrap="square" rtlCol="0" anchor="ctr"/>
          <a:lstStyle/>
          <a:p>
            <a:pPr marL="0" indent="0">
              <a:buNone/>
            </a:pPr>
            <a:r>
              <a:rPr lang="en-US" sz="950" b="1" dirty="0">
                <a:solidFill>
                  <a:srgbClr val="00E5A0"/>
                </a:solidFill>
              </a:rPr>
              <a:t>0.91 (91% variance)</a:t>
            </a:r>
            <a:endParaRPr lang="en-US" sz="950" dirty="0"/>
          </a:p>
        </p:txBody>
      </p:sp>
      <p:sp>
        <p:nvSpPr>
          <p:cNvPr id="39" name="Text 37"/>
          <p:cNvSpPr/>
          <p:nvPr/>
        </p:nvSpPr>
        <p:spPr>
          <a:xfrm>
            <a:off x="5650992" y="4572000"/>
            <a:ext cx="1371600" cy="164592"/>
          </a:xfrm>
          <a:prstGeom prst="rect">
            <a:avLst/>
          </a:prstGeom>
          <a:noFill/>
          <a:ln/>
        </p:spPr>
        <p:txBody>
          <a:bodyPr wrap="square" rtlCol="0" anchor="ctr"/>
          <a:lstStyle/>
          <a:p>
            <a:pPr marL="0" indent="0">
              <a:buNone/>
            </a:pPr>
            <a:r>
              <a:rPr lang="en-US" sz="950" dirty="0">
                <a:solidFill>
                  <a:srgbClr val="7A90B0"/>
                </a:solidFill>
              </a:rPr>
              <a:t>MAE:</a:t>
            </a:r>
            <a:endParaRPr lang="en-US" sz="950" dirty="0"/>
          </a:p>
        </p:txBody>
      </p:sp>
      <p:sp>
        <p:nvSpPr>
          <p:cNvPr id="40" name="Text 38"/>
          <p:cNvSpPr/>
          <p:nvPr/>
        </p:nvSpPr>
        <p:spPr>
          <a:xfrm>
            <a:off x="7040880" y="4572000"/>
            <a:ext cx="1737360" cy="164592"/>
          </a:xfrm>
          <a:prstGeom prst="rect">
            <a:avLst/>
          </a:prstGeom>
          <a:noFill/>
          <a:ln/>
        </p:spPr>
        <p:txBody>
          <a:bodyPr wrap="square" rtlCol="0" anchor="ctr"/>
          <a:lstStyle/>
          <a:p>
            <a:pPr marL="0" indent="0">
              <a:buNone/>
            </a:pPr>
            <a:r>
              <a:rPr lang="en-US" sz="950" b="1" dirty="0">
                <a:solidFill>
                  <a:srgbClr val="00E5A0"/>
                </a:solidFill>
              </a:rPr>
              <a:t>zł8.34 per session</a:t>
            </a:r>
            <a:endParaRPr lang="en-US" sz="950" dirty="0"/>
          </a:p>
        </p:txBody>
      </p:sp>
      <p:sp>
        <p:nvSpPr>
          <p:cNvPr id="41" name="Text 39"/>
          <p:cNvSpPr/>
          <p:nvPr/>
        </p:nvSpPr>
        <p:spPr>
          <a:xfrm>
            <a:off x="5650992" y="4736592"/>
            <a:ext cx="1371600" cy="164592"/>
          </a:xfrm>
          <a:prstGeom prst="rect">
            <a:avLst/>
          </a:prstGeom>
          <a:noFill/>
          <a:ln/>
        </p:spPr>
        <p:txBody>
          <a:bodyPr wrap="square" rtlCol="0" anchor="ctr"/>
          <a:lstStyle/>
          <a:p>
            <a:pPr marL="0" indent="0">
              <a:buNone/>
            </a:pPr>
            <a:r>
              <a:rPr lang="en-US" sz="950" dirty="0">
                <a:solidFill>
                  <a:srgbClr val="7A90B0"/>
                </a:solidFill>
              </a:rPr>
              <a:t>Top Feature:</a:t>
            </a:r>
            <a:endParaRPr lang="en-US" sz="950" dirty="0"/>
          </a:p>
        </p:txBody>
      </p:sp>
      <p:sp>
        <p:nvSpPr>
          <p:cNvPr id="42" name="Text 40"/>
          <p:cNvSpPr/>
          <p:nvPr/>
        </p:nvSpPr>
        <p:spPr>
          <a:xfrm>
            <a:off x="7040880" y="4736592"/>
            <a:ext cx="1737360" cy="164592"/>
          </a:xfrm>
          <a:prstGeom prst="rect">
            <a:avLst/>
          </a:prstGeom>
          <a:noFill/>
          <a:ln/>
        </p:spPr>
        <p:txBody>
          <a:bodyPr wrap="square" rtlCol="0" anchor="ctr"/>
          <a:lstStyle/>
          <a:p>
            <a:pPr marL="0" indent="0">
              <a:buNone/>
            </a:pPr>
            <a:r>
              <a:rPr lang="en-US" sz="950" b="1" dirty="0">
                <a:solidFill>
                  <a:srgbClr val="00E5A0"/>
                </a:solidFill>
              </a:rPr>
              <a:t>kWh charged (0.78 importance)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9B7FFF"/>
          </a:solidFill>
          <a:ln w="12700">
            <a:solidFill>
              <a:srgbClr val="9B7FFF"/>
            </a:solidFill>
            <a:prstDash val="solid"/>
          </a:ln>
        </p:spPr>
      </p:sp>
      <p:sp>
        <p:nvSpPr>
          <p:cNvPr id="3" name="Text 1"/>
          <p:cNvSpPr/>
          <p:nvPr/>
        </p:nvSpPr>
        <p:spPr>
          <a:xfrm>
            <a:off x="256032" y="146304"/>
            <a:ext cx="8686800" cy="237744"/>
          </a:xfrm>
          <a:prstGeom prst="rect">
            <a:avLst/>
          </a:prstGeom>
          <a:noFill/>
          <a:ln/>
        </p:spPr>
        <p:txBody>
          <a:bodyPr wrap="square" rtlCol="0" anchor="ctr"/>
          <a:lstStyle/>
          <a:p>
            <a:pPr marL="0" indent="0">
              <a:buNone/>
            </a:pPr>
            <a:r>
              <a:rPr lang="en-US" sz="800" b="1" kern="0" spc="250" dirty="0">
                <a:solidFill>
                  <a:srgbClr val="9B7FFF"/>
                </a:solidFill>
              </a:rPr>
              <a:t>ML MODEL 3  ·  CUSTOMER CLUSTERING</a:t>
            </a:r>
            <a:endParaRPr lang="en-US" sz="800" dirty="0"/>
          </a:p>
        </p:txBody>
      </p:sp>
      <p:sp>
        <p:nvSpPr>
          <p:cNvPr id="4" name="Text 2"/>
          <p:cNvSpPr/>
          <p:nvPr/>
        </p:nvSpPr>
        <p:spPr>
          <a:xfrm>
            <a:off x="256032" y="384048"/>
            <a:ext cx="8595360" cy="530352"/>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Segmenting Customers by Charging Behavior</a:t>
            </a:r>
            <a:endParaRPr lang="en-US" sz="2800" dirty="0"/>
          </a:p>
        </p:txBody>
      </p:sp>
      <p:sp>
        <p:nvSpPr>
          <p:cNvPr id="5" name="Shape 3"/>
          <p:cNvSpPr/>
          <p:nvPr/>
        </p:nvSpPr>
        <p:spPr>
          <a:xfrm>
            <a:off x="256032" y="987552"/>
            <a:ext cx="8631936" cy="18288"/>
          </a:xfrm>
          <a:prstGeom prst="rect">
            <a:avLst/>
          </a:prstGeom>
          <a:solidFill>
            <a:srgbClr val="1A2E4A"/>
          </a:solidFill>
          <a:ln w="12700">
            <a:solidFill>
              <a:srgbClr val="1A2E4A"/>
            </a:solidFill>
            <a:prstDash val="solid"/>
          </a:ln>
        </p:spPr>
      </p:sp>
      <p:sp>
        <p:nvSpPr>
          <p:cNvPr id="6" name="Shape 4"/>
          <p:cNvSpPr/>
          <p:nvPr/>
        </p:nvSpPr>
        <p:spPr>
          <a:xfrm>
            <a:off x="256032" y="1847088"/>
            <a:ext cx="5120640" cy="1755648"/>
          </a:xfrm>
          <a:prstGeom prst="rect">
            <a:avLst/>
          </a:prstGeom>
          <a:solidFill>
            <a:srgbClr val="0D1117"/>
          </a:solidFill>
          <a:ln w="12700">
            <a:solidFill>
              <a:srgbClr val="1A2E4A"/>
            </a:solidFill>
            <a:prstDash val="solid"/>
          </a:ln>
          <a:effectLst>
            <a:outerShdw blurRad="127000" dist="38100" dir="8100000" algn="bl" rotWithShape="0">
              <a:srgbClr val="000000">
                <a:alpha val="30000"/>
              </a:srgbClr>
            </a:outerShdw>
          </a:effectLst>
        </p:spPr>
      </p:sp>
      <p:sp>
        <p:nvSpPr>
          <p:cNvPr id="7" name="Shape 5"/>
          <p:cNvSpPr/>
          <p:nvPr/>
        </p:nvSpPr>
        <p:spPr>
          <a:xfrm>
            <a:off x="256032" y="1847088"/>
            <a:ext cx="5120640" cy="274320"/>
          </a:xfrm>
          <a:prstGeom prst="rect">
            <a:avLst/>
          </a:prstGeom>
          <a:solidFill>
            <a:srgbClr val="1C2333"/>
          </a:solidFill>
          <a:ln w="12700">
            <a:solidFill>
              <a:srgbClr val="1A2E4A"/>
            </a:solidFill>
            <a:prstDash val="solid"/>
          </a:ln>
        </p:spPr>
      </p:sp>
      <p:sp>
        <p:nvSpPr>
          <p:cNvPr id="8" name="Text 6"/>
          <p:cNvSpPr/>
          <p:nvPr/>
        </p:nvSpPr>
        <p:spPr>
          <a:xfrm>
            <a:off x="347472" y="1883664"/>
            <a:ext cx="4937760" cy="201168"/>
          </a:xfrm>
          <a:prstGeom prst="rect">
            <a:avLst/>
          </a:prstGeom>
          <a:noFill/>
          <a:ln/>
        </p:spPr>
        <p:txBody>
          <a:bodyPr wrap="square" rtlCol="0" anchor="ctr"/>
          <a:lstStyle/>
          <a:p>
            <a:pPr marL="0" indent="0">
              <a:buNone/>
            </a:pPr>
            <a:r>
              <a:rPr lang="en-US" sz="900" dirty="0">
                <a:solidFill>
                  <a:srgbClr val="00D4FF"/>
                </a:solidFill>
              </a:rPr>
              <a:t>⚙  Python · K-Means Clustering</a:t>
            </a:r>
            <a:endParaRPr lang="en-US" sz="900" dirty="0"/>
          </a:p>
        </p:txBody>
      </p:sp>
      <p:sp>
        <p:nvSpPr>
          <p:cNvPr id="9" name="Text 7"/>
          <p:cNvSpPr/>
          <p:nvPr/>
        </p:nvSpPr>
        <p:spPr>
          <a:xfrm>
            <a:off x="365760" y="2157984"/>
            <a:ext cx="4919472" cy="1371600"/>
          </a:xfrm>
          <a:prstGeom prst="rect">
            <a:avLst/>
          </a:prstGeom>
          <a:noFill/>
          <a:ln/>
        </p:spPr>
        <p:txBody>
          <a:bodyPr wrap="square" rtlCol="0" anchor="ctr"/>
          <a:lstStyle/>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import pandas as pd</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from sklearn.cluster import KMeans</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from sklearn.preprocessing import StandardScaler</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from sklearn.metrics import silhouette_score</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import matplotlib.pyplot as plt</a:t>
            </a:r>
            <a:endParaRPr lang="en-US" sz="850" dirty="0"/>
          </a:p>
          <a:p>
            <a:pPr marL="0" indent="0">
              <a:lnSpc>
                <a:spcPct val="130000"/>
              </a:lnSpc>
              <a:buNone/>
            </a:pP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Build customer feature matrix</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cust_features = sessions.groupby('customer_id').agg(</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total_sessions   = ('session_id','count'),</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total_kwh        = ('kwh_charged','sum'),</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total_spend      = ('total_cost','sum'),</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avg_kwh_session  = ('kwh_charged','mean'),</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avg_cost_session = ('total_cost','mean')</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).reset_index()</a:t>
            </a:r>
            <a:endParaRPr lang="en-US" sz="850" dirty="0"/>
          </a:p>
          <a:p>
            <a:pPr marL="0" indent="0">
              <a:lnSpc>
                <a:spcPct val="130000"/>
              </a:lnSpc>
              <a:buNone/>
            </a:pP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Normalize features</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scaler = StandardScaler()</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X_scaled = scaler.fit_transform(</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cust_features[['total_sessions','total_kwh',</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'total_spend','avg_kwh_session']])</a:t>
            </a:r>
            <a:endParaRPr lang="en-US" sz="850" dirty="0"/>
          </a:p>
          <a:p>
            <a:pPr marL="0" indent="0">
              <a:lnSpc>
                <a:spcPct val="130000"/>
              </a:lnSpc>
              <a:buNone/>
            </a:pP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Optimal K via Elbow + Silhouette = K=3</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kmeans = KMeans(n_clusters=3, random_state=42,</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n_init=10)</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cust_features['cluster'] = kmeans.fit_predict(X_scaled)</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score = silhouette_score(X_scaled,</a:t>
            </a:r>
            <a:endParaRPr lang="en-US" sz="850" dirty="0"/>
          </a:p>
          <a:p>
            <a:pPr marL="0" indent="0">
              <a:lnSpc>
                <a:spcPct val="130000"/>
              </a:lnSpc>
              <a:buNone/>
            </a:pPr>
            <a:r>
              <a:rPr lang="en-US" sz="850" dirty="0">
                <a:solidFill>
                  <a:srgbClr val="98C379"/>
                </a:solidFill>
                <a:latin typeface="Courier New" pitchFamily="34" charset="0"/>
                <a:ea typeface="Courier New" pitchFamily="34" charset="-122"/>
                <a:cs typeface="Courier New" pitchFamily="34" charset="-120"/>
              </a:rPr>
              <a:t>  cust_features['cluster'])</a:t>
            </a:r>
            <a:endParaRPr lang="en-US" sz="850" dirty="0"/>
          </a:p>
        </p:txBody>
      </p:sp>
      <p:sp>
        <p:nvSpPr>
          <p:cNvPr id="10" name="Shape 8"/>
          <p:cNvSpPr/>
          <p:nvPr/>
        </p:nvSpPr>
        <p:spPr>
          <a:xfrm>
            <a:off x="256032" y="1298448"/>
            <a:ext cx="8631936" cy="438912"/>
          </a:xfrm>
          <a:prstGeom prst="rect">
            <a:avLst/>
          </a:prstGeom>
          <a:solidFill>
            <a:srgbClr val="0D1829"/>
          </a:solidFill>
          <a:ln w="19050">
            <a:solidFill>
              <a:srgbClr val="9B7FFF"/>
            </a:solidFill>
            <a:prstDash val="solid"/>
          </a:ln>
          <a:effectLst>
            <a:outerShdw blurRad="127000" dist="38100" dir="8100000" algn="bl" rotWithShape="0">
              <a:srgbClr val="000000">
                <a:alpha val="30000"/>
              </a:srgbClr>
            </a:outerShdw>
          </a:effectLst>
        </p:spPr>
      </p:sp>
      <p:sp>
        <p:nvSpPr>
          <p:cNvPr id="11" name="Text 9"/>
          <p:cNvSpPr/>
          <p:nvPr/>
        </p:nvSpPr>
        <p:spPr>
          <a:xfrm>
            <a:off x="384048" y="1335024"/>
            <a:ext cx="8394192" cy="329184"/>
          </a:xfrm>
          <a:prstGeom prst="rect">
            <a:avLst/>
          </a:prstGeom>
          <a:noFill/>
          <a:ln/>
        </p:spPr>
        <p:txBody>
          <a:bodyPr wrap="square" rtlCol="0" anchor="ctr"/>
          <a:lstStyle/>
          <a:p>
            <a:pPr marL="0" indent="0">
              <a:buNone/>
            </a:pPr>
            <a:r>
              <a:rPr lang="en-US" sz="1050" dirty="0">
                <a:solidFill>
                  <a:srgbClr val="FFFFFF"/>
                </a:solidFill>
              </a:rPr>
              <a:t>📌  Not all EV customers are the same. Segmenting by behavior (frequency, energy, spending) enables personalized offers, loyalty tiers, and infrastructure prioritization.</a:t>
            </a:r>
            <a:endParaRPr lang="en-US" sz="1050" dirty="0"/>
          </a:p>
        </p:txBody>
      </p:sp>
      <p:sp>
        <p:nvSpPr>
          <p:cNvPr id="12" name="Shape 10"/>
          <p:cNvSpPr/>
          <p:nvPr/>
        </p:nvSpPr>
        <p:spPr>
          <a:xfrm>
            <a:off x="256032" y="3822192"/>
            <a:ext cx="2798064" cy="1207008"/>
          </a:xfrm>
          <a:prstGeom prst="rect">
            <a:avLst/>
          </a:prstGeom>
          <a:solidFill>
            <a:srgbClr val="111C2E"/>
          </a:solidFill>
          <a:ln w="15240">
            <a:solidFill>
              <a:srgbClr val="FF9B3B"/>
            </a:solidFill>
            <a:prstDash val="solid"/>
          </a:ln>
          <a:effectLst>
            <a:outerShdw blurRad="127000" dist="38100" dir="8100000" algn="bl" rotWithShape="0">
              <a:srgbClr val="000000">
                <a:alpha val="30000"/>
              </a:srgbClr>
            </a:outerShdw>
          </a:effectLst>
        </p:spPr>
      </p:sp>
      <p:sp>
        <p:nvSpPr>
          <p:cNvPr id="13" name="Shape 11"/>
          <p:cNvSpPr/>
          <p:nvPr/>
        </p:nvSpPr>
        <p:spPr>
          <a:xfrm>
            <a:off x="256032" y="3822192"/>
            <a:ext cx="2798064" cy="36576"/>
          </a:xfrm>
          <a:prstGeom prst="rect">
            <a:avLst/>
          </a:prstGeom>
          <a:solidFill>
            <a:srgbClr val="FF9B3B"/>
          </a:solidFill>
          <a:ln w="12700">
            <a:solidFill>
              <a:srgbClr val="FF9B3B"/>
            </a:solidFill>
            <a:prstDash val="solid"/>
          </a:ln>
        </p:spPr>
      </p:sp>
      <p:sp>
        <p:nvSpPr>
          <p:cNvPr id="14" name="Text 12"/>
          <p:cNvSpPr/>
          <p:nvPr/>
        </p:nvSpPr>
        <p:spPr>
          <a:xfrm>
            <a:off x="347472" y="3913632"/>
            <a:ext cx="2615184" cy="237744"/>
          </a:xfrm>
          <a:prstGeom prst="rect">
            <a:avLst/>
          </a:prstGeom>
          <a:noFill/>
          <a:ln/>
        </p:spPr>
        <p:txBody>
          <a:bodyPr wrap="square" rtlCol="0" anchor="ctr"/>
          <a:lstStyle/>
          <a:p>
            <a:pPr marL="0" indent="0">
              <a:buNone/>
            </a:pPr>
            <a:r>
              <a:rPr lang="en-US" sz="1100" b="1" dirty="0">
                <a:solidFill>
                  <a:srgbClr val="FF9B3B"/>
                </a:solidFill>
              </a:rPr>
              <a:t>💎 High-Value Chargers</a:t>
            </a:r>
            <a:endParaRPr lang="en-US" sz="1100" dirty="0"/>
          </a:p>
        </p:txBody>
      </p:sp>
      <p:sp>
        <p:nvSpPr>
          <p:cNvPr id="15" name="Text 13"/>
          <p:cNvSpPr/>
          <p:nvPr/>
        </p:nvSpPr>
        <p:spPr>
          <a:xfrm>
            <a:off x="347472" y="4187952"/>
            <a:ext cx="2615184" cy="201168"/>
          </a:xfrm>
          <a:prstGeom prst="rect">
            <a:avLst/>
          </a:prstGeom>
          <a:noFill/>
          <a:ln/>
        </p:spPr>
        <p:txBody>
          <a:bodyPr wrap="square" rtlCol="0" anchor="ctr"/>
          <a:lstStyle/>
          <a:p>
            <a:pPr marL="0" indent="0">
              <a:buNone/>
            </a:pPr>
            <a:r>
              <a:rPr lang="en-US" sz="950" dirty="0">
                <a:solidFill>
                  <a:srgbClr val="FFFFFF"/>
                </a:solidFill>
              </a:rPr>
              <a:t>~1,400 customers · ~19 sessions · ~850 kWh</a:t>
            </a:r>
            <a:endParaRPr lang="en-US" sz="950" dirty="0"/>
          </a:p>
        </p:txBody>
      </p:sp>
      <p:sp>
        <p:nvSpPr>
          <p:cNvPr id="16" name="Text 14"/>
          <p:cNvSpPr/>
          <p:nvPr/>
        </p:nvSpPr>
        <p:spPr>
          <a:xfrm>
            <a:off x="347472" y="4425696"/>
            <a:ext cx="2615184" cy="548640"/>
          </a:xfrm>
          <a:prstGeom prst="rect">
            <a:avLst/>
          </a:prstGeom>
          <a:noFill/>
          <a:ln/>
        </p:spPr>
        <p:txBody>
          <a:bodyPr wrap="square" rtlCol="0" anchor="ctr"/>
          <a:lstStyle/>
          <a:p>
            <a:pPr marL="0" indent="0">
              <a:lnSpc>
                <a:spcPct val="130000"/>
              </a:lnSpc>
              <a:buNone/>
            </a:pPr>
            <a:r>
              <a:rPr lang="en-US" sz="900" dirty="0">
                <a:solidFill>
                  <a:srgbClr val="7A90B0"/>
                </a:solidFill>
              </a:rPr>
              <a:t>Premium EV owners. Top revenue contributors. Target with fast-charging subscriptions.</a:t>
            </a:r>
            <a:endParaRPr lang="en-US" sz="900" dirty="0"/>
          </a:p>
        </p:txBody>
      </p:sp>
      <p:sp>
        <p:nvSpPr>
          <p:cNvPr id="17" name="Shape 15"/>
          <p:cNvSpPr/>
          <p:nvPr/>
        </p:nvSpPr>
        <p:spPr>
          <a:xfrm>
            <a:off x="3218688" y="3822192"/>
            <a:ext cx="2798064" cy="1207008"/>
          </a:xfrm>
          <a:prstGeom prst="rect">
            <a:avLst/>
          </a:prstGeom>
          <a:solidFill>
            <a:srgbClr val="111C2E"/>
          </a:solidFill>
          <a:ln w="15240">
            <a:solidFill>
              <a:srgbClr val="00D4FF"/>
            </a:solidFill>
            <a:prstDash val="solid"/>
          </a:ln>
          <a:effectLst>
            <a:outerShdw blurRad="127000" dist="38100" dir="8100000" algn="bl" rotWithShape="0">
              <a:srgbClr val="000000">
                <a:alpha val="30000"/>
              </a:srgbClr>
            </a:outerShdw>
          </a:effectLst>
        </p:spPr>
      </p:sp>
      <p:sp>
        <p:nvSpPr>
          <p:cNvPr id="18" name="Shape 16"/>
          <p:cNvSpPr/>
          <p:nvPr/>
        </p:nvSpPr>
        <p:spPr>
          <a:xfrm>
            <a:off x="3218688" y="3822192"/>
            <a:ext cx="2798064" cy="36576"/>
          </a:xfrm>
          <a:prstGeom prst="rect">
            <a:avLst/>
          </a:prstGeom>
          <a:solidFill>
            <a:srgbClr val="00D4FF"/>
          </a:solidFill>
          <a:ln w="12700">
            <a:solidFill>
              <a:srgbClr val="00D4FF"/>
            </a:solidFill>
            <a:prstDash val="solid"/>
          </a:ln>
        </p:spPr>
      </p:sp>
      <p:sp>
        <p:nvSpPr>
          <p:cNvPr id="19" name="Text 17"/>
          <p:cNvSpPr/>
          <p:nvPr/>
        </p:nvSpPr>
        <p:spPr>
          <a:xfrm>
            <a:off x="3310128" y="3913632"/>
            <a:ext cx="2615184" cy="237744"/>
          </a:xfrm>
          <a:prstGeom prst="rect">
            <a:avLst/>
          </a:prstGeom>
          <a:noFill/>
          <a:ln/>
        </p:spPr>
        <p:txBody>
          <a:bodyPr wrap="square" rtlCol="0" anchor="ctr"/>
          <a:lstStyle/>
          <a:p>
            <a:pPr marL="0" indent="0">
              <a:buNone/>
            </a:pPr>
            <a:r>
              <a:rPr lang="en-US" sz="1100" b="1" dirty="0">
                <a:solidFill>
                  <a:srgbClr val="00D4FF"/>
                </a:solidFill>
              </a:rPr>
              <a:t>📅 Regular Commuters</a:t>
            </a:r>
            <a:endParaRPr lang="en-US" sz="1100" dirty="0"/>
          </a:p>
        </p:txBody>
      </p:sp>
      <p:sp>
        <p:nvSpPr>
          <p:cNvPr id="20" name="Text 18"/>
          <p:cNvSpPr/>
          <p:nvPr/>
        </p:nvSpPr>
        <p:spPr>
          <a:xfrm>
            <a:off x="3310128" y="4187952"/>
            <a:ext cx="2615184" cy="201168"/>
          </a:xfrm>
          <a:prstGeom prst="rect">
            <a:avLst/>
          </a:prstGeom>
          <a:noFill/>
          <a:ln/>
        </p:spPr>
        <p:txBody>
          <a:bodyPr wrap="square" rtlCol="0" anchor="ctr"/>
          <a:lstStyle/>
          <a:p>
            <a:pPr marL="0" indent="0">
              <a:buNone/>
            </a:pPr>
            <a:r>
              <a:rPr lang="en-US" sz="950" dirty="0">
                <a:solidFill>
                  <a:srgbClr val="FFFFFF"/>
                </a:solidFill>
              </a:rPr>
              <a:t>~4,200 customers · ~14 sessions · ~550 kWh</a:t>
            </a:r>
            <a:endParaRPr lang="en-US" sz="950" dirty="0"/>
          </a:p>
        </p:txBody>
      </p:sp>
      <p:sp>
        <p:nvSpPr>
          <p:cNvPr id="21" name="Text 19"/>
          <p:cNvSpPr/>
          <p:nvPr/>
        </p:nvSpPr>
        <p:spPr>
          <a:xfrm>
            <a:off x="3310128" y="4425696"/>
            <a:ext cx="2615184" cy="548640"/>
          </a:xfrm>
          <a:prstGeom prst="rect">
            <a:avLst/>
          </a:prstGeom>
          <a:noFill/>
          <a:ln/>
        </p:spPr>
        <p:txBody>
          <a:bodyPr wrap="square" rtlCol="0" anchor="ctr"/>
          <a:lstStyle/>
          <a:p>
            <a:pPr marL="0" indent="0">
              <a:lnSpc>
                <a:spcPct val="130000"/>
              </a:lnSpc>
              <a:buNone/>
            </a:pPr>
            <a:r>
              <a:rPr lang="en-US" sz="900" dirty="0">
                <a:solidFill>
                  <a:srgbClr val="7A90B0"/>
                </a:solidFill>
              </a:rPr>
              <a:t>Core mid-range users. Steady, predictable usage. Best candidates for monthly plans.</a:t>
            </a:r>
            <a:endParaRPr lang="en-US" sz="900" dirty="0"/>
          </a:p>
        </p:txBody>
      </p:sp>
      <p:sp>
        <p:nvSpPr>
          <p:cNvPr id="22" name="Shape 20"/>
          <p:cNvSpPr/>
          <p:nvPr/>
        </p:nvSpPr>
        <p:spPr>
          <a:xfrm>
            <a:off x="6181344" y="3822192"/>
            <a:ext cx="2798064" cy="1207008"/>
          </a:xfrm>
          <a:prstGeom prst="rect">
            <a:avLst/>
          </a:prstGeom>
          <a:solidFill>
            <a:srgbClr val="111C2E"/>
          </a:solidFill>
          <a:ln w="15240">
            <a:solidFill>
              <a:srgbClr val="9B7FFF"/>
            </a:solidFill>
            <a:prstDash val="solid"/>
          </a:ln>
          <a:effectLst>
            <a:outerShdw blurRad="127000" dist="38100" dir="8100000" algn="bl" rotWithShape="0">
              <a:srgbClr val="000000">
                <a:alpha val="30000"/>
              </a:srgbClr>
            </a:outerShdw>
          </a:effectLst>
        </p:spPr>
      </p:sp>
      <p:sp>
        <p:nvSpPr>
          <p:cNvPr id="23" name="Shape 21"/>
          <p:cNvSpPr/>
          <p:nvPr/>
        </p:nvSpPr>
        <p:spPr>
          <a:xfrm>
            <a:off x="6181344" y="3822192"/>
            <a:ext cx="2798064" cy="36576"/>
          </a:xfrm>
          <a:prstGeom prst="rect">
            <a:avLst/>
          </a:prstGeom>
          <a:solidFill>
            <a:srgbClr val="9B7FFF"/>
          </a:solidFill>
          <a:ln w="12700">
            <a:solidFill>
              <a:srgbClr val="9B7FFF"/>
            </a:solidFill>
            <a:prstDash val="solid"/>
          </a:ln>
        </p:spPr>
      </p:sp>
      <p:sp>
        <p:nvSpPr>
          <p:cNvPr id="24" name="Text 22"/>
          <p:cNvSpPr/>
          <p:nvPr/>
        </p:nvSpPr>
        <p:spPr>
          <a:xfrm>
            <a:off x="6272784" y="3913632"/>
            <a:ext cx="2615184" cy="237744"/>
          </a:xfrm>
          <a:prstGeom prst="rect">
            <a:avLst/>
          </a:prstGeom>
          <a:noFill/>
          <a:ln/>
        </p:spPr>
        <p:txBody>
          <a:bodyPr wrap="square" rtlCol="0" anchor="ctr"/>
          <a:lstStyle/>
          <a:p>
            <a:pPr marL="0" indent="0">
              <a:buNone/>
            </a:pPr>
            <a:r>
              <a:rPr lang="en-US" sz="1100" b="1" dirty="0">
                <a:solidFill>
                  <a:srgbClr val="9B7FFF"/>
                </a:solidFill>
              </a:rPr>
              <a:t>🔋 Occasional Users</a:t>
            </a:r>
            <a:endParaRPr lang="en-US" sz="1100" dirty="0"/>
          </a:p>
        </p:txBody>
      </p:sp>
      <p:sp>
        <p:nvSpPr>
          <p:cNvPr id="25" name="Text 23"/>
          <p:cNvSpPr/>
          <p:nvPr/>
        </p:nvSpPr>
        <p:spPr>
          <a:xfrm>
            <a:off x="6272784" y="4187952"/>
            <a:ext cx="2615184" cy="201168"/>
          </a:xfrm>
          <a:prstGeom prst="rect">
            <a:avLst/>
          </a:prstGeom>
          <a:noFill/>
          <a:ln/>
        </p:spPr>
        <p:txBody>
          <a:bodyPr wrap="square" rtlCol="0" anchor="ctr"/>
          <a:lstStyle/>
          <a:p>
            <a:pPr marL="0" indent="0">
              <a:buNone/>
            </a:pPr>
            <a:r>
              <a:rPr lang="en-US" sz="950" dirty="0">
                <a:solidFill>
                  <a:srgbClr val="FFFFFF"/>
                </a:solidFill>
              </a:rPr>
              <a:t>~2,400 customers · ~8 sessions · ~220 kWh</a:t>
            </a:r>
            <a:endParaRPr lang="en-US" sz="950" dirty="0"/>
          </a:p>
        </p:txBody>
      </p:sp>
      <p:sp>
        <p:nvSpPr>
          <p:cNvPr id="26" name="Text 24"/>
          <p:cNvSpPr/>
          <p:nvPr/>
        </p:nvSpPr>
        <p:spPr>
          <a:xfrm>
            <a:off x="6272784" y="4425696"/>
            <a:ext cx="2615184" cy="548640"/>
          </a:xfrm>
          <a:prstGeom prst="rect">
            <a:avLst/>
          </a:prstGeom>
          <a:noFill/>
          <a:ln/>
        </p:spPr>
        <p:txBody>
          <a:bodyPr wrap="square" rtlCol="0" anchor="ctr"/>
          <a:lstStyle/>
          <a:p>
            <a:pPr marL="0" indent="0">
              <a:lnSpc>
                <a:spcPct val="130000"/>
              </a:lnSpc>
              <a:buNone/>
            </a:pPr>
            <a:r>
              <a:rPr lang="en-US" sz="900" dirty="0">
                <a:solidFill>
                  <a:srgbClr val="7A90B0"/>
                </a:solidFill>
              </a:rPr>
              <a:t>Infrequent, low-spend. Likely new EV owners. Targeted with onboarding offers.</a:t>
            </a:r>
            <a:endParaRPr lang="en-US" sz="900" dirty="0"/>
          </a:p>
        </p:txBody>
      </p:sp>
      <p:sp>
        <p:nvSpPr>
          <p:cNvPr id="27" name="Shape 25"/>
          <p:cNvSpPr/>
          <p:nvPr/>
        </p:nvSpPr>
        <p:spPr>
          <a:xfrm>
            <a:off x="256032" y="4736592"/>
            <a:ext cx="3346704" cy="256032"/>
          </a:xfrm>
          <a:prstGeom prst="rect">
            <a:avLst/>
          </a:prstGeom>
          <a:solidFill>
            <a:srgbClr val="111C2E"/>
          </a:solidFill>
          <a:ln w="12700">
            <a:solidFill>
              <a:srgbClr val="1A2E4A"/>
            </a:solidFill>
            <a:prstDash val="solid"/>
          </a:ln>
        </p:spPr>
      </p:sp>
      <p:sp>
        <p:nvSpPr>
          <p:cNvPr id="28" name="Text 26"/>
          <p:cNvSpPr/>
          <p:nvPr/>
        </p:nvSpPr>
        <p:spPr>
          <a:xfrm>
            <a:off x="347472" y="4773168"/>
            <a:ext cx="3163824" cy="201168"/>
          </a:xfrm>
          <a:prstGeom prst="rect">
            <a:avLst/>
          </a:prstGeom>
          <a:noFill/>
          <a:ln/>
        </p:spPr>
        <p:txBody>
          <a:bodyPr wrap="square" rtlCol="0" anchor="ctr"/>
          <a:lstStyle/>
          <a:p>
            <a:pPr marL="0" indent="0">
              <a:buNone/>
            </a:pPr>
            <a:r>
              <a:rPr lang="en-US" sz="950" b="1" dirty="0">
                <a:solidFill>
                  <a:srgbClr val="00E5A0"/>
                </a:solidFill>
              </a:rPr>
              <a:t>✅  Silhouette Score: 0.62 (good cluster separation)</a:t>
            </a:r>
            <a:endParaRPr lang="en-US" sz="950" dirty="0"/>
          </a:p>
        </p:txBody>
      </p:sp>
      <p:sp>
        <p:nvSpPr>
          <p:cNvPr id="29" name="Shape 27"/>
          <p:cNvSpPr/>
          <p:nvPr/>
        </p:nvSpPr>
        <p:spPr>
          <a:xfrm>
            <a:off x="3712464" y="4736592"/>
            <a:ext cx="5175504" cy="256032"/>
          </a:xfrm>
          <a:prstGeom prst="rect">
            <a:avLst/>
          </a:prstGeom>
          <a:solidFill>
            <a:srgbClr val="111C2E"/>
          </a:solidFill>
          <a:ln w="12700">
            <a:solidFill>
              <a:srgbClr val="1A2E4A"/>
            </a:solidFill>
            <a:prstDash val="solid"/>
          </a:ln>
        </p:spPr>
      </p:sp>
      <p:sp>
        <p:nvSpPr>
          <p:cNvPr id="30" name="Text 28"/>
          <p:cNvSpPr/>
          <p:nvPr/>
        </p:nvSpPr>
        <p:spPr>
          <a:xfrm>
            <a:off x="3803904" y="4773168"/>
            <a:ext cx="4992624" cy="201168"/>
          </a:xfrm>
          <a:prstGeom prst="rect">
            <a:avLst/>
          </a:prstGeom>
          <a:noFill/>
          <a:ln/>
        </p:spPr>
        <p:txBody>
          <a:bodyPr wrap="square" rtlCol="0" anchor="ctr"/>
          <a:lstStyle/>
          <a:p>
            <a:pPr marL="0" indent="0">
              <a:buNone/>
            </a:pPr>
            <a:r>
              <a:rPr lang="en-US" sz="950" i="1" dirty="0">
                <a:solidFill>
                  <a:srgbClr val="7A90B0"/>
                </a:solidFill>
              </a:rPr>
              <a:t>💡  Cluster 1 (Regular Commuters) is the largest and most stable segment — ideal for subscription revenue model</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9B7FFF"/>
          </a:solidFill>
          <a:ln w="12700">
            <a:solidFill>
              <a:srgbClr val="9B7FFF"/>
            </a:solidFill>
            <a:prstDash val="solid"/>
          </a:ln>
        </p:spPr>
      </p:sp>
      <p:sp>
        <p:nvSpPr>
          <p:cNvPr id="3" name="Text 1"/>
          <p:cNvSpPr/>
          <p:nvPr/>
        </p:nvSpPr>
        <p:spPr>
          <a:xfrm>
            <a:off x="256032" y="146304"/>
            <a:ext cx="8686800" cy="237744"/>
          </a:xfrm>
          <a:prstGeom prst="rect">
            <a:avLst/>
          </a:prstGeom>
          <a:noFill/>
          <a:ln/>
        </p:spPr>
        <p:txBody>
          <a:bodyPr wrap="square" rtlCol="0" anchor="ctr"/>
          <a:lstStyle/>
          <a:p>
            <a:pPr marL="0" indent="0">
              <a:buNone/>
            </a:pPr>
            <a:r>
              <a:rPr lang="en-US" sz="800" b="1" kern="0" spc="250" dirty="0">
                <a:solidFill>
                  <a:srgbClr val="9B7FFF"/>
                </a:solidFill>
              </a:rPr>
              <a:t>MACHINE LEARNING  ·  MODEL EVALUATION SUMMARY</a:t>
            </a:r>
            <a:endParaRPr lang="en-US" sz="800" dirty="0"/>
          </a:p>
        </p:txBody>
      </p:sp>
      <p:sp>
        <p:nvSpPr>
          <p:cNvPr id="4" name="Text 2"/>
          <p:cNvSpPr/>
          <p:nvPr/>
        </p:nvSpPr>
        <p:spPr>
          <a:xfrm>
            <a:off x="256032" y="384048"/>
            <a:ext cx="8595360" cy="530352"/>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Performance Overview — All 3 Models</a:t>
            </a:r>
            <a:endParaRPr lang="en-US" sz="2800" dirty="0"/>
          </a:p>
        </p:txBody>
      </p:sp>
      <p:sp>
        <p:nvSpPr>
          <p:cNvPr id="5" name="Text 3"/>
          <p:cNvSpPr/>
          <p:nvPr/>
        </p:nvSpPr>
        <p:spPr>
          <a:xfrm>
            <a:off x="256032" y="914400"/>
            <a:ext cx="8595360" cy="256032"/>
          </a:xfrm>
          <a:prstGeom prst="rect">
            <a:avLst/>
          </a:prstGeom>
          <a:noFill/>
          <a:ln/>
        </p:spPr>
        <p:txBody>
          <a:bodyPr wrap="square" rtlCol="0" anchor="ctr"/>
          <a:lstStyle/>
          <a:p>
            <a:pPr marL="0" indent="0">
              <a:buNone/>
            </a:pPr>
            <a:r>
              <a:rPr lang="en-US" sz="1100" i="1" dirty="0">
                <a:solidFill>
                  <a:srgbClr val="7A90B0"/>
                </a:solidFill>
              </a:rPr>
              <a:t>Consolidated accuracy metrics and business value of each model</a:t>
            </a:r>
            <a:endParaRPr lang="en-US" sz="1100" dirty="0"/>
          </a:p>
        </p:txBody>
      </p:sp>
      <p:sp>
        <p:nvSpPr>
          <p:cNvPr id="6" name="Shape 4"/>
          <p:cNvSpPr/>
          <p:nvPr/>
        </p:nvSpPr>
        <p:spPr>
          <a:xfrm>
            <a:off x="256032" y="1207008"/>
            <a:ext cx="8631936" cy="18288"/>
          </a:xfrm>
          <a:prstGeom prst="rect">
            <a:avLst/>
          </a:prstGeom>
          <a:solidFill>
            <a:srgbClr val="1A2E4A"/>
          </a:solidFill>
          <a:ln w="12700">
            <a:solidFill>
              <a:srgbClr val="1A2E4A"/>
            </a:solidFill>
            <a:prstDash val="solid"/>
          </a:ln>
        </p:spPr>
      </p:sp>
      <p:sp>
        <p:nvSpPr>
          <p:cNvPr id="7" name="Shape 5"/>
          <p:cNvSpPr/>
          <p:nvPr/>
        </p:nvSpPr>
        <p:spPr>
          <a:xfrm>
            <a:off x="256032" y="1353312"/>
            <a:ext cx="2798064" cy="3547872"/>
          </a:xfrm>
          <a:prstGeom prst="rect">
            <a:avLst/>
          </a:prstGeom>
          <a:solidFill>
            <a:srgbClr val="111C2E"/>
          </a:solidFill>
          <a:ln w="15240">
            <a:solidFill>
              <a:srgbClr val="00D4FF"/>
            </a:solidFill>
            <a:prstDash val="solid"/>
          </a:ln>
          <a:effectLst>
            <a:outerShdw blurRad="127000" dist="38100" dir="8100000" algn="bl" rotWithShape="0">
              <a:srgbClr val="000000">
                <a:alpha val="30000"/>
              </a:srgbClr>
            </a:outerShdw>
          </a:effectLst>
        </p:spPr>
      </p:sp>
      <p:sp>
        <p:nvSpPr>
          <p:cNvPr id="8" name="Shape 6"/>
          <p:cNvSpPr/>
          <p:nvPr/>
        </p:nvSpPr>
        <p:spPr>
          <a:xfrm>
            <a:off x="256032" y="1353312"/>
            <a:ext cx="2798064" cy="292608"/>
          </a:xfrm>
          <a:prstGeom prst="rect">
            <a:avLst/>
          </a:prstGeom>
          <a:solidFill>
            <a:srgbClr val="00D4FF">
              <a:alpha val="80000"/>
            </a:srgbClr>
          </a:solidFill>
          <a:ln w="12700">
            <a:solidFill>
              <a:srgbClr val="00D4FF"/>
            </a:solidFill>
            <a:prstDash val="solid"/>
          </a:ln>
        </p:spPr>
      </p:sp>
      <p:sp>
        <p:nvSpPr>
          <p:cNvPr id="9" name="Text 7"/>
          <p:cNvSpPr/>
          <p:nvPr/>
        </p:nvSpPr>
        <p:spPr>
          <a:xfrm>
            <a:off x="347472" y="1408176"/>
            <a:ext cx="2615184" cy="182880"/>
          </a:xfrm>
          <a:prstGeom prst="rect">
            <a:avLst/>
          </a:prstGeom>
          <a:noFill/>
          <a:ln/>
        </p:spPr>
        <p:txBody>
          <a:bodyPr wrap="square" rtlCol="0" anchor="ctr"/>
          <a:lstStyle/>
          <a:p>
            <a:pPr marL="0" indent="0">
              <a:buNone/>
            </a:pPr>
            <a:r>
              <a:rPr lang="en-US" sz="1000" b="1" dirty="0">
                <a:solidFill>
                  <a:srgbClr val="00D4FF"/>
                </a:solidFill>
              </a:rPr>
              <a:t>Model 1 · Demand Forecasting</a:t>
            </a:r>
            <a:endParaRPr lang="en-US" sz="1000" dirty="0"/>
          </a:p>
        </p:txBody>
      </p:sp>
      <p:sp>
        <p:nvSpPr>
          <p:cNvPr id="10" name="Text 8"/>
          <p:cNvSpPr/>
          <p:nvPr/>
        </p:nvSpPr>
        <p:spPr>
          <a:xfrm>
            <a:off x="347472" y="1700784"/>
            <a:ext cx="2615184" cy="201168"/>
          </a:xfrm>
          <a:prstGeom prst="rect">
            <a:avLst/>
          </a:prstGeom>
          <a:noFill/>
          <a:ln/>
        </p:spPr>
        <p:txBody>
          <a:bodyPr wrap="square" rtlCol="0" anchor="ctr"/>
          <a:lstStyle/>
          <a:p>
            <a:pPr marL="0" indent="0">
              <a:buNone/>
            </a:pPr>
            <a:r>
              <a:rPr lang="en-US" sz="950" i="1" dirty="0">
                <a:solidFill>
                  <a:srgbClr val="7A90B0"/>
                </a:solidFill>
              </a:rPr>
              <a:t>Algorithm: Random Forest Regressor</a:t>
            </a:r>
            <a:endParaRPr lang="en-US" sz="950" dirty="0"/>
          </a:p>
        </p:txBody>
      </p:sp>
      <p:sp>
        <p:nvSpPr>
          <p:cNvPr id="11" name="Shape 9"/>
          <p:cNvSpPr/>
          <p:nvPr/>
        </p:nvSpPr>
        <p:spPr>
          <a:xfrm>
            <a:off x="347472" y="1947672"/>
            <a:ext cx="2615184" cy="18288"/>
          </a:xfrm>
          <a:prstGeom prst="rect">
            <a:avLst/>
          </a:prstGeom>
          <a:solidFill>
            <a:srgbClr val="1A2E4A"/>
          </a:solidFill>
          <a:ln w="12700">
            <a:solidFill>
              <a:srgbClr val="1A2E4A"/>
            </a:solidFill>
            <a:prstDash val="solid"/>
          </a:ln>
        </p:spPr>
      </p:sp>
      <p:sp>
        <p:nvSpPr>
          <p:cNvPr id="12" name="Shape 10"/>
          <p:cNvSpPr/>
          <p:nvPr/>
        </p:nvSpPr>
        <p:spPr>
          <a:xfrm>
            <a:off x="347472" y="2011680"/>
            <a:ext cx="2615184" cy="310896"/>
          </a:xfrm>
          <a:prstGeom prst="rect">
            <a:avLst/>
          </a:prstGeom>
          <a:solidFill>
            <a:srgbClr val="0F1F35"/>
          </a:solidFill>
          <a:ln w="12700">
            <a:solidFill>
              <a:srgbClr val="1A2E4A"/>
            </a:solidFill>
            <a:prstDash val="solid"/>
          </a:ln>
        </p:spPr>
      </p:sp>
      <p:sp>
        <p:nvSpPr>
          <p:cNvPr id="13" name="Text 11"/>
          <p:cNvSpPr/>
          <p:nvPr/>
        </p:nvSpPr>
        <p:spPr>
          <a:xfrm>
            <a:off x="420624" y="2075688"/>
            <a:ext cx="1371600" cy="201168"/>
          </a:xfrm>
          <a:prstGeom prst="rect">
            <a:avLst/>
          </a:prstGeom>
          <a:noFill/>
          <a:ln/>
        </p:spPr>
        <p:txBody>
          <a:bodyPr wrap="square" rtlCol="0" anchor="ctr"/>
          <a:lstStyle/>
          <a:p>
            <a:pPr marL="0" indent="0">
              <a:buNone/>
            </a:pPr>
            <a:r>
              <a:rPr lang="en-US" sz="950" dirty="0">
                <a:solidFill>
                  <a:srgbClr val="7A90B0"/>
                </a:solidFill>
              </a:rPr>
              <a:t>R² Score</a:t>
            </a:r>
            <a:endParaRPr lang="en-US" sz="950" dirty="0"/>
          </a:p>
        </p:txBody>
      </p:sp>
      <p:sp>
        <p:nvSpPr>
          <p:cNvPr id="14" name="Text 12"/>
          <p:cNvSpPr/>
          <p:nvPr/>
        </p:nvSpPr>
        <p:spPr>
          <a:xfrm>
            <a:off x="1810512" y="2075688"/>
            <a:ext cx="1097280" cy="201168"/>
          </a:xfrm>
          <a:prstGeom prst="rect">
            <a:avLst/>
          </a:prstGeom>
          <a:noFill/>
          <a:ln/>
        </p:spPr>
        <p:txBody>
          <a:bodyPr wrap="square" rtlCol="0" anchor="ctr"/>
          <a:lstStyle/>
          <a:p>
            <a:pPr marL="0" indent="0">
              <a:buNone/>
            </a:pPr>
            <a:r>
              <a:rPr lang="en-US" sz="1000" b="1" dirty="0">
                <a:solidFill>
                  <a:srgbClr val="00D4FF"/>
                </a:solidFill>
              </a:rPr>
              <a:t>0.87</a:t>
            </a:r>
            <a:endParaRPr lang="en-US" sz="1000" dirty="0"/>
          </a:p>
        </p:txBody>
      </p:sp>
      <p:sp>
        <p:nvSpPr>
          <p:cNvPr id="15" name="Shape 13"/>
          <p:cNvSpPr/>
          <p:nvPr/>
        </p:nvSpPr>
        <p:spPr>
          <a:xfrm>
            <a:off x="347472" y="2359152"/>
            <a:ext cx="2615184" cy="310896"/>
          </a:xfrm>
          <a:prstGeom prst="rect">
            <a:avLst/>
          </a:prstGeom>
          <a:solidFill>
            <a:srgbClr val="0D1829"/>
          </a:solidFill>
          <a:ln w="12700">
            <a:solidFill>
              <a:srgbClr val="1A2E4A"/>
            </a:solidFill>
            <a:prstDash val="solid"/>
          </a:ln>
        </p:spPr>
      </p:sp>
      <p:sp>
        <p:nvSpPr>
          <p:cNvPr id="16" name="Text 14"/>
          <p:cNvSpPr/>
          <p:nvPr/>
        </p:nvSpPr>
        <p:spPr>
          <a:xfrm>
            <a:off x="420624" y="2423160"/>
            <a:ext cx="1371600" cy="201168"/>
          </a:xfrm>
          <a:prstGeom prst="rect">
            <a:avLst/>
          </a:prstGeom>
          <a:noFill/>
          <a:ln/>
        </p:spPr>
        <p:txBody>
          <a:bodyPr wrap="square" rtlCol="0" anchor="ctr"/>
          <a:lstStyle/>
          <a:p>
            <a:pPr marL="0" indent="0">
              <a:buNone/>
            </a:pPr>
            <a:r>
              <a:rPr lang="en-US" sz="950" dirty="0">
                <a:solidFill>
                  <a:srgbClr val="7A90B0"/>
                </a:solidFill>
              </a:rPr>
              <a:t>MAE</a:t>
            </a:r>
            <a:endParaRPr lang="en-US" sz="950" dirty="0"/>
          </a:p>
        </p:txBody>
      </p:sp>
      <p:sp>
        <p:nvSpPr>
          <p:cNvPr id="17" name="Text 15"/>
          <p:cNvSpPr/>
          <p:nvPr/>
        </p:nvSpPr>
        <p:spPr>
          <a:xfrm>
            <a:off x="1810512" y="2423160"/>
            <a:ext cx="1097280" cy="201168"/>
          </a:xfrm>
          <a:prstGeom prst="rect">
            <a:avLst/>
          </a:prstGeom>
          <a:noFill/>
          <a:ln/>
        </p:spPr>
        <p:txBody>
          <a:bodyPr wrap="square" rtlCol="0" anchor="ctr"/>
          <a:lstStyle/>
          <a:p>
            <a:pPr marL="0" indent="0">
              <a:buNone/>
            </a:pPr>
            <a:r>
              <a:rPr lang="en-US" sz="1000" b="1" dirty="0">
                <a:solidFill>
                  <a:srgbClr val="00D4FF"/>
                </a:solidFill>
              </a:rPr>
              <a:t>~12.4 sessions/day</a:t>
            </a:r>
            <a:endParaRPr lang="en-US" sz="1000" dirty="0"/>
          </a:p>
        </p:txBody>
      </p:sp>
      <p:sp>
        <p:nvSpPr>
          <p:cNvPr id="18" name="Shape 16"/>
          <p:cNvSpPr/>
          <p:nvPr/>
        </p:nvSpPr>
        <p:spPr>
          <a:xfrm>
            <a:off x="347472" y="2706624"/>
            <a:ext cx="2615184" cy="310896"/>
          </a:xfrm>
          <a:prstGeom prst="rect">
            <a:avLst/>
          </a:prstGeom>
          <a:solidFill>
            <a:srgbClr val="0F1F35"/>
          </a:solidFill>
          <a:ln w="12700">
            <a:solidFill>
              <a:srgbClr val="1A2E4A"/>
            </a:solidFill>
            <a:prstDash val="solid"/>
          </a:ln>
        </p:spPr>
      </p:sp>
      <p:sp>
        <p:nvSpPr>
          <p:cNvPr id="19" name="Text 17"/>
          <p:cNvSpPr/>
          <p:nvPr/>
        </p:nvSpPr>
        <p:spPr>
          <a:xfrm>
            <a:off x="420624" y="2770632"/>
            <a:ext cx="1371600" cy="201168"/>
          </a:xfrm>
          <a:prstGeom prst="rect">
            <a:avLst/>
          </a:prstGeom>
          <a:noFill/>
          <a:ln/>
        </p:spPr>
        <p:txBody>
          <a:bodyPr wrap="square" rtlCol="0" anchor="ctr"/>
          <a:lstStyle/>
          <a:p>
            <a:pPr marL="0" indent="0">
              <a:buNone/>
            </a:pPr>
            <a:r>
              <a:rPr lang="en-US" sz="950" dirty="0">
                <a:solidFill>
                  <a:srgbClr val="7A90B0"/>
                </a:solidFill>
              </a:rPr>
              <a:t>RMSE</a:t>
            </a:r>
            <a:endParaRPr lang="en-US" sz="950" dirty="0"/>
          </a:p>
        </p:txBody>
      </p:sp>
      <p:sp>
        <p:nvSpPr>
          <p:cNvPr id="20" name="Text 18"/>
          <p:cNvSpPr/>
          <p:nvPr/>
        </p:nvSpPr>
        <p:spPr>
          <a:xfrm>
            <a:off x="1810512" y="2770632"/>
            <a:ext cx="1097280" cy="201168"/>
          </a:xfrm>
          <a:prstGeom prst="rect">
            <a:avLst/>
          </a:prstGeom>
          <a:noFill/>
          <a:ln/>
        </p:spPr>
        <p:txBody>
          <a:bodyPr wrap="square" rtlCol="0" anchor="ctr"/>
          <a:lstStyle/>
          <a:p>
            <a:pPr marL="0" indent="0">
              <a:buNone/>
            </a:pPr>
            <a:r>
              <a:rPr lang="en-US" sz="1000" b="1" dirty="0">
                <a:solidFill>
                  <a:srgbClr val="00D4FF"/>
                </a:solidFill>
              </a:rPr>
              <a:t>~18.2 sessions</a:t>
            </a:r>
            <a:endParaRPr lang="en-US" sz="1000" dirty="0"/>
          </a:p>
        </p:txBody>
      </p:sp>
      <p:sp>
        <p:nvSpPr>
          <p:cNvPr id="21" name="Shape 19"/>
          <p:cNvSpPr/>
          <p:nvPr/>
        </p:nvSpPr>
        <p:spPr>
          <a:xfrm>
            <a:off x="347472" y="3054096"/>
            <a:ext cx="2615184" cy="310896"/>
          </a:xfrm>
          <a:prstGeom prst="rect">
            <a:avLst/>
          </a:prstGeom>
          <a:solidFill>
            <a:srgbClr val="0D1829"/>
          </a:solidFill>
          <a:ln w="12700">
            <a:solidFill>
              <a:srgbClr val="1A2E4A"/>
            </a:solidFill>
            <a:prstDash val="solid"/>
          </a:ln>
        </p:spPr>
      </p:sp>
      <p:sp>
        <p:nvSpPr>
          <p:cNvPr id="22" name="Text 20"/>
          <p:cNvSpPr/>
          <p:nvPr/>
        </p:nvSpPr>
        <p:spPr>
          <a:xfrm>
            <a:off x="420624" y="3118104"/>
            <a:ext cx="1371600" cy="201168"/>
          </a:xfrm>
          <a:prstGeom prst="rect">
            <a:avLst/>
          </a:prstGeom>
          <a:noFill/>
          <a:ln/>
        </p:spPr>
        <p:txBody>
          <a:bodyPr wrap="square" rtlCol="0" anchor="ctr"/>
          <a:lstStyle/>
          <a:p>
            <a:pPr marL="0" indent="0">
              <a:buNone/>
            </a:pPr>
            <a:r>
              <a:rPr lang="en-US" sz="950" dirty="0">
                <a:solidFill>
                  <a:srgbClr val="7A90B0"/>
                </a:solidFill>
              </a:rPr>
              <a:t>Best Feature</a:t>
            </a:r>
            <a:endParaRPr lang="en-US" sz="950" dirty="0"/>
          </a:p>
        </p:txBody>
      </p:sp>
      <p:sp>
        <p:nvSpPr>
          <p:cNvPr id="23" name="Text 21"/>
          <p:cNvSpPr/>
          <p:nvPr/>
        </p:nvSpPr>
        <p:spPr>
          <a:xfrm>
            <a:off x="1810512" y="3118104"/>
            <a:ext cx="1097280" cy="201168"/>
          </a:xfrm>
          <a:prstGeom prst="rect">
            <a:avLst/>
          </a:prstGeom>
          <a:noFill/>
          <a:ln/>
        </p:spPr>
        <p:txBody>
          <a:bodyPr wrap="square" rtlCol="0" anchor="ctr"/>
          <a:lstStyle/>
          <a:p>
            <a:pPr marL="0" indent="0">
              <a:buNone/>
            </a:pPr>
            <a:r>
              <a:rPr lang="en-US" sz="1000" b="1" dirty="0">
                <a:solidFill>
                  <a:srgbClr val="00D4FF"/>
                </a:solidFill>
              </a:rPr>
              <a:t>Month + Day of Week</a:t>
            </a:r>
            <a:endParaRPr lang="en-US" sz="1000" dirty="0"/>
          </a:p>
        </p:txBody>
      </p:sp>
      <p:sp>
        <p:nvSpPr>
          <p:cNvPr id="24" name="Shape 22"/>
          <p:cNvSpPr/>
          <p:nvPr/>
        </p:nvSpPr>
        <p:spPr>
          <a:xfrm>
            <a:off x="347472" y="3456432"/>
            <a:ext cx="2615184" cy="18288"/>
          </a:xfrm>
          <a:prstGeom prst="rect">
            <a:avLst/>
          </a:prstGeom>
          <a:solidFill>
            <a:srgbClr val="1A2E4A"/>
          </a:solidFill>
          <a:ln w="12700">
            <a:solidFill>
              <a:srgbClr val="1A2E4A"/>
            </a:solidFill>
            <a:prstDash val="solid"/>
          </a:ln>
        </p:spPr>
      </p:sp>
      <p:sp>
        <p:nvSpPr>
          <p:cNvPr id="25" name="Text 23"/>
          <p:cNvSpPr/>
          <p:nvPr/>
        </p:nvSpPr>
        <p:spPr>
          <a:xfrm>
            <a:off x="347472" y="3529584"/>
            <a:ext cx="2615184" cy="1188720"/>
          </a:xfrm>
          <a:prstGeom prst="rect">
            <a:avLst/>
          </a:prstGeom>
          <a:noFill/>
          <a:ln/>
        </p:spPr>
        <p:txBody>
          <a:bodyPr wrap="square" rtlCol="0" anchor="ctr"/>
          <a:lstStyle/>
          <a:p>
            <a:pPr marL="0" indent="0">
              <a:lnSpc>
                <a:spcPct val="130000"/>
              </a:lnSpc>
              <a:buNone/>
            </a:pPr>
            <a:r>
              <a:rPr lang="en-US" sz="950" dirty="0">
                <a:solidFill>
                  <a:srgbClr val="7A90B0"/>
                </a:solidFill>
              </a:rPr>
              <a:t>💡 Helps city planners decide WHEN and WHERE to add new plugs before demand peaks.</a:t>
            </a:r>
            <a:endParaRPr lang="en-US" sz="950" dirty="0"/>
          </a:p>
        </p:txBody>
      </p:sp>
      <p:sp>
        <p:nvSpPr>
          <p:cNvPr id="26" name="Shape 24"/>
          <p:cNvSpPr/>
          <p:nvPr/>
        </p:nvSpPr>
        <p:spPr>
          <a:xfrm>
            <a:off x="3218688" y="1353312"/>
            <a:ext cx="2798064" cy="3547872"/>
          </a:xfrm>
          <a:prstGeom prst="rect">
            <a:avLst/>
          </a:prstGeom>
          <a:solidFill>
            <a:srgbClr val="111C2E"/>
          </a:solidFill>
          <a:ln w="15240">
            <a:solidFill>
              <a:srgbClr val="00E5A0"/>
            </a:solidFill>
            <a:prstDash val="solid"/>
          </a:ln>
          <a:effectLst>
            <a:outerShdw blurRad="127000" dist="38100" dir="8100000" algn="bl" rotWithShape="0">
              <a:srgbClr val="000000">
                <a:alpha val="30000"/>
              </a:srgbClr>
            </a:outerShdw>
          </a:effectLst>
        </p:spPr>
      </p:sp>
      <p:sp>
        <p:nvSpPr>
          <p:cNvPr id="27" name="Shape 25"/>
          <p:cNvSpPr/>
          <p:nvPr/>
        </p:nvSpPr>
        <p:spPr>
          <a:xfrm>
            <a:off x="3218688" y="1353312"/>
            <a:ext cx="2798064" cy="292608"/>
          </a:xfrm>
          <a:prstGeom prst="rect">
            <a:avLst/>
          </a:prstGeom>
          <a:solidFill>
            <a:srgbClr val="00E5A0">
              <a:alpha val="80000"/>
            </a:srgbClr>
          </a:solidFill>
          <a:ln w="12700">
            <a:solidFill>
              <a:srgbClr val="00E5A0"/>
            </a:solidFill>
            <a:prstDash val="solid"/>
          </a:ln>
        </p:spPr>
      </p:sp>
      <p:sp>
        <p:nvSpPr>
          <p:cNvPr id="28" name="Text 26"/>
          <p:cNvSpPr/>
          <p:nvPr/>
        </p:nvSpPr>
        <p:spPr>
          <a:xfrm>
            <a:off x="3310128" y="1408176"/>
            <a:ext cx="2615184" cy="182880"/>
          </a:xfrm>
          <a:prstGeom prst="rect">
            <a:avLst/>
          </a:prstGeom>
          <a:noFill/>
          <a:ln/>
        </p:spPr>
        <p:txBody>
          <a:bodyPr wrap="square" rtlCol="0" anchor="ctr"/>
          <a:lstStyle/>
          <a:p>
            <a:pPr marL="0" indent="0">
              <a:buNone/>
            </a:pPr>
            <a:r>
              <a:rPr lang="en-US" sz="1000" b="1" dirty="0">
                <a:solidFill>
                  <a:srgbClr val="00E5A0"/>
                </a:solidFill>
              </a:rPr>
              <a:t>Model 2 · Session Cost Regression</a:t>
            </a:r>
            <a:endParaRPr lang="en-US" sz="1000" dirty="0"/>
          </a:p>
        </p:txBody>
      </p:sp>
      <p:sp>
        <p:nvSpPr>
          <p:cNvPr id="29" name="Text 27"/>
          <p:cNvSpPr/>
          <p:nvPr/>
        </p:nvSpPr>
        <p:spPr>
          <a:xfrm>
            <a:off x="3310128" y="1700784"/>
            <a:ext cx="2615184" cy="201168"/>
          </a:xfrm>
          <a:prstGeom prst="rect">
            <a:avLst/>
          </a:prstGeom>
          <a:noFill/>
          <a:ln/>
        </p:spPr>
        <p:txBody>
          <a:bodyPr wrap="square" rtlCol="0" anchor="ctr"/>
          <a:lstStyle/>
          <a:p>
            <a:pPr marL="0" indent="0">
              <a:buNone/>
            </a:pPr>
            <a:r>
              <a:rPr lang="en-US" sz="950" i="1" dirty="0">
                <a:solidFill>
                  <a:srgbClr val="7A90B0"/>
                </a:solidFill>
              </a:rPr>
              <a:t>Algorithm: Gradient Boosting Regressor</a:t>
            </a:r>
            <a:endParaRPr lang="en-US" sz="950" dirty="0"/>
          </a:p>
        </p:txBody>
      </p:sp>
      <p:sp>
        <p:nvSpPr>
          <p:cNvPr id="30" name="Shape 28"/>
          <p:cNvSpPr/>
          <p:nvPr/>
        </p:nvSpPr>
        <p:spPr>
          <a:xfrm>
            <a:off x="3310128" y="1947672"/>
            <a:ext cx="2615184" cy="18288"/>
          </a:xfrm>
          <a:prstGeom prst="rect">
            <a:avLst/>
          </a:prstGeom>
          <a:solidFill>
            <a:srgbClr val="1A2E4A"/>
          </a:solidFill>
          <a:ln w="12700">
            <a:solidFill>
              <a:srgbClr val="1A2E4A"/>
            </a:solidFill>
            <a:prstDash val="solid"/>
          </a:ln>
        </p:spPr>
      </p:sp>
      <p:sp>
        <p:nvSpPr>
          <p:cNvPr id="31" name="Shape 29"/>
          <p:cNvSpPr/>
          <p:nvPr/>
        </p:nvSpPr>
        <p:spPr>
          <a:xfrm>
            <a:off x="3310128" y="2011680"/>
            <a:ext cx="2615184" cy="310896"/>
          </a:xfrm>
          <a:prstGeom prst="rect">
            <a:avLst/>
          </a:prstGeom>
          <a:solidFill>
            <a:srgbClr val="0F1F35"/>
          </a:solidFill>
          <a:ln w="12700">
            <a:solidFill>
              <a:srgbClr val="1A2E4A"/>
            </a:solidFill>
            <a:prstDash val="solid"/>
          </a:ln>
        </p:spPr>
      </p:sp>
      <p:sp>
        <p:nvSpPr>
          <p:cNvPr id="32" name="Text 30"/>
          <p:cNvSpPr/>
          <p:nvPr/>
        </p:nvSpPr>
        <p:spPr>
          <a:xfrm>
            <a:off x="3383280" y="2075688"/>
            <a:ext cx="1371600" cy="201168"/>
          </a:xfrm>
          <a:prstGeom prst="rect">
            <a:avLst/>
          </a:prstGeom>
          <a:noFill/>
          <a:ln/>
        </p:spPr>
        <p:txBody>
          <a:bodyPr wrap="square" rtlCol="0" anchor="ctr"/>
          <a:lstStyle/>
          <a:p>
            <a:pPr marL="0" indent="0">
              <a:buNone/>
            </a:pPr>
            <a:r>
              <a:rPr lang="en-US" sz="950" dirty="0">
                <a:solidFill>
                  <a:srgbClr val="7A90B0"/>
                </a:solidFill>
              </a:rPr>
              <a:t>R² Score</a:t>
            </a:r>
            <a:endParaRPr lang="en-US" sz="950" dirty="0"/>
          </a:p>
        </p:txBody>
      </p:sp>
      <p:sp>
        <p:nvSpPr>
          <p:cNvPr id="33" name="Text 31"/>
          <p:cNvSpPr/>
          <p:nvPr/>
        </p:nvSpPr>
        <p:spPr>
          <a:xfrm>
            <a:off x="4773168" y="2075688"/>
            <a:ext cx="1097280" cy="201168"/>
          </a:xfrm>
          <a:prstGeom prst="rect">
            <a:avLst/>
          </a:prstGeom>
          <a:noFill/>
          <a:ln/>
        </p:spPr>
        <p:txBody>
          <a:bodyPr wrap="square" rtlCol="0" anchor="ctr"/>
          <a:lstStyle/>
          <a:p>
            <a:pPr marL="0" indent="0">
              <a:buNone/>
            </a:pPr>
            <a:r>
              <a:rPr lang="en-US" sz="1000" b="1" dirty="0">
                <a:solidFill>
                  <a:srgbClr val="00E5A0"/>
                </a:solidFill>
              </a:rPr>
              <a:t>0.91</a:t>
            </a:r>
            <a:endParaRPr lang="en-US" sz="1000" dirty="0"/>
          </a:p>
        </p:txBody>
      </p:sp>
      <p:sp>
        <p:nvSpPr>
          <p:cNvPr id="34" name="Shape 32"/>
          <p:cNvSpPr/>
          <p:nvPr/>
        </p:nvSpPr>
        <p:spPr>
          <a:xfrm>
            <a:off x="3310128" y="2359152"/>
            <a:ext cx="2615184" cy="310896"/>
          </a:xfrm>
          <a:prstGeom prst="rect">
            <a:avLst/>
          </a:prstGeom>
          <a:solidFill>
            <a:srgbClr val="0D1829"/>
          </a:solidFill>
          <a:ln w="12700">
            <a:solidFill>
              <a:srgbClr val="1A2E4A"/>
            </a:solidFill>
            <a:prstDash val="solid"/>
          </a:ln>
        </p:spPr>
      </p:sp>
      <p:sp>
        <p:nvSpPr>
          <p:cNvPr id="35" name="Text 33"/>
          <p:cNvSpPr/>
          <p:nvPr/>
        </p:nvSpPr>
        <p:spPr>
          <a:xfrm>
            <a:off x="3383280" y="2423160"/>
            <a:ext cx="1371600" cy="201168"/>
          </a:xfrm>
          <a:prstGeom prst="rect">
            <a:avLst/>
          </a:prstGeom>
          <a:noFill/>
          <a:ln/>
        </p:spPr>
        <p:txBody>
          <a:bodyPr wrap="square" rtlCol="0" anchor="ctr"/>
          <a:lstStyle/>
          <a:p>
            <a:pPr marL="0" indent="0">
              <a:buNone/>
            </a:pPr>
            <a:r>
              <a:rPr lang="en-US" sz="950" dirty="0">
                <a:solidFill>
                  <a:srgbClr val="7A90B0"/>
                </a:solidFill>
              </a:rPr>
              <a:t>MAE</a:t>
            </a:r>
            <a:endParaRPr lang="en-US" sz="950" dirty="0"/>
          </a:p>
        </p:txBody>
      </p:sp>
      <p:sp>
        <p:nvSpPr>
          <p:cNvPr id="36" name="Text 34"/>
          <p:cNvSpPr/>
          <p:nvPr/>
        </p:nvSpPr>
        <p:spPr>
          <a:xfrm>
            <a:off x="4773168" y="2423160"/>
            <a:ext cx="1097280" cy="201168"/>
          </a:xfrm>
          <a:prstGeom prst="rect">
            <a:avLst/>
          </a:prstGeom>
          <a:noFill/>
          <a:ln/>
        </p:spPr>
        <p:txBody>
          <a:bodyPr wrap="square" rtlCol="0" anchor="ctr"/>
          <a:lstStyle/>
          <a:p>
            <a:pPr marL="0" indent="0">
              <a:buNone/>
            </a:pPr>
            <a:r>
              <a:rPr lang="en-US" sz="1000" b="1" dirty="0">
                <a:solidFill>
                  <a:srgbClr val="00E5A0"/>
                </a:solidFill>
              </a:rPr>
              <a:t>zł8.34 / session</a:t>
            </a:r>
            <a:endParaRPr lang="en-US" sz="1000" dirty="0"/>
          </a:p>
        </p:txBody>
      </p:sp>
      <p:sp>
        <p:nvSpPr>
          <p:cNvPr id="37" name="Shape 35"/>
          <p:cNvSpPr/>
          <p:nvPr/>
        </p:nvSpPr>
        <p:spPr>
          <a:xfrm>
            <a:off x="3310128" y="2706624"/>
            <a:ext cx="2615184" cy="310896"/>
          </a:xfrm>
          <a:prstGeom prst="rect">
            <a:avLst/>
          </a:prstGeom>
          <a:solidFill>
            <a:srgbClr val="0F1F35"/>
          </a:solidFill>
          <a:ln w="12700">
            <a:solidFill>
              <a:srgbClr val="1A2E4A"/>
            </a:solidFill>
            <a:prstDash val="solid"/>
          </a:ln>
        </p:spPr>
      </p:sp>
      <p:sp>
        <p:nvSpPr>
          <p:cNvPr id="38" name="Text 36"/>
          <p:cNvSpPr/>
          <p:nvPr/>
        </p:nvSpPr>
        <p:spPr>
          <a:xfrm>
            <a:off x="3383280" y="2770632"/>
            <a:ext cx="1371600" cy="201168"/>
          </a:xfrm>
          <a:prstGeom prst="rect">
            <a:avLst/>
          </a:prstGeom>
          <a:noFill/>
          <a:ln/>
        </p:spPr>
        <p:txBody>
          <a:bodyPr wrap="square" rtlCol="0" anchor="ctr"/>
          <a:lstStyle/>
          <a:p>
            <a:pPr marL="0" indent="0">
              <a:buNone/>
            </a:pPr>
            <a:r>
              <a:rPr lang="en-US" sz="950" dirty="0">
                <a:solidFill>
                  <a:srgbClr val="7A90B0"/>
                </a:solidFill>
              </a:rPr>
              <a:t>Top Feature</a:t>
            </a:r>
            <a:endParaRPr lang="en-US" sz="950" dirty="0"/>
          </a:p>
        </p:txBody>
      </p:sp>
      <p:sp>
        <p:nvSpPr>
          <p:cNvPr id="39" name="Text 37"/>
          <p:cNvSpPr/>
          <p:nvPr/>
        </p:nvSpPr>
        <p:spPr>
          <a:xfrm>
            <a:off x="4773168" y="2770632"/>
            <a:ext cx="1097280" cy="201168"/>
          </a:xfrm>
          <a:prstGeom prst="rect">
            <a:avLst/>
          </a:prstGeom>
          <a:noFill/>
          <a:ln/>
        </p:spPr>
        <p:txBody>
          <a:bodyPr wrap="square" rtlCol="0" anchor="ctr"/>
          <a:lstStyle/>
          <a:p>
            <a:pPr marL="0" indent="0">
              <a:buNone/>
            </a:pPr>
            <a:r>
              <a:rPr lang="en-US" sz="1000" b="1" dirty="0">
                <a:solidFill>
                  <a:srgbClr val="00E5A0"/>
                </a:solidFill>
              </a:rPr>
              <a:t>kWh charged (78%)</a:t>
            </a:r>
            <a:endParaRPr lang="en-US" sz="1000" dirty="0"/>
          </a:p>
        </p:txBody>
      </p:sp>
      <p:sp>
        <p:nvSpPr>
          <p:cNvPr id="40" name="Shape 38"/>
          <p:cNvSpPr/>
          <p:nvPr/>
        </p:nvSpPr>
        <p:spPr>
          <a:xfrm>
            <a:off x="3310128" y="3054096"/>
            <a:ext cx="2615184" cy="310896"/>
          </a:xfrm>
          <a:prstGeom prst="rect">
            <a:avLst/>
          </a:prstGeom>
          <a:solidFill>
            <a:srgbClr val="0D1829"/>
          </a:solidFill>
          <a:ln w="12700">
            <a:solidFill>
              <a:srgbClr val="1A2E4A"/>
            </a:solidFill>
            <a:prstDash val="solid"/>
          </a:ln>
        </p:spPr>
      </p:sp>
      <p:sp>
        <p:nvSpPr>
          <p:cNvPr id="41" name="Text 39"/>
          <p:cNvSpPr/>
          <p:nvPr/>
        </p:nvSpPr>
        <p:spPr>
          <a:xfrm>
            <a:off x="3383280" y="3118104"/>
            <a:ext cx="1371600" cy="201168"/>
          </a:xfrm>
          <a:prstGeom prst="rect">
            <a:avLst/>
          </a:prstGeom>
          <a:noFill/>
          <a:ln/>
        </p:spPr>
        <p:txBody>
          <a:bodyPr wrap="square" rtlCol="0" anchor="ctr"/>
          <a:lstStyle/>
          <a:p>
            <a:pPr marL="0" indent="0">
              <a:buNone/>
            </a:pPr>
            <a:r>
              <a:rPr lang="en-US" sz="950" dirty="0">
                <a:solidFill>
                  <a:srgbClr val="7A90B0"/>
                </a:solidFill>
              </a:rPr>
              <a:t>Accuracy</a:t>
            </a:r>
            <a:endParaRPr lang="en-US" sz="950" dirty="0"/>
          </a:p>
        </p:txBody>
      </p:sp>
      <p:sp>
        <p:nvSpPr>
          <p:cNvPr id="42" name="Text 40"/>
          <p:cNvSpPr/>
          <p:nvPr/>
        </p:nvSpPr>
        <p:spPr>
          <a:xfrm>
            <a:off x="4773168" y="3118104"/>
            <a:ext cx="1097280" cy="201168"/>
          </a:xfrm>
          <a:prstGeom prst="rect">
            <a:avLst/>
          </a:prstGeom>
          <a:noFill/>
          <a:ln/>
        </p:spPr>
        <p:txBody>
          <a:bodyPr wrap="square" rtlCol="0" anchor="ctr"/>
          <a:lstStyle/>
          <a:p>
            <a:pPr marL="0" indent="0">
              <a:buNone/>
            </a:pPr>
            <a:r>
              <a:rPr lang="en-US" sz="1000" b="1" dirty="0">
                <a:solidFill>
                  <a:srgbClr val="00E5A0"/>
                </a:solidFill>
              </a:rPr>
              <a:t>±8% of actual cost</a:t>
            </a:r>
            <a:endParaRPr lang="en-US" sz="1000" dirty="0"/>
          </a:p>
        </p:txBody>
      </p:sp>
      <p:sp>
        <p:nvSpPr>
          <p:cNvPr id="43" name="Shape 41"/>
          <p:cNvSpPr/>
          <p:nvPr/>
        </p:nvSpPr>
        <p:spPr>
          <a:xfrm>
            <a:off x="3310128" y="3456432"/>
            <a:ext cx="2615184" cy="18288"/>
          </a:xfrm>
          <a:prstGeom prst="rect">
            <a:avLst/>
          </a:prstGeom>
          <a:solidFill>
            <a:srgbClr val="1A2E4A"/>
          </a:solidFill>
          <a:ln w="12700">
            <a:solidFill>
              <a:srgbClr val="1A2E4A"/>
            </a:solidFill>
            <a:prstDash val="solid"/>
          </a:ln>
        </p:spPr>
      </p:sp>
      <p:sp>
        <p:nvSpPr>
          <p:cNvPr id="44" name="Text 42"/>
          <p:cNvSpPr/>
          <p:nvPr/>
        </p:nvSpPr>
        <p:spPr>
          <a:xfrm>
            <a:off x="3310128" y="3529584"/>
            <a:ext cx="2615184" cy="1188720"/>
          </a:xfrm>
          <a:prstGeom prst="rect">
            <a:avLst/>
          </a:prstGeom>
          <a:noFill/>
          <a:ln/>
        </p:spPr>
        <p:txBody>
          <a:bodyPr wrap="square" rtlCol="0" anchor="ctr"/>
          <a:lstStyle/>
          <a:p>
            <a:pPr marL="0" indent="0">
              <a:lnSpc>
                <a:spcPct val="130000"/>
              </a:lnSpc>
              <a:buNone/>
            </a:pPr>
            <a:r>
              <a:rPr lang="en-US" sz="950" dirty="0">
                <a:solidFill>
                  <a:srgbClr val="7A90B0"/>
                </a:solidFill>
              </a:rPr>
              <a:t>💡 Enables dynamic pricing engines. Operators can quote accurate session prices before charging begins.</a:t>
            </a:r>
            <a:endParaRPr lang="en-US" sz="950" dirty="0"/>
          </a:p>
        </p:txBody>
      </p:sp>
      <p:sp>
        <p:nvSpPr>
          <p:cNvPr id="45" name="Shape 43"/>
          <p:cNvSpPr/>
          <p:nvPr/>
        </p:nvSpPr>
        <p:spPr>
          <a:xfrm>
            <a:off x="6181344" y="1353312"/>
            <a:ext cx="2798064" cy="3547872"/>
          </a:xfrm>
          <a:prstGeom prst="rect">
            <a:avLst/>
          </a:prstGeom>
          <a:solidFill>
            <a:srgbClr val="111C2E"/>
          </a:solidFill>
          <a:ln w="15240">
            <a:solidFill>
              <a:srgbClr val="9B7FFF"/>
            </a:solidFill>
            <a:prstDash val="solid"/>
          </a:ln>
          <a:effectLst>
            <a:outerShdw blurRad="127000" dist="38100" dir="8100000" algn="bl" rotWithShape="0">
              <a:srgbClr val="000000">
                <a:alpha val="30000"/>
              </a:srgbClr>
            </a:outerShdw>
          </a:effectLst>
        </p:spPr>
      </p:sp>
      <p:sp>
        <p:nvSpPr>
          <p:cNvPr id="46" name="Shape 44"/>
          <p:cNvSpPr/>
          <p:nvPr/>
        </p:nvSpPr>
        <p:spPr>
          <a:xfrm>
            <a:off x="6181344" y="1353312"/>
            <a:ext cx="2798064" cy="292608"/>
          </a:xfrm>
          <a:prstGeom prst="rect">
            <a:avLst/>
          </a:prstGeom>
          <a:solidFill>
            <a:srgbClr val="9B7FFF">
              <a:alpha val="80000"/>
            </a:srgbClr>
          </a:solidFill>
          <a:ln w="12700">
            <a:solidFill>
              <a:srgbClr val="9B7FFF"/>
            </a:solidFill>
            <a:prstDash val="solid"/>
          </a:ln>
        </p:spPr>
      </p:sp>
      <p:sp>
        <p:nvSpPr>
          <p:cNvPr id="47" name="Text 45"/>
          <p:cNvSpPr/>
          <p:nvPr/>
        </p:nvSpPr>
        <p:spPr>
          <a:xfrm>
            <a:off x="6272784" y="1408176"/>
            <a:ext cx="2615184" cy="182880"/>
          </a:xfrm>
          <a:prstGeom prst="rect">
            <a:avLst/>
          </a:prstGeom>
          <a:noFill/>
          <a:ln/>
        </p:spPr>
        <p:txBody>
          <a:bodyPr wrap="square" rtlCol="0" anchor="ctr"/>
          <a:lstStyle/>
          <a:p>
            <a:pPr marL="0" indent="0">
              <a:buNone/>
            </a:pPr>
            <a:r>
              <a:rPr lang="en-US" sz="1000" b="1" dirty="0">
                <a:solidFill>
                  <a:srgbClr val="9B7FFF"/>
                </a:solidFill>
              </a:rPr>
              <a:t>Model 3 · Customer Clustering</a:t>
            </a:r>
            <a:endParaRPr lang="en-US" sz="1000" dirty="0"/>
          </a:p>
        </p:txBody>
      </p:sp>
      <p:sp>
        <p:nvSpPr>
          <p:cNvPr id="48" name="Text 46"/>
          <p:cNvSpPr/>
          <p:nvPr/>
        </p:nvSpPr>
        <p:spPr>
          <a:xfrm>
            <a:off x="6272784" y="1700784"/>
            <a:ext cx="2615184" cy="201168"/>
          </a:xfrm>
          <a:prstGeom prst="rect">
            <a:avLst/>
          </a:prstGeom>
          <a:noFill/>
          <a:ln/>
        </p:spPr>
        <p:txBody>
          <a:bodyPr wrap="square" rtlCol="0" anchor="ctr"/>
          <a:lstStyle/>
          <a:p>
            <a:pPr marL="0" indent="0">
              <a:buNone/>
            </a:pPr>
            <a:r>
              <a:rPr lang="en-US" sz="950" i="1" dirty="0">
                <a:solidFill>
                  <a:srgbClr val="7A90B0"/>
                </a:solidFill>
              </a:rPr>
              <a:t>Algorithm: K-Means (K=3)</a:t>
            </a:r>
            <a:endParaRPr lang="en-US" sz="950" dirty="0"/>
          </a:p>
        </p:txBody>
      </p:sp>
      <p:sp>
        <p:nvSpPr>
          <p:cNvPr id="49" name="Shape 47"/>
          <p:cNvSpPr/>
          <p:nvPr/>
        </p:nvSpPr>
        <p:spPr>
          <a:xfrm>
            <a:off x="6272784" y="1947672"/>
            <a:ext cx="2615184" cy="18288"/>
          </a:xfrm>
          <a:prstGeom prst="rect">
            <a:avLst/>
          </a:prstGeom>
          <a:solidFill>
            <a:srgbClr val="1A2E4A"/>
          </a:solidFill>
          <a:ln w="12700">
            <a:solidFill>
              <a:srgbClr val="1A2E4A"/>
            </a:solidFill>
            <a:prstDash val="solid"/>
          </a:ln>
        </p:spPr>
      </p:sp>
      <p:sp>
        <p:nvSpPr>
          <p:cNvPr id="50" name="Shape 48"/>
          <p:cNvSpPr/>
          <p:nvPr/>
        </p:nvSpPr>
        <p:spPr>
          <a:xfrm>
            <a:off x="6272784" y="2011680"/>
            <a:ext cx="2615184" cy="310896"/>
          </a:xfrm>
          <a:prstGeom prst="rect">
            <a:avLst/>
          </a:prstGeom>
          <a:solidFill>
            <a:srgbClr val="0F1F35"/>
          </a:solidFill>
          <a:ln w="12700">
            <a:solidFill>
              <a:srgbClr val="1A2E4A"/>
            </a:solidFill>
            <a:prstDash val="solid"/>
          </a:ln>
        </p:spPr>
      </p:sp>
      <p:sp>
        <p:nvSpPr>
          <p:cNvPr id="51" name="Text 49"/>
          <p:cNvSpPr/>
          <p:nvPr/>
        </p:nvSpPr>
        <p:spPr>
          <a:xfrm>
            <a:off x="6345936" y="2075688"/>
            <a:ext cx="1371600" cy="201168"/>
          </a:xfrm>
          <a:prstGeom prst="rect">
            <a:avLst/>
          </a:prstGeom>
          <a:noFill/>
          <a:ln/>
        </p:spPr>
        <p:txBody>
          <a:bodyPr wrap="square" rtlCol="0" anchor="ctr"/>
          <a:lstStyle/>
          <a:p>
            <a:pPr marL="0" indent="0">
              <a:buNone/>
            </a:pPr>
            <a:r>
              <a:rPr lang="en-US" sz="950" dirty="0">
                <a:solidFill>
                  <a:srgbClr val="7A90B0"/>
                </a:solidFill>
              </a:rPr>
              <a:t>Silhouette Score</a:t>
            </a:r>
            <a:endParaRPr lang="en-US" sz="950" dirty="0"/>
          </a:p>
        </p:txBody>
      </p:sp>
      <p:sp>
        <p:nvSpPr>
          <p:cNvPr id="52" name="Text 50"/>
          <p:cNvSpPr/>
          <p:nvPr/>
        </p:nvSpPr>
        <p:spPr>
          <a:xfrm>
            <a:off x="7735824" y="2075688"/>
            <a:ext cx="1097280" cy="201168"/>
          </a:xfrm>
          <a:prstGeom prst="rect">
            <a:avLst/>
          </a:prstGeom>
          <a:noFill/>
          <a:ln/>
        </p:spPr>
        <p:txBody>
          <a:bodyPr wrap="square" rtlCol="0" anchor="ctr"/>
          <a:lstStyle/>
          <a:p>
            <a:pPr marL="0" indent="0">
              <a:buNone/>
            </a:pPr>
            <a:r>
              <a:rPr lang="en-US" sz="1000" b="1" dirty="0">
                <a:solidFill>
                  <a:srgbClr val="9B7FFF"/>
                </a:solidFill>
              </a:rPr>
              <a:t>0.62 (good)</a:t>
            </a:r>
            <a:endParaRPr lang="en-US" sz="1000" dirty="0"/>
          </a:p>
        </p:txBody>
      </p:sp>
      <p:sp>
        <p:nvSpPr>
          <p:cNvPr id="53" name="Shape 51"/>
          <p:cNvSpPr/>
          <p:nvPr/>
        </p:nvSpPr>
        <p:spPr>
          <a:xfrm>
            <a:off x="6272784" y="2359152"/>
            <a:ext cx="2615184" cy="310896"/>
          </a:xfrm>
          <a:prstGeom prst="rect">
            <a:avLst/>
          </a:prstGeom>
          <a:solidFill>
            <a:srgbClr val="0D1829"/>
          </a:solidFill>
          <a:ln w="12700">
            <a:solidFill>
              <a:srgbClr val="1A2E4A"/>
            </a:solidFill>
            <a:prstDash val="solid"/>
          </a:ln>
        </p:spPr>
      </p:sp>
      <p:sp>
        <p:nvSpPr>
          <p:cNvPr id="54" name="Text 52"/>
          <p:cNvSpPr/>
          <p:nvPr/>
        </p:nvSpPr>
        <p:spPr>
          <a:xfrm>
            <a:off x="6345936" y="2423160"/>
            <a:ext cx="1371600" cy="201168"/>
          </a:xfrm>
          <a:prstGeom prst="rect">
            <a:avLst/>
          </a:prstGeom>
          <a:noFill/>
          <a:ln/>
        </p:spPr>
        <p:txBody>
          <a:bodyPr wrap="square" rtlCol="0" anchor="ctr"/>
          <a:lstStyle/>
          <a:p>
            <a:pPr marL="0" indent="0">
              <a:buNone/>
            </a:pPr>
            <a:r>
              <a:rPr lang="en-US" sz="950" dirty="0">
                <a:solidFill>
                  <a:srgbClr val="7A90B0"/>
                </a:solidFill>
              </a:rPr>
              <a:t>Clusters</a:t>
            </a:r>
            <a:endParaRPr lang="en-US" sz="950" dirty="0"/>
          </a:p>
        </p:txBody>
      </p:sp>
      <p:sp>
        <p:nvSpPr>
          <p:cNvPr id="55" name="Text 53"/>
          <p:cNvSpPr/>
          <p:nvPr/>
        </p:nvSpPr>
        <p:spPr>
          <a:xfrm>
            <a:off x="7735824" y="2423160"/>
            <a:ext cx="1097280" cy="201168"/>
          </a:xfrm>
          <a:prstGeom prst="rect">
            <a:avLst/>
          </a:prstGeom>
          <a:noFill/>
          <a:ln/>
        </p:spPr>
        <p:txBody>
          <a:bodyPr wrap="square" rtlCol="0" anchor="ctr"/>
          <a:lstStyle/>
          <a:p>
            <a:pPr marL="0" indent="0">
              <a:buNone/>
            </a:pPr>
            <a:r>
              <a:rPr lang="en-US" sz="1000" b="1" dirty="0">
                <a:solidFill>
                  <a:srgbClr val="9B7FFF"/>
                </a:solidFill>
              </a:rPr>
              <a:t>3 distinct groups</a:t>
            </a:r>
            <a:endParaRPr lang="en-US" sz="1000" dirty="0"/>
          </a:p>
        </p:txBody>
      </p:sp>
      <p:sp>
        <p:nvSpPr>
          <p:cNvPr id="56" name="Shape 54"/>
          <p:cNvSpPr/>
          <p:nvPr/>
        </p:nvSpPr>
        <p:spPr>
          <a:xfrm>
            <a:off x="6272784" y="2706624"/>
            <a:ext cx="2615184" cy="310896"/>
          </a:xfrm>
          <a:prstGeom prst="rect">
            <a:avLst/>
          </a:prstGeom>
          <a:solidFill>
            <a:srgbClr val="0F1F35"/>
          </a:solidFill>
          <a:ln w="12700">
            <a:solidFill>
              <a:srgbClr val="1A2E4A"/>
            </a:solidFill>
            <a:prstDash val="solid"/>
          </a:ln>
        </p:spPr>
      </p:sp>
      <p:sp>
        <p:nvSpPr>
          <p:cNvPr id="57" name="Text 55"/>
          <p:cNvSpPr/>
          <p:nvPr/>
        </p:nvSpPr>
        <p:spPr>
          <a:xfrm>
            <a:off x="6345936" y="2770632"/>
            <a:ext cx="1371600" cy="201168"/>
          </a:xfrm>
          <a:prstGeom prst="rect">
            <a:avLst/>
          </a:prstGeom>
          <a:noFill/>
          <a:ln/>
        </p:spPr>
        <p:txBody>
          <a:bodyPr wrap="square" rtlCol="0" anchor="ctr"/>
          <a:lstStyle/>
          <a:p>
            <a:pPr marL="0" indent="0">
              <a:buNone/>
            </a:pPr>
            <a:r>
              <a:rPr lang="en-US" sz="950" dirty="0">
                <a:solidFill>
                  <a:srgbClr val="7A90B0"/>
                </a:solidFill>
              </a:rPr>
              <a:t>Largest Segment</a:t>
            </a:r>
            <a:endParaRPr lang="en-US" sz="950" dirty="0"/>
          </a:p>
        </p:txBody>
      </p:sp>
      <p:sp>
        <p:nvSpPr>
          <p:cNvPr id="58" name="Text 56"/>
          <p:cNvSpPr/>
          <p:nvPr/>
        </p:nvSpPr>
        <p:spPr>
          <a:xfrm>
            <a:off x="7735824" y="2770632"/>
            <a:ext cx="1097280" cy="201168"/>
          </a:xfrm>
          <a:prstGeom prst="rect">
            <a:avLst/>
          </a:prstGeom>
          <a:noFill/>
          <a:ln/>
        </p:spPr>
        <p:txBody>
          <a:bodyPr wrap="square" rtlCol="0" anchor="ctr"/>
          <a:lstStyle/>
          <a:p>
            <a:pPr marL="0" indent="0">
              <a:buNone/>
            </a:pPr>
            <a:r>
              <a:rPr lang="en-US" sz="1000" b="1" dirty="0">
                <a:solidFill>
                  <a:srgbClr val="9B7FFF"/>
                </a:solidFill>
              </a:rPr>
              <a:t>Commuters (4,200)</a:t>
            </a:r>
            <a:endParaRPr lang="en-US" sz="1000" dirty="0"/>
          </a:p>
        </p:txBody>
      </p:sp>
      <p:sp>
        <p:nvSpPr>
          <p:cNvPr id="59" name="Shape 57"/>
          <p:cNvSpPr/>
          <p:nvPr/>
        </p:nvSpPr>
        <p:spPr>
          <a:xfrm>
            <a:off x="6272784" y="3054096"/>
            <a:ext cx="2615184" cy="310896"/>
          </a:xfrm>
          <a:prstGeom prst="rect">
            <a:avLst/>
          </a:prstGeom>
          <a:solidFill>
            <a:srgbClr val="0D1829"/>
          </a:solidFill>
          <a:ln w="12700">
            <a:solidFill>
              <a:srgbClr val="1A2E4A"/>
            </a:solidFill>
            <a:prstDash val="solid"/>
          </a:ln>
        </p:spPr>
      </p:sp>
      <p:sp>
        <p:nvSpPr>
          <p:cNvPr id="60" name="Text 58"/>
          <p:cNvSpPr/>
          <p:nvPr/>
        </p:nvSpPr>
        <p:spPr>
          <a:xfrm>
            <a:off x="6345936" y="3118104"/>
            <a:ext cx="1371600" cy="201168"/>
          </a:xfrm>
          <a:prstGeom prst="rect">
            <a:avLst/>
          </a:prstGeom>
          <a:noFill/>
          <a:ln/>
        </p:spPr>
        <p:txBody>
          <a:bodyPr wrap="square" rtlCol="0" anchor="ctr"/>
          <a:lstStyle/>
          <a:p>
            <a:pPr marL="0" indent="0">
              <a:buNone/>
            </a:pPr>
            <a:r>
              <a:rPr lang="en-US" sz="950" dirty="0">
                <a:solidFill>
                  <a:srgbClr val="7A90B0"/>
                </a:solidFill>
              </a:rPr>
              <a:t>Inertia</a:t>
            </a:r>
            <a:endParaRPr lang="en-US" sz="950" dirty="0"/>
          </a:p>
        </p:txBody>
      </p:sp>
      <p:sp>
        <p:nvSpPr>
          <p:cNvPr id="61" name="Text 59"/>
          <p:cNvSpPr/>
          <p:nvPr/>
        </p:nvSpPr>
        <p:spPr>
          <a:xfrm>
            <a:off x="7735824" y="3118104"/>
            <a:ext cx="1097280" cy="201168"/>
          </a:xfrm>
          <a:prstGeom prst="rect">
            <a:avLst/>
          </a:prstGeom>
          <a:noFill/>
          <a:ln/>
        </p:spPr>
        <p:txBody>
          <a:bodyPr wrap="square" rtlCol="0" anchor="ctr"/>
          <a:lstStyle/>
          <a:p>
            <a:pPr marL="0" indent="0">
              <a:buNone/>
            </a:pPr>
            <a:r>
              <a:rPr lang="en-US" sz="1000" b="1" dirty="0">
                <a:solidFill>
                  <a:srgbClr val="9B7FFF"/>
                </a:solidFill>
              </a:rPr>
              <a:t>Reduced 68% vs K=1</a:t>
            </a:r>
            <a:endParaRPr lang="en-US" sz="1000" dirty="0"/>
          </a:p>
        </p:txBody>
      </p:sp>
      <p:sp>
        <p:nvSpPr>
          <p:cNvPr id="62" name="Shape 60"/>
          <p:cNvSpPr/>
          <p:nvPr/>
        </p:nvSpPr>
        <p:spPr>
          <a:xfrm>
            <a:off x="6272784" y="3456432"/>
            <a:ext cx="2615184" cy="18288"/>
          </a:xfrm>
          <a:prstGeom prst="rect">
            <a:avLst/>
          </a:prstGeom>
          <a:solidFill>
            <a:srgbClr val="1A2E4A"/>
          </a:solidFill>
          <a:ln w="12700">
            <a:solidFill>
              <a:srgbClr val="1A2E4A"/>
            </a:solidFill>
            <a:prstDash val="solid"/>
          </a:ln>
        </p:spPr>
      </p:sp>
      <p:sp>
        <p:nvSpPr>
          <p:cNvPr id="63" name="Text 61"/>
          <p:cNvSpPr/>
          <p:nvPr/>
        </p:nvSpPr>
        <p:spPr>
          <a:xfrm>
            <a:off x="6272784" y="3529584"/>
            <a:ext cx="2615184" cy="1188720"/>
          </a:xfrm>
          <a:prstGeom prst="rect">
            <a:avLst/>
          </a:prstGeom>
          <a:noFill/>
          <a:ln/>
        </p:spPr>
        <p:txBody>
          <a:bodyPr wrap="square" rtlCol="0" anchor="ctr"/>
          <a:lstStyle/>
          <a:p>
            <a:pPr marL="0" indent="0">
              <a:lnSpc>
                <a:spcPct val="130000"/>
              </a:lnSpc>
              <a:buNone/>
            </a:pPr>
            <a:r>
              <a:rPr lang="en-US" sz="950" dirty="0">
                <a:solidFill>
                  <a:srgbClr val="7A90B0"/>
                </a:solidFill>
              </a:rPr>
              <a:t>💡 Enables personalized marketing: subscriptions for commuters, premium plans for high-value users.</a:t>
            </a:r>
            <a:endParaRPr lang="en-US" sz="950" dirty="0"/>
          </a:p>
        </p:txBody>
      </p:sp>
      <p:sp>
        <p:nvSpPr>
          <p:cNvPr id="64" name="Shape 62"/>
          <p:cNvSpPr/>
          <p:nvPr/>
        </p:nvSpPr>
        <p:spPr>
          <a:xfrm>
            <a:off x="256032" y="4956048"/>
            <a:ext cx="8631936" cy="73152"/>
          </a:xfrm>
          <a:prstGeom prst="rect">
            <a:avLst/>
          </a:prstGeom>
          <a:solidFill>
            <a:srgbClr val="9B7FFF">
              <a:alpha val="70000"/>
            </a:srgbClr>
          </a:solidFill>
          <a:ln w="12700">
            <a:solidFill>
              <a:srgbClr val="9B7FFF"/>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E5A0"/>
          </a:solidFill>
          <a:ln w="12700">
            <a:solidFill>
              <a:srgbClr val="00E5A0"/>
            </a:solidFill>
            <a:prstDash val="solid"/>
          </a:ln>
        </p:spPr>
      </p:sp>
      <p:sp>
        <p:nvSpPr>
          <p:cNvPr id="3" name="Text 1"/>
          <p:cNvSpPr/>
          <p:nvPr/>
        </p:nvSpPr>
        <p:spPr>
          <a:xfrm>
            <a:off x="256032" y="146304"/>
            <a:ext cx="8686800" cy="237744"/>
          </a:xfrm>
          <a:prstGeom prst="rect">
            <a:avLst/>
          </a:prstGeom>
          <a:noFill/>
          <a:ln/>
        </p:spPr>
        <p:txBody>
          <a:bodyPr wrap="square" rtlCol="0" anchor="ctr"/>
          <a:lstStyle/>
          <a:p>
            <a:pPr marL="0" indent="0">
              <a:buNone/>
            </a:pPr>
            <a:r>
              <a:rPr lang="en-US" sz="800" b="1" kern="0" spc="250" dirty="0">
                <a:solidFill>
                  <a:srgbClr val="00E5A0"/>
                </a:solidFill>
              </a:rPr>
              <a:t>EXECUTIVE SUMMARY  ·  STRATEGIC RECOMMENDATIONS</a:t>
            </a:r>
            <a:endParaRPr lang="en-US" sz="800" dirty="0"/>
          </a:p>
        </p:txBody>
      </p:sp>
      <p:sp>
        <p:nvSpPr>
          <p:cNvPr id="4" name="Text 2"/>
          <p:cNvSpPr/>
          <p:nvPr/>
        </p:nvSpPr>
        <p:spPr>
          <a:xfrm>
            <a:off x="256032" y="384048"/>
            <a:ext cx="8595360" cy="530352"/>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5 Actions Warsaw's EV Team Must Take</a:t>
            </a:r>
            <a:endParaRPr lang="en-US" sz="2800" dirty="0"/>
          </a:p>
        </p:txBody>
      </p:sp>
      <p:sp>
        <p:nvSpPr>
          <p:cNvPr id="5" name="Text 3"/>
          <p:cNvSpPr/>
          <p:nvPr/>
        </p:nvSpPr>
        <p:spPr>
          <a:xfrm>
            <a:off x="256032" y="914400"/>
            <a:ext cx="8595360" cy="256032"/>
          </a:xfrm>
          <a:prstGeom prst="rect">
            <a:avLst/>
          </a:prstGeom>
          <a:noFill/>
          <a:ln/>
        </p:spPr>
        <p:txBody>
          <a:bodyPr wrap="square" rtlCol="0" anchor="ctr"/>
          <a:lstStyle/>
          <a:p>
            <a:pPr marL="0" indent="0">
              <a:buNone/>
            </a:pPr>
            <a:r>
              <a:rPr lang="en-US" sz="1100" i="1" dirty="0">
                <a:solidFill>
                  <a:srgbClr val="7A90B0"/>
                </a:solidFill>
              </a:rPr>
              <a:t>Data-driven priorities from SQL analysis + Power BI dashboard + Machine Learning insights</a:t>
            </a:r>
            <a:endParaRPr lang="en-US" sz="1100" dirty="0"/>
          </a:p>
        </p:txBody>
      </p:sp>
      <p:sp>
        <p:nvSpPr>
          <p:cNvPr id="6" name="Shape 4"/>
          <p:cNvSpPr/>
          <p:nvPr/>
        </p:nvSpPr>
        <p:spPr>
          <a:xfrm>
            <a:off x="256032" y="1207008"/>
            <a:ext cx="8631936" cy="18288"/>
          </a:xfrm>
          <a:prstGeom prst="rect">
            <a:avLst/>
          </a:prstGeom>
          <a:solidFill>
            <a:srgbClr val="1A2E4A"/>
          </a:solidFill>
          <a:ln w="12700">
            <a:solidFill>
              <a:srgbClr val="1A2E4A"/>
            </a:solidFill>
            <a:prstDash val="solid"/>
          </a:ln>
        </p:spPr>
      </p:sp>
      <p:sp>
        <p:nvSpPr>
          <p:cNvPr id="7" name="Shape 5"/>
          <p:cNvSpPr/>
          <p:nvPr/>
        </p:nvSpPr>
        <p:spPr>
          <a:xfrm>
            <a:off x="256032" y="1353312"/>
            <a:ext cx="4251960" cy="1591056"/>
          </a:xfrm>
          <a:prstGeom prst="rect">
            <a:avLst/>
          </a:prstGeom>
          <a:solidFill>
            <a:srgbClr val="111C2E"/>
          </a:solidFill>
          <a:ln w="15240">
            <a:solidFill>
              <a:srgbClr val="FF4B6E"/>
            </a:solidFill>
            <a:prstDash val="solid"/>
          </a:ln>
          <a:effectLst>
            <a:outerShdw blurRad="127000" dist="38100" dir="8100000" algn="bl" rotWithShape="0">
              <a:srgbClr val="000000">
                <a:alpha val="30000"/>
              </a:srgbClr>
            </a:outerShdw>
          </a:effectLst>
        </p:spPr>
      </p:sp>
      <p:sp>
        <p:nvSpPr>
          <p:cNvPr id="8" name="Shape 6"/>
          <p:cNvSpPr/>
          <p:nvPr/>
        </p:nvSpPr>
        <p:spPr>
          <a:xfrm>
            <a:off x="256032" y="1353312"/>
            <a:ext cx="45720" cy="1591056"/>
          </a:xfrm>
          <a:prstGeom prst="rect">
            <a:avLst/>
          </a:prstGeom>
          <a:solidFill>
            <a:srgbClr val="FF4B6E"/>
          </a:solidFill>
          <a:ln w="12700">
            <a:solidFill>
              <a:srgbClr val="FF4B6E"/>
            </a:solidFill>
            <a:prstDash val="solid"/>
          </a:ln>
        </p:spPr>
      </p:sp>
      <p:sp>
        <p:nvSpPr>
          <p:cNvPr id="9" name="Text 7"/>
          <p:cNvSpPr/>
          <p:nvPr/>
        </p:nvSpPr>
        <p:spPr>
          <a:xfrm>
            <a:off x="384048" y="1444752"/>
            <a:ext cx="365760" cy="274320"/>
          </a:xfrm>
          <a:prstGeom prst="rect">
            <a:avLst/>
          </a:prstGeom>
          <a:noFill/>
          <a:ln/>
        </p:spPr>
        <p:txBody>
          <a:bodyPr wrap="square" rtlCol="0" anchor="ctr"/>
          <a:lstStyle/>
          <a:p>
            <a:pPr marL="0" indent="0">
              <a:buNone/>
            </a:pPr>
            <a:r>
              <a:rPr lang="en-US" sz="1400" b="1" dirty="0">
                <a:solidFill>
                  <a:srgbClr val="FF4B6E"/>
                </a:solidFill>
              </a:rPr>
              <a:t>01</a:t>
            </a:r>
            <a:endParaRPr lang="en-US" sz="1400" dirty="0"/>
          </a:p>
        </p:txBody>
      </p:sp>
      <p:sp>
        <p:nvSpPr>
          <p:cNvPr id="10" name="Text 8"/>
          <p:cNvSpPr/>
          <p:nvPr/>
        </p:nvSpPr>
        <p:spPr>
          <a:xfrm>
            <a:off x="786384" y="1463040"/>
            <a:ext cx="3593592" cy="274320"/>
          </a:xfrm>
          <a:prstGeom prst="rect">
            <a:avLst/>
          </a:prstGeom>
          <a:noFill/>
          <a:ln/>
        </p:spPr>
        <p:txBody>
          <a:bodyPr wrap="square" rtlCol="0" anchor="ctr"/>
          <a:lstStyle/>
          <a:p>
            <a:pPr marL="0" indent="0">
              <a:buNone/>
            </a:pPr>
            <a:r>
              <a:rPr lang="en-US" sz="1050" b="1" dirty="0">
                <a:solidFill>
                  <a:srgbClr val="FFFFFF"/>
                </a:solidFill>
              </a:rPr>
              <a:t>Deploy Stations in 5 Zero-Coverage Districts</a:t>
            </a:r>
            <a:endParaRPr lang="en-US" sz="1050" dirty="0"/>
          </a:p>
        </p:txBody>
      </p:sp>
      <p:sp>
        <p:nvSpPr>
          <p:cNvPr id="11" name="Text 9"/>
          <p:cNvSpPr/>
          <p:nvPr/>
        </p:nvSpPr>
        <p:spPr>
          <a:xfrm>
            <a:off x="384048" y="1792224"/>
            <a:ext cx="4032504" cy="786384"/>
          </a:xfrm>
          <a:prstGeom prst="rect">
            <a:avLst/>
          </a:prstGeom>
          <a:noFill/>
          <a:ln/>
        </p:spPr>
        <p:txBody>
          <a:bodyPr wrap="square" rtlCol="0" anchor="ctr"/>
          <a:lstStyle/>
          <a:p>
            <a:pPr marL="0" indent="0">
              <a:lnSpc>
                <a:spcPct val="130000"/>
              </a:lnSpc>
              <a:buNone/>
            </a:pPr>
            <a:r>
              <a:rPr lang="en-US" sz="950" dirty="0">
                <a:solidFill>
                  <a:srgbClr val="7A90B0"/>
                </a:solidFill>
              </a:rPr>
              <a:t>SQL Q12 + PBI Page 1 confirm Bielany, Praga Południe, Białołęka, Wawer &amp; Praga Północ have zero plugs despite projecting 9,300+ EVs. Immediate greenfield investment required.</a:t>
            </a:r>
            <a:endParaRPr lang="en-US" sz="950" dirty="0"/>
          </a:p>
        </p:txBody>
      </p:sp>
      <p:sp>
        <p:nvSpPr>
          <p:cNvPr id="12" name="Shape 10"/>
          <p:cNvSpPr/>
          <p:nvPr/>
        </p:nvSpPr>
        <p:spPr>
          <a:xfrm>
            <a:off x="384048" y="2724912"/>
            <a:ext cx="4023360" cy="164592"/>
          </a:xfrm>
          <a:prstGeom prst="rect">
            <a:avLst/>
          </a:prstGeom>
          <a:solidFill>
            <a:srgbClr val="FF4B6E">
              <a:alpha val="20000"/>
            </a:srgbClr>
          </a:solidFill>
          <a:ln w="12700">
            <a:solidFill>
              <a:srgbClr val="FF4B6E">
                <a:alpha val="60000"/>
              </a:srgbClr>
            </a:solidFill>
            <a:prstDash val="solid"/>
          </a:ln>
        </p:spPr>
      </p:sp>
      <p:sp>
        <p:nvSpPr>
          <p:cNvPr id="13" name="Text 11"/>
          <p:cNvSpPr/>
          <p:nvPr/>
        </p:nvSpPr>
        <p:spPr>
          <a:xfrm>
            <a:off x="384048" y="2715768"/>
            <a:ext cx="4023360" cy="164592"/>
          </a:xfrm>
          <a:prstGeom prst="rect">
            <a:avLst/>
          </a:prstGeom>
          <a:noFill/>
          <a:ln/>
        </p:spPr>
        <p:txBody>
          <a:bodyPr wrap="square" rtlCol="0" anchor="ctr"/>
          <a:lstStyle/>
          <a:p>
            <a:pPr marL="0" indent="0">
              <a:buNone/>
            </a:pPr>
            <a:r>
              <a:rPr lang="en-US" sz="850" b="1" dirty="0">
                <a:solidFill>
                  <a:srgbClr val="FF4B6E"/>
                </a:solidFill>
              </a:rPr>
              <a:t>CRITICAL · Infrastructure</a:t>
            </a:r>
            <a:endParaRPr lang="en-US" sz="850" dirty="0"/>
          </a:p>
        </p:txBody>
      </p:sp>
      <p:sp>
        <p:nvSpPr>
          <p:cNvPr id="14" name="Shape 12"/>
          <p:cNvSpPr/>
          <p:nvPr/>
        </p:nvSpPr>
        <p:spPr>
          <a:xfrm>
            <a:off x="4700016" y="1353312"/>
            <a:ext cx="4251960" cy="1591056"/>
          </a:xfrm>
          <a:prstGeom prst="rect">
            <a:avLst/>
          </a:prstGeom>
          <a:solidFill>
            <a:srgbClr val="111C2E"/>
          </a:solidFill>
          <a:ln w="15240">
            <a:solidFill>
              <a:srgbClr val="FF9B3B"/>
            </a:solidFill>
            <a:prstDash val="solid"/>
          </a:ln>
          <a:effectLst>
            <a:outerShdw blurRad="127000" dist="38100" dir="8100000" algn="bl" rotWithShape="0">
              <a:srgbClr val="000000">
                <a:alpha val="30000"/>
              </a:srgbClr>
            </a:outerShdw>
          </a:effectLst>
        </p:spPr>
      </p:sp>
      <p:sp>
        <p:nvSpPr>
          <p:cNvPr id="15" name="Shape 13"/>
          <p:cNvSpPr/>
          <p:nvPr/>
        </p:nvSpPr>
        <p:spPr>
          <a:xfrm>
            <a:off x="4700016" y="1353312"/>
            <a:ext cx="45720" cy="1591056"/>
          </a:xfrm>
          <a:prstGeom prst="rect">
            <a:avLst/>
          </a:prstGeom>
          <a:solidFill>
            <a:srgbClr val="FF9B3B"/>
          </a:solidFill>
          <a:ln w="12700">
            <a:solidFill>
              <a:srgbClr val="FF9B3B"/>
            </a:solidFill>
            <a:prstDash val="solid"/>
          </a:ln>
        </p:spPr>
      </p:sp>
      <p:sp>
        <p:nvSpPr>
          <p:cNvPr id="16" name="Text 14"/>
          <p:cNvSpPr/>
          <p:nvPr/>
        </p:nvSpPr>
        <p:spPr>
          <a:xfrm>
            <a:off x="4828032" y="1444752"/>
            <a:ext cx="365760" cy="274320"/>
          </a:xfrm>
          <a:prstGeom prst="rect">
            <a:avLst/>
          </a:prstGeom>
          <a:noFill/>
          <a:ln/>
        </p:spPr>
        <p:txBody>
          <a:bodyPr wrap="square" rtlCol="0" anchor="ctr"/>
          <a:lstStyle/>
          <a:p>
            <a:pPr marL="0" indent="0">
              <a:buNone/>
            </a:pPr>
            <a:r>
              <a:rPr lang="en-US" sz="1400" b="1" dirty="0">
                <a:solidFill>
                  <a:srgbClr val="FF9B3B"/>
                </a:solidFill>
              </a:rPr>
              <a:t>02</a:t>
            </a:r>
            <a:endParaRPr lang="en-US" sz="1400" dirty="0"/>
          </a:p>
        </p:txBody>
      </p:sp>
      <p:sp>
        <p:nvSpPr>
          <p:cNvPr id="17" name="Text 15"/>
          <p:cNvSpPr/>
          <p:nvPr/>
        </p:nvSpPr>
        <p:spPr>
          <a:xfrm>
            <a:off x="5230368" y="1463040"/>
            <a:ext cx="3593592" cy="274320"/>
          </a:xfrm>
          <a:prstGeom prst="rect">
            <a:avLst/>
          </a:prstGeom>
          <a:noFill/>
          <a:ln/>
        </p:spPr>
        <p:txBody>
          <a:bodyPr wrap="square" rtlCol="0" anchor="ctr"/>
          <a:lstStyle/>
          <a:p>
            <a:pPr marL="0" indent="0">
              <a:buNone/>
            </a:pPr>
            <a:r>
              <a:rPr lang="en-US" sz="1050" b="1" dirty="0">
                <a:solidFill>
                  <a:srgbClr val="FFFFFF"/>
                </a:solidFill>
              </a:rPr>
              <a:t>Expand High-Income Zones to Unlock Revenue</a:t>
            </a:r>
            <a:endParaRPr lang="en-US" sz="1050" dirty="0"/>
          </a:p>
        </p:txBody>
      </p:sp>
      <p:sp>
        <p:nvSpPr>
          <p:cNvPr id="18" name="Text 16"/>
          <p:cNvSpPr/>
          <p:nvPr/>
        </p:nvSpPr>
        <p:spPr>
          <a:xfrm>
            <a:off x="4828032" y="1792224"/>
            <a:ext cx="4032504" cy="786384"/>
          </a:xfrm>
          <a:prstGeom prst="rect">
            <a:avLst/>
          </a:prstGeom>
          <a:noFill/>
          <a:ln/>
        </p:spPr>
        <p:txBody>
          <a:bodyPr wrap="square" rtlCol="0" anchor="ctr"/>
          <a:lstStyle/>
          <a:p>
            <a:pPr marL="0" indent="0">
              <a:lnSpc>
                <a:spcPct val="130000"/>
              </a:lnSpc>
              <a:buNone/>
            </a:pPr>
            <a:r>
              <a:rPr lang="en-US" sz="950" dirty="0">
                <a:solidFill>
                  <a:srgbClr val="7A90B0"/>
                </a:solidFill>
              </a:rPr>
              <a:t>SQL Q9 shows High tier pays zł142/session. PBI Page 4 confirms only 13 stations serve these areas. Adding 100 plugs in Śródmieście/Żoliborz alone could generate zł3M+ annually.</a:t>
            </a:r>
            <a:endParaRPr lang="en-US" sz="950" dirty="0"/>
          </a:p>
        </p:txBody>
      </p:sp>
      <p:sp>
        <p:nvSpPr>
          <p:cNvPr id="19" name="Shape 17"/>
          <p:cNvSpPr/>
          <p:nvPr/>
        </p:nvSpPr>
        <p:spPr>
          <a:xfrm>
            <a:off x="4828032" y="2724912"/>
            <a:ext cx="4023360" cy="164592"/>
          </a:xfrm>
          <a:prstGeom prst="rect">
            <a:avLst/>
          </a:prstGeom>
          <a:solidFill>
            <a:srgbClr val="FF9B3B">
              <a:alpha val="20000"/>
            </a:srgbClr>
          </a:solidFill>
          <a:ln w="12700">
            <a:solidFill>
              <a:srgbClr val="FF9B3B">
                <a:alpha val="60000"/>
              </a:srgbClr>
            </a:solidFill>
            <a:prstDash val="solid"/>
          </a:ln>
        </p:spPr>
      </p:sp>
      <p:sp>
        <p:nvSpPr>
          <p:cNvPr id="20" name="Text 18"/>
          <p:cNvSpPr/>
          <p:nvPr/>
        </p:nvSpPr>
        <p:spPr>
          <a:xfrm>
            <a:off x="4828032" y="2715768"/>
            <a:ext cx="4023360" cy="164592"/>
          </a:xfrm>
          <a:prstGeom prst="rect">
            <a:avLst/>
          </a:prstGeom>
          <a:noFill/>
          <a:ln/>
        </p:spPr>
        <p:txBody>
          <a:bodyPr wrap="square" rtlCol="0" anchor="ctr"/>
          <a:lstStyle/>
          <a:p>
            <a:pPr marL="0" indent="0">
              <a:buNone/>
            </a:pPr>
            <a:r>
              <a:rPr lang="en-US" sz="850" b="1" dirty="0">
                <a:solidFill>
                  <a:srgbClr val="FF9B3B"/>
                </a:solidFill>
              </a:rPr>
              <a:t>HIGH IMPACT · Revenue</a:t>
            </a:r>
            <a:endParaRPr lang="en-US" sz="850" dirty="0"/>
          </a:p>
        </p:txBody>
      </p:sp>
      <p:sp>
        <p:nvSpPr>
          <p:cNvPr id="21" name="Shape 19"/>
          <p:cNvSpPr/>
          <p:nvPr/>
        </p:nvSpPr>
        <p:spPr>
          <a:xfrm>
            <a:off x="256032" y="3072384"/>
            <a:ext cx="4251960" cy="1591056"/>
          </a:xfrm>
          <a:prstGeom prst="rect">
            <a:avLst/>
          </a:prstGeom>
          <a:solidFill>
            <a:srgbClr val="111C2E"/>
          </a:solidFill>
          <a:ln w="15240">
            <a:solidFill>
              <a:srgbClr val="00D4FF"/>
            </a:solidFill>
            <a:prstDash val="solid"/>
          </a:ln>
          <a:effectLst>
            <a:outerShdw blurRad="127000" dist="38100" dir="8100000" algn="bl" rotWithShape="0">
              <a:srgbClr val="000000">
                <a:alpha val="30000"/>
              </a:srgbClr>
            </a:outerShdw>
          </a:effectLst>
        </p:spPr>
      </p:sp>
      <p:sp>
        <p:nvSpPr>
          <p:cNvPr id="22" name="Shape 20"/>
          <p:cNvSpPr/>
          <p:nvPr/>
        </p:nvSpPr>
        <p:spPr>
          <a:xfrm>
            <a:off x="256032" y="3072384"/>
            <a:ext cx="45720" cy="1591056"/>
          </a:xfrm>
          <a:prstGeom prst="rect">
            <a:avLst/>
          </a:prstGeom>
          <a:solidFill>
            <a:srgbClr val="00D4FF"/>
          </a:solidFill>
          <a:ln w="12700">
            <a:solidFill>
              <a:srgbClr val="00D4FF"/>
            </a:solidFill>
            <a:prstDash val="solid"/>
          </a:ln>
        </p:spPr>
      </p:sp>
      <p:sp>
        <p:nvSpPr>
          <p:cNvPr id="23" name="Text 21"/>
          <p:cNvSpPr/>
          <p:nvPr/>
        </p:nvSpPr>
        <p:spPr>
          <a:xfrm>
            <a:off x="384048" y="3163824"/>
            <a:ext cx="365760" cy="274320"/>
          </a:xfrm>
          <a:prstGeom prst="rect">
            <a:avLst/>
          </a:prstGeom>
          <a:noFill/>
          <a:ln/>
        </p:spPr>
        <p:txBody>
          <a:bodyPr wrap="square" rtlCol="0" anchor="ctr"/>
          <a:lstStyle/>
          <a:p>
            <a:pPr marL="0" indent="0">
              <a:buNone/>
            </a:pPr>
            <a:r>
              <a:rPr lang="en-US" sz="1400" b="1" dirty="0">
                <a:solidFill>
                  <a:srgbClr val="00D4FF"/>
                </a:solidFill>
              </a:rPr>
              <a:t>03</a:t>
            </a:r>
            <a:endParaRPr lang="en-US" sz="1400" dirty="0"/>
          </a:p>
        </p:txBody>
      </p:sp>
      <p:sp>
        <p:nvSpPr>
          <p:cNvPr id="24" name="Text 22"/>
          <p:cNvSpPr/>
          <p:nvPr/>
        </p:nvSpPr>
        <p:spPr>
          <a:xfrm>
            <a:off x="786384" y="3182112"/>
            <a:ext cx="3593592" cy="274320"/>
          </a:xfrm>
          <a:prstGeom prst="rect">
            <a:avLst/>
          </a:prstGeom>
          <a:noFill/>
          <a:ln/>
        </p:spPr>
        <p:txBody>
          <a:bodyPr wrap="square" rtlCol="0" anchor="ctr"/>
          <a:lstStyle/>
          <a:p>
            <a:pPr marL="0" indent="0">
              <a:buNone/>
            </a:pPr>
            <a:r>
              <a:rPr lang="en-US" sz="1050" b="1" dirty="0">
                <a:solidFill>
                  <a:srgbClr val="FFFFFF"/>
                </a:solidFill>
              </a:rPr>
              <a:t>Use ML Forecasting for Plug Expansion Planning</a:t>
            </a:r>
            <a:endParaRPr lang="en-US" sz="1050" dirty="0"/>
          </a:p>
        </p:txBody>
      </p:sp>
      <p:sp>
        <p:nvSpPr>
          <p:cNvPr id="25" name="Text 23"/>
          <p:cNvSpPr/>
          <p:nvPr/>
        </p:nvSpPr>
        <p:spPr>
          <a:xfrm>
            <a:off x="384048" y="3511296"/>
            <a:ext cx="4032504" cy="786384"/>
          </a:xfrm>
          <a:prstGeom prst="rect">
            <a:avLst/>
          </a:prstGeom>
          <a:noFill/>
          <a:ln/>
        </p:spPr>
        <p:txBody>
          <a:bodyPr wrap="square" rtlCol="0" anchor="ctr"/>
          <a:lstStyle/>
          <a:p>
            <a:pPr marL="0" indent="0">
              <a:lnSpc>
                <a:spcPct val="130000"/>
              </a:lnSpc>
              <a:buNone/>
            </a:pPr>
            <a:r>
              <a:rPr lang="en-US" sz="950" dirty="0">
                <a:solidFill>
                  <a:srgbClr val="7A90B0"/>
                </a:solidFill>
              </a:rPr>
              <a:t>Demand Forecasting model (R²=0.87) predicts session volume by hour/day/district. Use predictions to pre-position plugs before EV registrations spike, not reactively after.</a:t>
            </a:r>
            <a:endParaRPr lang="en-US" sz="950" dirty="0"/>
          </a:p>
        </p:txBody>
      </p:sp>
      <p:sp>
        <p:nvSpPr>
          <p:cNvPr id="26" name="Shape 24"/>
          <p:cNvSpPr/>
          <p:nvPr/>
        </p:nvSpPr>
        <p:spPr>
          <a:xfrm>
            <a:off x="384048" y="4443984"/>
            <a:ext cx="4023360" cy="164592"/>
          </a:xfrm>
          <a:prstGeom prst="rect">
            <a:avLst/>
          </a:prstGeom>
          <a:solidFill>
            <a:srgbClr val="00D4FF">
              <a:alpha val="20000"/>
            </a:srgbClr>
          </a:solidFill>
          <a:ln w="12700">
            <a:solidFill>
              <a:srgbClr val="00D4FF">
                <a:alpha val="60000"/>
              </a:srgbClr>
            </a:solidFill>
            <a:prstDash val="solid"/>
          </a:ln>
        </p:spPr>
      </p:sp>
      <p:sp>
        <p:nvSpPr>
          <p:cNvPr id="27" name="Text 25"/>
          <p:cNvSpPr/>
          <p:nvPr/>
        </p:nvSpPr>
        <p:spPr>
          <a:xfrm>
            <a:off x="384048" y="4434840"/>
            <a:ext cx="4023360" cy="164592"/>
          </a:xfrm>
          <a:prstGeom prst="rect">
            <a:avLst/>
          </a:prstGeom>
          <a:noFill/>
          <a:ln/>
        </p:spPr>
        <p:txBody>
          <a:bodyPr wrap="square" rtlCol="0" anchor="ctr"/>
          <a:lstStyle/>
          <a:p>
            <a:pPr marL="0" indent="0">
              <a:buNone/>
            </a:pPr>
            <a:r>
              <a:rPr lang="en-US" sz="850" b="1" dirty="0">
                <a:solidFill>
                  <a:srgbClr val="00D4FF"/>
                </a:solidFill>
              </a:rPr>
              <a:t>ML MODEL 1 · Planning</a:t>
            </a:r>
            <a:endParaRPr lang="en-US" sz="850" dirty="0"/>
          </a:p>
        </p:txBody>
      </p:sp>
      <p:sp>
        <p:nvSpPr>
          <p:cNvPr id="28" name="Shape 26"/>
          <p:cNvSpPr/>
          <p:nvPr/>
        </p:nvSpPr>
        <p:spPr>
          <a:xfrm>
            <a:off x="4700016" y="3072384"/>
            <a:ext cx="4251960" cy="1591056"/>
          </a:xfrm>
          <a:prstGeom prst="rect">
            <a:avLst/>
          </a:prstGeom>
          <a:solidFill>
            <a:srgbClr val="111C2E"/>
          </a:solidFill>
          <a:ln w="15240">
            <a:solidFill>
              <a:srgbClr val="00E5A0"/>
            </a:solidFill>
            <a:prstDash val="solid"/>
          </a:ln>
          <a:effectLst>
            <a:outerShdw blurRad="127000" dist="38100" dir="8100000" algn="bl" rotWithShape="0">
              <a:srgbClr val="000000">
                <a:alpha val="30000"/>
              </a:srgbClr>
            </a:outerShdw>
          </a:effectLst>
        </p:spPr>
      </p:sp>
      <p:sp>
        <p:nvSpPr>
          <p:cNvPr id="29" name="Shape 27"/>
          <p:cNvSpPr/>
          <p:nvPr/>
        </p:nvSpPr>
        <p:spPr>
          <a:xfrm>
            <a:off x="4700016" y="3072384"/>
            <a:ext cx="45720" cy="1591056"/>
          </a:xfrm>
          <a:prstGeom prst="rect">
            <a:avLst/>
          </a:prstGeom>
          <a:solidFill>
            <a:srgbClr val="00E5A0"/>
          </a:solidFill>
          <a:ln w="12700">
            <a:solidFill>
              <a:srgbClr val="00E5A0"/>
            </a:solidFill>
            <a:prstDash val="solid"/>
          </a:ln>
        </p:spPr>
      </p:sp>
      <p:sp>
        <p:nvSpPr>
          <p:cNvPr id="30" name="Text 28"/>
          <p:cNvSpPr/>
          <p:nvPr/>
        </p:nvSpPr>
        <p:spPr>
          <a:xfrm>
            <a:off x="4828032" y="3163824"/>
            <a:ext cx="365760" cy="274320"/>
          </a:xfrm>
          <a:prstGeom prst="rect">
            <a:avLst/>
          </a:prstGeom>
          <a:noFill/>
          <a:ln/>
        </p:spPr>
        <p:txBody>
          <a:bodyPr wrap="square" rtlCol="0" anchor="ctr"/>
          <a:lstStyle/>
          <a:p>
            <a:pPr marL="0" indent="0">
              <a:buNone/>
            </a:pPr>
            <a:r>
              <a:rPr lang="en-US" sz="1400" b="1" dirty="0">
                <a:solidFill>
                  <a:srgbClr val="00E5A0"/>
                </a:solidFill>
              </a:rPr>
              <a:t>04</a:t>
            </a:r>
            <a:endParaRPr lang="en-US" sz="1400" dirty="0"/>
          </a:p>
        </p:txBody>
      </p:sp>
      <p:sp>
        <p:nvSpPr>
          <p:cNvPr id="31" name="Text 29"/>
          <p:cNvSpPr/>
          <p:nvPr/>
        </p:nvSpPr>
        <p:spPr>
          <a:xfrm>
            <a:off x="5230368" y="3182112"/>
            <a:ext cx="3593592" cy="274320"/>
          </a:xfrm>
          <a:prstGeom prst="rect">
            <a:avLst/>
          </a:prstGeom>
          <a:noFill/>
          <a:ln/>
        </p:spPr>
        <p:txBody>
          <a:bodyPr wrap="square" rtlCol="0" anchor="ctr"/>
          <a:lstStyle/>
          <a:p>
            <a:pPr marL="0" indent="0">
              <a:buNone/>
            </a:pPr>
            <a:r>
              <a:rPr lang="en-US" sz="1050" b="1" dirty="0">
                <a:solidFill>
                  <a:srgbClr val="FFFFFF"/>
                </a:solidFill>
              </a:rPr>
              <a:t>Implement Dynamic Pricing Based on Regression Model</a:t>
            </a:r>
            <a:endParaRPr lang="en-US" sz="1050" dirty="0"/>
          </a:p>
        </p:txBody>
      </p:sp>
      <p:sp>
        <p:nvSpPr>
          <p:cNvPr id="32" name="Text 30"/>
          <p:cNvSpPr/>
          <p:nvPr/>
        </p:nvSpPr>
        <p:spPr>
          <a:xfrm>
            <a:off x="4828032" y="3511296"/>
            <a:ext cx="4032504" cy="786384"/>
          </a:xfrm>
          <a:prstGeom prst="rect">
            <a:avLst/>
          </a:prstGeom>
          <a:noFill/>
          <a:ln/>
        </p:spPr>
        <p:txBody>
          <a:bodyPr wrap="square" rtlCol="0" anchor="ctr"/>
          <a:lstStyle/>
          <a:p>
            <a:pPr marL="0" indent="0">
              <a:lnSpc>
                <a:spcPct val="130000"/>
              </a:lnSpc>
              <a:buNone/>
            </a:pPr>
            <a:r>
              <a:rPr lang="en-US" sz="950" dirty="0">
                <a:solidFill>
                  <a:srgbClr val="7A90B0"/>
                </a:solidFill>
              </a:rPr>
              <a:t>Cost Regression (R²=0.91) identifies kWh as the #1 cost driver. Pair with hour-of-day feature to implement time-of-use pricing during 8 AM–3 PM peak window.</a:t>
            </a:r>
            <a:endParaRPr lang="en-US" sz="950" dirty="0"/>
          </a:p>
        </p:txBody>
      </p:sp>
      <p:sp>
        <p:nvSpPr>
          <p:cNvPr id="33" name="Shape 31"/>
          <p:cNvSpPr/>
          <p:nvPr/>
        </p:nvSpPr>
        <p:spPr>
          <a:xfrm>
            <a:off x="4828032" y="4443984"/>
            <a:ext cx="4023360" cy="164592"/>
          </a:xfrm>
          <a:prstGeom prst="rect">
            <a:avLst/>
          </a:prstGeom>
          <a:solidFill>
            <a:srgbClr val="00E5A0">
              <a:alpha val="20000"/>
            </a:srgbClr>
          </a:solidFill>
          <a:ln w="12700">
            <a:solidFill>
              <a:srgbClr val="00E5A0">
                <a:alpha val="60000"/>
              </a:srgbClr>
            </a:solidFill>
            <a:prstDash val="solid"/>
          </a:ln>
        </p:spPr>
      </p:sp>
      <p:sp>
        <p:nvSpPr>
          <p:cNvPr id="34" name="Text 32"/>
          <p:cNvSpPr/>
          <p:nvPr/>
        </p:nvSpPr>
        <p:spPr>
          <a:xfrm>
            <a:off x="4828032" y="4434840"/>
            <a:ext cx="4023360" cy="164592"/>
          </a:xfrm>
          <a:prstGeom prst="rect">
            <a:avLst/>
          </a:prstGeom>
          <a:noFill/>
          <a:ln/>
        </p:spPr>
        <p:txBody>
          <a:bodyPr wrap="square" rtlCol="0" anchor="ctr"/>
          <a:lstStyle/>
          <a:p>
            <a:pPr marL="0" indent="0">
              <a:buNone/>
            </a:pPr>
            <a:r>
              <a:rPr lang="en-US" sz="850" b="1" dirty="0">
                <a:solidFill>
                  <a:srgbClr val="00E5A0"/>
                </a:solidFill>
              </a:rPr>
              <a:t>ML MODEL 2 · Revenue</a:t>
            </a:r>
            <a:endParaRPr lang="en-US" sz="850" dirty="0"/>
          </a:p>
        </p:txBody>
      </p:sp>
      <p:sp>
        <p:nvSpPr>
          <p:cNvPr id="35" name="Shape 33"/>
          <p:cNvSpPr/>
          <p:nvPr/>
        </p:nvSpPr>
        <p:spPr>
          <a:xfrm>
            <a:off x="2450592" y="4791456"/>
            <a:ext cx="4251960" cy="1591056"/>
          </a:xfrm>
          <a:prstGeom prst="rect">
            <a:avLst/>
          </a:prstGeom>
          <a:solidFill>
            <a:srgbClr val="111C2E"/>
          </a:solidFill>
          <a:ln w="15240">
            <a:solidFill>
              <a:srgbClr val="9B7FFF"/>
            </a:solidFill>
            <a:prstDash val="solid"/>
          </a:ln>
          <a:effectLst>
            <a:outerShdw blurRad="127000" dist="38100" dir="8100000" algn="bl" rotWithShape="0">
              <a:srgbClr val="000000">
                <a:alpha val="30000"/>
              </a:srgbClr>
            </a:outerShdw>
          </a:effectLst>
        </p:spPr>
      </p:sp>
      <p:sp>
        <p:nvSpPr>
          <p:cNvPr id="36" name="Shape 34"/>
          <p:cNvSpPr/>
          <p:nvPr/>
        </p:nvSpPr>
        <p:spPr>
          <a:xfrm>
            <a:off x="2450592" y="4791456"/>
            <a:ext cx="45720" cy="1591056"/>
          </a:xfrm>
          <a:prstGeom prst="rect">
            <a:avLst/>
          </a:prstGeom>
          <a:solidFill>
            <a:srgbClr val="9B7FFF"/>
          </a:solidFill>
          <a:ln w="12700">
            <a:solidFill>
              <a:srgbClr val="9B7FFF"/>
            </a:solidFill>
            <a:prstDash val="solid"/>
          </a:ln>
        </p:spPr>
      </p:sp>
      <p:sp>
        <p:nvSpPr>
          <p:cNvPr id="37" name="Text 35"/>
          <p:cNvSpPr/>
          <p:nvPr/>
        </p:nvSpPr>
        <p:spPr>
          <a:xfrm>
            <a:off x="2578608" y="4882896"/>
            <a:ext cx="365760" cy="274320"/>
          </a:xfrm>
          <a:prstGeom prst="rect">
            <a:avLst/>
          </a:prstGeom>
          <a:noFill/>
          <a:ln/>
        </p:spPr>
        <p:txBody>
          <a:bodyPr wrap="square" rtlCol="0" anchor="ctr"/>
          <a:lstStyle/>
          <a:p>
            <a:pPr marL="0" indent="0">
              <a:buNone/>
            </a:pPr>
            <a:r>
              <a:rPr lang="en-US" sz="1400" b="1" dirty="0">
                <a:solidFill>
                  <a:srgbClr val="9B7FFF"/>
                </a:solidFill>
              </a:rPr>
              <a:t>05</a:t>
            </a:r>
            <a:endParaRPr lang="en-US" sz="1400" dirty="0"/>
          </a:p>
        </p:txBody>
      </p:sp>
      <p:sp>
        <p:nvSpPr>
          <p:cNvPr id="38" name="Text 36"/>
          <p:cNvSpPr/>
          <p:nvPr/>
        </p:nvSpPr>
        <p:spPr>
          <a:xfrm>
            <a:off x="2980944" y="4901184"/>
            <a:ext cx="3593592" cy="274320"/>
          </a:xfrm>
          <a:prstGeom prst="rect">
            <a:avLst/>
          </a:prstGeom>
          <a:noFill/>
          <a:ln/>
        </p:spPr>
        <p:txBody>
          <a:bodyPr wrap="square" rtlCol="0" anchor="ctr"/>
          <a:lstStyle/>
          <a:p>
            <a:pPr marL="0" indent="0">
              <a:buNone/>
            </a:pPr>
            <a:r>
              <a:rPr lang="en-US" sz="1050" b="1" dirty="0">
                <a:solidFill>
                  <a:srgbClr val="FFFFFF"/>
                </a:solidFill>
              </a:rPr>
              <a:t>Launch Segment-Based Customer Programs</a:t>
            </a:r>
            <a:endParaRPr lang="en-US" sz="1050" dirty="0"/>
          </a:p>
        </p:txBody>
      </p:sp>
      <p:sp>
        <p:nvSpPr>
          <p:cNvPr id="39" name="Text 37"/>
          <p:cNvSpPr/>
          <p:nvPr/>
        </p:nvSpPr>
        <p:spPr>
          <a:xfrm>
            <a:off x="2578608" y="5230368"/>
            <a:ext cx="4032504" cy="786384"/>
          </a:xfrm>
          <a:prstGeom prst="rect">
            <a:avLst/>
          </a:prstGeom>
          <a:noFill/>
          <a:ln/>
        </p:spPr>
        <p:txBody>
          <a:bodyPr wrap="square" rtlCol="0" anchor="ctr"/>
          <a:lstStyle/>
          <a:p>
            <a:pPr marL="0" indent="0">
              <a:lnSpc>
                <a:spcPct val="130000"/>
              </a:lnSpc>
              <a:buNone/>
            </a:pPr>
            <a:r>
              <a:rPr lang="en-US" sz="950" dirty="0">
                <a:solidFill>
                  <a:srgbClr val="7A90B0"/>
                </a:solidFill>
              </a:rPr>
              <a:t>Clustering reveals 3 clear segments. Target Cluster 1 (4,200 commuters) with monthly subscriptions, Cluster 0 (1,400 high-value) with fast-charge premium plans.</a:t>
            </a:r>
            <a:endParaRPr lang="en-US" sz="950" dirty="0"/>
          </a:p>
        </p:txBody>
      </p:sp>
      <p:sp>
        <p:nvSpPr>
          <p:cNvPr id="40" name="Shape 38"/>
          <p:cNvSpPr/>
          <p:nvPr/>
        </p:nvSpPr>
        <p:spPr>
          <a:xfrm>
            <a:off x="2578608" y="6163056"/>
            <a:ext cx="4023360" cy="164592"/>
          </a:xfrm>
          <a:prstGeom prst="rect">
            <a:avLst/>
          </a:prstGeom>
          <a:solidFill>
            <a:srgbClr val="9B7FFF">
              <a:alpha val="20000"/>
            </a:srgbClr>
          </a:solidFill>
          <a:ln w="12700">
            <a:solidFill>
              <a:srgbClr val="9B7FFF">
                <a:alpha val="60000"/>
              </a:srgbClr>
            </a:solidFill>
            <a:prstDash val="solid"/>
          </a:ln>
        </p:spPr>
      </p:sp>
      <p:sp>
        <p:nvSpPr>
          <p:cNvPr id="41" name="Text 39"/>
          <p:cNvSpPr/>
          <p:nvPr/>
        </p:nvSpPr>
        <p:spPr>
          <a:xfrm>
            <a:off x="2578608" y="6153912"/>
            <a:ext cx="4023360" cy="164592"/>
          </a:xfrm>
          <a:prstGeom prst="rect">
            <a:avLst/>
          </a:prstGeom>
          <a:noFill/>
          <a:ln/>
        </p:spPr>
        <p:txBody>
          <a:bodyPr wrap="square" rtlCol="0" anchor="ctr"/>
          <a:lstStyle/>
          <a:p>
            <a:pPr marL="0" indent="0">
              <a:buNone/>
            </a:pPr>
            <a:r>
              <a:rPr lang="en-US" sz="850" b="1" dirty="0">
                <a:solidFill>
                  <a:srgbClr val="9B7FFF"/>
                </a:solidFill>
              </a:rPr>
              <a:t>ML MODEL 3 · Marketing</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00D4FF">
              <a:alpha val="7000"/>
            </a:srgbClr>
          </a:solidFill>
          <a:ln w="12700">
            <a:solidFill>
              <a:srgbClr val="00D4FF">
                <a:alpha val="7000"/>
              </a:srgbClr>
            </a:solidFill>
            <a:prstDash val="solid"/>
          </a:ln>
        </p:spPr>
      </p:sp>
      <p:sp>
        <p:nvSpPr>
          <p:cNvPr id="3" name="Shape 1"/>
          <p:cNvSpPr/>
          <p:nvPr/>
        </p:nvSpPr>
        <p:spPr>
          <a:xfrm>
            <a:off x="6858000" y="-1828800"/>
            <a:ext cx="5486400" cy="5486400"/>
          </a:xfrm>
          <a:prstGeom prst="ellipse">
            <a:avLst/>
          </a:prstGeom>
          <a:solidFill>
            <a:srgbClr val="9B7FFF">
              <a:alpha val="7000"/>
            </a:srgbClr>
          </a:solidFill>
          <a:ln w="12700">
            <a:solidFill>
              <a:srgbClr val="9B7FFF">
                <a:alpha val="7000"/>
              </a:srgbClr>
            </a:solidFill>
            <a:prstDash val="solid"/>
          </a:ln>
        </p:spPr>
      </p:sp>
      <p:sp>
        <p:nvSpPr>
          <p:cNvPr id="4" name="Shape 2"/>
          <p:cNvSpPr/>
          <p:nvPr/>
        </p:nvSpPr>
        <p:spPr>
          <a:xfrm>
            <a:off x="3200400" y="2743200"/>
            <a:ext cx="4114800" cy="4114800"/>
          </a:xfrm>
          <a:prstGeom prst="ellipse">
            <a:avLst/>
          </a:prstGeom>
          <a:solidFill>
            <a:srgbClr val="00E5A0">
              <a:alpha val="6000"/>
            </a:srgbClr>
          </a:solidFill>
          <a:ln w="12700">
            <a:solidFill>
              <a:srgbClr val="00E5A0">
                <a:alpha val="6000"/>
              </a:srgbClr>
            </a:solidFill>
            <a:prstDash val="solid"/>
          </a:ln>
        </p:spPr>
      </p:sp>
      <p:sp>
        <p:nvSpPr>
          <p:cNvPr id="5" name="Shape 3"/>
          <p:cNvSpPr/>
          <p:nvPr/>
        </p:nvSpPr>
        <p:spPr>
          <a:xfrm>
            <a:off x="0" y="0"/>
            <a:ext cx="64008" cy="5143500"/>
          </a:xfrm>
          <a:prstGeom prst="rect">
            <a:avLst/>
          </a:prstGeom>
          <a:solidFill>
            <a:srgbClr val="00D4FF"/>
          </a:solidFill>
          <a:ln w="12700">
            <a:solidFill>
              <a:srgbClr val="00D4FF"/>
            </a:solidFill>
            <a:prstDash val="solid"/>
          </a:ln>
        </p:spPr>
      </p:sp>
      <p:sp>
        <p:nvSpPr>
          <p:cNvPr id="6" name="Shape 4"/>
          <p:cNvSpPr/>
          <p:nvPr/>
        </p:nvSpPr>
        <p:spPr>
          <a:xfrm>
            <a:off x="1828800" y="411480"/>
            <a:ext cx="5486400" cy="4315968"/>
          </a:xfrm>
          <a:prstGeom prst="rect">
            <a:avLst/>
          </a:prstGeom>
          <a:solidFill>
            <a:srgbClr val="111C2E"/>
          </a:solidFill>
          <a:ln w="15240">
            <a:solidFill>
              <a:srgbClr val="00D4FF"/>
            </a:solidFill>
            <a:prstDash val="solid"/>
          </a:ln>
          <a:effectLst>
            <a:outerShdw blurRad="127000" dist="38100" dir="8100000" algn="bl" rotWithShape="0">
              <a:srgbClr val="000000">
                <a:alpha val="30000"/>
              </a:srgbClr>
            </a:outerShdw>
          </a:effectLst>
        </p:spPr>
      </p:sp>
      <p:sp>
        <p:nvSpPr>
          <p:cNvPr id="7" name="Shape 5"/>
          <p:cNvSpPr/>
          <p:nvPr/>
        </p:nvSpPr>
        <p:spPr>
          <a:xfrm>
            <a:off x="1828800" y="411480"/>
            <a:ext cx="5486400" cy="45720"/>
          </a:xfrm>
          <a:prstGeom prst="rect">
            <a:avLst/>
          </a:prstGeom>
          <a:solidFill>
            <a:srgbClr val="00D4FF"/>
          </a:solidFill>
          <a:ln w="12700">
            <a:solidFill>
              <a:srgbClr val="00D4FF"/>
            </a:solidFill>
            <a:prstDash val="solid"/>
          </a:ln>
        </p:spPr>
      </p:sp>
      <p:sp>
        <p:nvSpPr>
          <p:cNvPr id="8" name="Text 6"/>
          <p:cNvSpPr/>
          <p:nvPr/>
        </p:nvSpPr>
        <p:spPr>
          <a:xfrm>
            <a:off x="1828800" y="566928"/>
            <a:ext cx="5486400" cy="640080"/>
          </a:xfrm>
          <a:prstGeom prst="rect">
            <a:avLst/>
          </a:prstGeom>
          <a:noFill/>
          <a:ln/>
        </p:spPr>
        <p:txBody>
          <a:bodyPr wrap="square" rtlCol="0" anchor="ctr"/>
          <a:lstStyle/>
          <a:p>
            <a:pPr marL="0" indent="0" algn="ctr">
              <a:buNone/>
            </a:pPr>
            <a:r>
              <a:rPr lang="en-US" sz="3600" dirty="0">
                <a:solidFill>
                  <a:srgbClr val="000000"/>
                </a:solidFill>
              </a:rPr>
              <a:t>🙏</a:t>
            </a:r>
            <a:endParaRPr lang="en-US" sz="3600" dirty="0"/>
          </a:p>
        </p:txBody>
      </p:sp>
      <p:sp>
        <p:nvSpPr>
          <p:cNvPr id="9" name="Text 7"/>
          <p:cNvSpPr/>
          <p:nvPr/>
        </p:nvSpPr>
        <p:spPr>
          <a:xfrm>
            <a:off x="1828800" y="1188720"/>
            <a:ext cx="5486400" cy="658368"/>
          </a:xfrm>
          <a:prstGeom prst="rect">
            <a:avLst/>
          </a:prstGeom>
          <a:noFill/>
          <a:ln/>
        </p:spPr>
        <p:txBody>
          <a:bodyPr wrap="square" rtlCol="0" anchor="ctr"/>
          <a:lstStyle/>
          <a:p>
            <a:pPr marL="0" indent="0" algn="ctr">
              <a:buNone/>
            </a:pPr>
            <a:r>
              <a:rPr lang="en-US" sz="4600" b="1" dirty="0">
                <a:solidFill>
                  <a:srgbClr val="00D4FF"/>
                </a:solidFill>
                <a:latin typeface="Calibri" pitchFamily="34" charset="0"/>
                <a:ea typeface="Calibri" pitchFamily="34" charset="-122"/>
                <a:cs typeface="Calibri" pitchFamily="34" charset="-120"/>
              </a:rPr>
              <a:t>Thank You</a:t>
            </a:r>
            <a:endParaRPr lang="en-US" sz="4600" dirty="0"/>
          </a:p>
        </p:txBody>
      </p:sp>
      <p:sp>
        <p:nvSpPr>
          <p:cNvPr id="10" name="Shape 8"/>
          <p:cNvSpPr/>
          <p:nvPr/>
        </p:nvSpPr>
        <p:spPr>
          <a:xfrm>
            <a:off x="3474720" y="1920240"/>
            <a:ext cx="2194560" cy="22860"/>
          </a:xfrm>
          <a:prstGeom prst="rect">
            <a:avLst/>
          </a:prstGeom>
          <a:solidFill>
            <a:srgbClr val="1A2E4A"/>
          </a:solidFill>
          <a:ln w="12700">
            <a:solidFill>
              <a:srgbClr val="1A2E4A"/>
            </a:solidFill>
            <a:prstDash val="solid"/>
          </a:ln>
        </p:spPr>
      </p:sp>
      <p:sp>
        <p:nvSpPr>
          <p:cNvPr id="11" name="Text 9"/>
          <p:cNvSpPr/>
          <p:nvPr/>
        </p:nvSpPr>
        <p:spPr>
          <a:xfrm>
            <a:off x="1828800" y="2011680"/>
            <a:ext cx="5486400" cy="256032"/>
          </a:xfrm>
          <a:prstGeom prst="rect">
            <a:avLst/>
          </a:prstGeom>
          <a:noFill/>
          <a:ln/>
        </p:spPr>
        <p:txBody>
          <a:bodyPr wrap="square" rtlCol="0" anchor="ctr"/>
          <a:lstStyle/>
          <a:p>
            <a:pPr marL="0" indent="0" algn="ctr">
              <a:buNone/>
            </a:pPr>
            <a:r>
              <a:rPr lang="en-US" sz="1100" dirty="0">
                <a:solidFill>
                  <a:srgbClr val="7A90B0"/>
                </a:solidFill>
              </a:rPr>
              <a:t>Presented by</a:t>
            </a:r>
            <a:endParaRPr lang="en-US" sz="1100" dirty="0"/>
          </a:p>
        </p:txBody>
      </p:sp>
      <p:sp>
        <p:nvSpPr>
          <p:cNvPr id="12" name="Text 10"/>
          <p:cNvSpPr/>
          <p:nvPr/>
        </p:nvSpPr>
        <p:spPr>
          <a:xfrm>
            <a:off x="1828800" y="2267712"/>
            <a:ext cx="5486400" cy="475488"/>
          </a:xfrm>
          <a:prstGeom prst="rect">
            <a:avLst/>
          </a:prstGeom>
          <a:noFill/>
          <a:ln/>
        </p:spPr>
        <p:txBody>
          <a:bodyPr wrap="square" rtlCol="0" anchor="ctr"/>
          <a:lstStyle/>
          <a:p>
            <a:pPr marL="0" indent="0" algn="ctr">
              <a:buNone/>
            </a:pPr>
            <a:r>
              <a:rPr lang="en-US" sz="2800" b="1" dirty="0">
                <a:solidFill>
                  <a:srgbClr val="FFFFFF"/>
                </a:solidFill>
              </a:rPr>
              <a:t>Himanshu Sharma</a:t>
            </a:r>
            <a:endParaRPr lang="en-US" sz="2800" dirty="0"/>
          </a:p>
        </p:txBody>
      </p:sp>
      <p:sp>
        <p:nvSpPr>
          <p:cNvPr id="13" name="Text 11"/>
          <p:cNvSpPr/>
          <p:nvPr/>
        </p:nvSpPr>
        <p:spPr>
          <a:xfrm>
            <a:off x="1828800" y="2743200"/>
            <a:ext cx="5486400" cy="274320"/>
          </a:xfrm>
          <a:prstGeom prst="rect">
            <a:avLst/>
          </a:prstGeom>
          <a:noFill/>
          <a:ln/>
        </p:spPr>
        <p:txBody>
          <a:bodyPr wrap="square" rtlCol="0" anchor="ctr"/>
          <a:lstStyle/>
          <a:p>
            <a:pPr marL="0" indent="0" algn="ctr">
              <a:buNone/>
            </a:pPr>
            <a:r>
              <a:rPr lang="en-US" sz="1200" dirty="0">
                <a:solidFill>
                  <a:srgbClr val="7A90B0"/>
                </a:solidFill>
              </a:rPr>
              <a:t>Data Analyst  ·  Warsaw EV Infrastructure Team</a:t>
            </a:r>
            <a:endParaRPr lang="en-US" sz="1200" dirty="0"/>
          </a:p>
        </p:txBody>
      </p:sp>
      <p:sp>
        <p:nvSpPr>
          <p:cNvPr id="14" name="Shape 12"/>
          <p:cNvSpPr/>
          <p:nvPr/>
        </p:nvSpPr>
        <p:spPr>
          <a:xfrm>
            <a:off x="3474720" y="3090672"/>
            <a:ext cx="2194560" cy="22860"/>
          </a:xfrm>
          <a:prstGeom prst="rect">
            <a:avLst/>
          </a:prstGeom>
          <a:solidFill>
            <a:srgbClr val="1A2E4A"/>
          </a:solidFill>
          <a:ln w="12700">
            <a:solidFill>
              <a:srgbClr val="1A2E4A"/>
            </a:solidFill>
            <a:prstDash val="solid"/>
          </a:ln>
        </p:spPr>
      </p:sp>
      <p:sp>
        <p:nvSpPr>
          <p:cNvPr id="15" name="Text 13"/>
          <p:cNvSpPr/>
          <p:nvPr/>
        </p:nvSpPr>
        <p:spPr>
          <a:xfrm>
            <a:off x="1828800" y="3200400"/>
            <a:ext cx="5486400" cy="256032"/>
          </a:xfrm>
          <a:prstGeom prst="rect">
            <a:avLst/>
          </a:prstGeom>
          <a:noFill/>
          <a:ln/>
        </p:spPr>
        <p:txBody>
          <a:bodyPr wrap="square" rtlCol="0" anchor="ctr"/>
          <a:lstStyle/>
          <a:p>
            <a:pPr marL="0" indent="0" algn="ctr">
              <a:buNone/>
            </a:pPr>
            <a:r>
              <a:rPr lang="en-US" sz="950" i="1" dirty="0">
                <a:solidFill>
                  <a:srgbClr val="7A90B0"/>
                </a:solidFill>
              </a:rPr>
              <a:t>Warsaw EV Charging Network Analytics  ·  SQL + Power BI + ML  ·  Capstone 2025</a:t>
            </a:r>
            <a:endParaRPr lang="en-US" sz="950" dirty="0"/>
          </a:p>
        </p:txBody>
      </p:sp>
      <p:sp>
        <p:nvSpPr>
          <p:cNvPr id="16" name="Shape 14"/>
          <p:cNvSpPr/>
          <p:nvPr/>
        </p:nvSpPr>
        <p:spPr>
          <a:xfrm>
            <a:off x="1993392" y="3611880"/>
            <a:ext cx="1572768" cy="777240"/>
          </a:xfrm>
          <a:prstGeom prst="rect">
            <a:avLst/>
          </a:prstGeom>
          <a:solidFill>
            <a:srgbClr val="0D1829"/>
          </a:solidFill>
          <a:ln w="12700">
            <a:solidFill>
              <a:srgbClr val="00D4FF"/>
            </a:solidFill>
            <a:prstDash val="solid"/>
          </a:ln>
        </p:spPr>
      </p:sp>
      <p:sp>
        <p:nvSpPr>
          <p:cNvPr id="17" name="Text 15"/>
          <p:cNvSpPr/>
          <p:nvPr/>
        </p:nvSpPr>
        <p:spPr>
          <a:xfrm>
            <a:off x="1993392" y="3675888"/>
            <a:ext cx="1572768" cy="237744"/>
          </a:xfrm>
          <a:prstGeom prst="rect">
            <a:avLst/>
          </a:prstGeom>
          <a:noFill/>
          <a:ln/>
        </p:spPr>
        <p:txBody>
          <a:bodyPr wrap="square" rtlCol="0" anchor="ctr"/>
          <a:lstStyle/>
          <a:p>
            <a:pPr marL="0" indent="0" algn="ctr">
              <a:buNone/>
            </a:pPr>
            <a:r>
              <a:rPr lang="en-US" sz="1100" b="1" dirty="0">
                <a:solidFill>
                  <a:srgbClr val="00D4FF"/>
                </a:solidFill>
              </a:rPr>
              <a:t>Part 1</a:t>
            </a:r>
            <a:endParaRPr lang="en-US" sz="1100" dirty="0"/>
          </a:p>
        </p:txBody>
      </p:sp>
      <p:sp>
        <p:nvSpPr>
          <p:cNvPr id="18" name="Text 16"/>
          <p:cNvSpPr/>
          <p:nvPr/>
        </p:nvSpPr>
        <p:spPr>
          <a:xfrm>
            <a:off x="1993392" y="3913632"/>
            <a:ext cx="1572768" cy="384048"/>
          </a:xfrm>
          <a:prstGeom prst="rect">
            <a:avLst/>
          </a:prstGeom>
          <a:noFill/>
          <a:ln/>
        </p:spPr>
        <p:txBody>
          <a:bodyPr wrap="square" rtlCol="0" anchor="ctr"/>
          <a:lstStyle/>
          <a:p>
            <a:pPr marL="0" indent="0" algn="ctr">
              <a:buNone/>
            </a:pPr>
            <a:r>
              <a:rPr lang="en-US" sz="850" dirty="0">
                <a:solidFill>
                  <a:srgbClr val="7A90B0"/>
                </a:solidFill>
              </a:rPr>
              <a:t>SQL</a:t>
            </a:r>
            <a:endParaRPr lang="en-US" sz="850" dirty="0"/>
          </a:p>
          <a:p>
            <a:pPr marL="0" indent="0" algn="ctr">
              <a:buNone/>
            </a:pPr>
            <a:r>
              <a:rPr lang="en-US" sz="850" dirty="0">
                <a:solidFill>
                  <a:srgbClr val="7A90B0"/>
                </a:solidFill>
              </a:rPr>
              <a:t>14 Queries</a:t>
            </a:r>
            <a:endParaRPr lang="en-US" sz="850" dirty="0"/>
          </a:p>
        </p:txBody>
      </p:sp>
      <p:sp>
        <p:nvSpPr>
          <p:cNvPr id="19" name="Shape 17"/>
          <p:cNvSpPr/>
          <p:nvPr/>
        </p:nvSpPr>
        <p:spPr>
          <a:xfrm>
            <a:off x="3730752" y="3611880"/>
            <a:ext cx="1572768" cy="777240"/>
          </a:xfrm>
          <a:prstGeom prst="rect">
            <a:avLst/>
          </a:prstGeom>
          <a:solidFill>
            <a:srgbClr val="0D1829"/>
          </a:solidFill>
          <a:ln w="12700">
            <a:solidFill>
              <a:srgbClr val="00E5A0"/>
            </a:solidFill>
            <a:prstDash val="solid"/>
          </a:ln>
        </p:spPr>
      </p:sp>
      <p:sp>
        <p:nvSpPr>
          <p:cNvPr id="20" name="Text 18"/>
          <p:cNvSpPr/>
          <p:nvPr/>
        </p:nvSpPr>
        <p:spPr>
          <a:xfrm>
            <a:off x="3730752" y="3675888"/>
            <a:ext cx="1572768" cy="237744"/>
          </a:xfrm>
          <a:prstGeom prst="rect">
            <a:avLst/>
          </a:prstGeom>
          <a:noFill/>
          <a:ln/>
        </p:spPr>
        <p:txBody>
          <a:bodyPr wrap="square" rtlCol="0" anchor="ctr"/>
          <a:lstStyle/>
          <a:p>
            <a:pPr marL="0" indent="0" algn="ctr">
              <a:buNone/>
            </a:pPr>
            <a:r>
              <a:rPr lang="en-US" sz="1100" b="1" dirty="0">
                <a:solidFill>
                  <a:srgbClr val="00E5A0"/>
                </a:solidFill>
              </a:rPr>
              <a:t>Part 2</a:t>
            </a:r>
            <a:endParaRPr lang="en-US" sz="1100" dirty="0"/>
          </a:p>
        </p:txBody>
      </p:sp>
      <p:sp>
        <p:nvSpPr>
          <p:cNvPr id="21" name="Text 19"/>
          <p:cNvSpPr/>
          <p:nvPr/>
        </p:nvSpPr>
        <p:spPr>
          <a:xfrm>
            <a:off x="3730752" y="3913632"/>
            <a:ext cx="1572768" cy="384048"/>
          </a:xfrm>
          <a:prstGeom prst="rect">
            <a:avLst/>
          </a:prstGeom>
          <a:noFill/>
          <a:ln/>
        </p:spPr>
        <p:txBody>
          <a:bodyPr wrap="square" rtlCol="0" anchor="ctr"/>
          <a:lstStyle/>
          <a:p>
            <a:pPr marL="0" indent="0" algn="ctr">
              <a:buNone/>
            </a:pPr>
            <a:r>
              <a:rPr lang="en-US" sz="850" dirty="0">
                <a:solidFill>
                  <a:srgbClr val="7A90B0"/>
                </a:solidFill>
              </a:rPr>
              <a:t>Power BI</a:t>
            </a:r>
            <a:endParaRPr lang="en-US" sz="850" dirty="0"/>
          </a:p>
          <a:p>
            <a:pPr marL="0" indent="0" algn="ctr">
              <a:buNone/>
            </a:pPr>
            <a:r>
              <a:rPr lang="en-US" sz="850" dirty="0">
                <a:solidFill>
                  <a:srgbClr val="7A90B0"/>
                </a:solidFill>
              </a:rPr>
              <a:t>4 Pages</a:t>
            </a:r>
            <a:endParaRPr lang="en-US" sz="850" dirty="0"/>
          </a:p>
        </p:txBody>
      </p:sp>
      <p:sp>
        <p:nvSpPr>
          <p:cNvPr id="22" name="Shape 20"/>
          <p:cNvSpPr/>
          <p:nvPr/>
        </p:nvSpPr>
        <p:spPr>
          <a:xfrm>
            <a:off x="5468112" y="3611880"/>
            <a:ext cx="1572768" cy="777240"/>
          </a:xfrm>
          <a:prstGeom prst="rect">
            <a:avLst/>
          </a:prstGeom>
          <a:solidFill>
            <a:srgbClr val="0D1829"/>
          </a:solidFill>
          <a:ln w="12700">
            <a:solidFill>
              <a:srgbClr val="9B7FFF"/>
            </a:solidFill>
            <a:prstDash val="solid"/>
          </a:ln>
        </p:spPr>
      </p:sp>
      <p:sp>
        <p:nvSpPr>
          <p:cNvPr id="23" name="Text 21"/>
          <p:cNvSpPr/>
          <p:nvPr/>
        </p:nvSpPr>
        <p:spPr>
          <a:xfrm>
            <a:off x="5468112" y="3675888"/>
            <a:ext cx="1572768" cy="237744"/>
          </a:xfrm>
          <a:prstGeom prst="rect">
            <a:avLst/>
          </a:prstGeom>
          <a:noFill/>
          <a:ln/>
        </p:spPr>
        <p:txBody>
          <a:bodyPr wrap="square" rtlCol="0" anchor="ctr"/>
          <a:lstStyle/>
          <a:p>
            <a:pPr marL="0" indent="0" algn="ctr">
              <a:buNone/>
            </a:pPr>
            <a:r>
              <a:rPr lang="en-US" sz="1100" b="1" dirty="0">
                <a:solidFill>
                  <a:srgbClr val="9B7FFF"/>
                </a:solidFill>
              </a:rPr>
              <a:t>Part 3</a:t>
            </a:r>
            <a:endParaRPr lang="en-US" sz="1100" dirty="0"/>
          </a:p>
        </p:txBody>
      </p:sp>
      <p:sp>
        <p:nvSpPr>
          <p:cNvPr id="24" name="Text 22"/>
          <p:cNvSpPr/>
          <p:nvPr/>
        </p:nvSpPr>
        <p:spPr>
          <a:xfrm>
            <a:off x="5468112" y="3913632"/>
            <a:ext cx="1572768" cy="384048"/>
          </a:xfrm>
          <a:prstGeom prst="rect">
            <a:avLst/>
          </a:prstGeom>
          <a:noFill/>
          <a:ln/>
        </p:spPr>
        <p:txBody>
          <a:bodyPr wrap="square" rtlCol="0" anchor="ctr"/>
          <a:lstStyle/>
          <a:p>
            <a:pPr marL="0" indent="0" algn="ctr">
              <a:buNone/>
            </a:pPr>
            <a:r>
              <a:rPr lang="en-US" sz="850" dirty="0">
                <a:solidFill>
                  <a:srgbClr val="7A90B0"/>
                </a:solidFill>
              </a:rPr>
              <a:t>ML</a:t>
            </a:r>
            <a:endParaRPr lang="en-US" sz="850" dirty="0"/>
          </a:p>
          <a:p>
            <a:pPr marL="0" indent="0" algn="ctr">
              <a:buNone/>
            </a:pPr>
            <a:r>
              <a:rPr lang="en-US" sz="850" dirty="0">
                <a:solidFill>
                  <a:srgbClr val="7A90B0"/>
                </a:solidFill>
              </a:rPr>
              <a:t>3 Models</a:t>
            </a:r>
            <a:endParaRPr lang="en-US" sz="850" dirty="0"/>
          </a:p>
        </p:txBody>
      </p:sp>
      <p:sp>
        <p:nvSpPr>
          <p:cNvPr id="25" name="Shape 23"/>
          <p:cNvSpPr/>
          <p:nvPr/>
        </p:nvSpPr>
        <p:spPr>
          <a:xfrm>
            <a:off x="256032" y="4608576"/>
            <a:ext cx="1609344" cy="402336"/>
          </a:xfrm>
          <a:prstGeom prst="rect">
            <a:avLst/>
          </a:prstGeom>
          <a:solidFill>
            <a:srgbClr val="0D1829"/>
          </a:solidFill>
          <a:ln w="12700">
            <a:solidFill>
              <a:srgbClr val="1A2E4A"/>
            </a:solidFill>
            <a:prstDash val="solid"/>
          </a:ln>
        </p:spPr>
      </p:sp>
      <p:sp>
        <p:nvSpPr>
          <p:cNvPr id="26" name="Text 24"/>
          <p:cNvSpPr/>
          <p:nvPr/>
        </p:nvSpPr>
        <p:spPr>
          <a:xfrm>
            <a:off x="256032" y="4626864"/>
            <a:ext cx="1609344" cy="219456"/>
          </a:xfrm>
          <a:prstGeom prst="rect">
            <a:avLst/>
          </a:prstGeom>
          <a:noFill/>
          <a:ln/>
        </p:spPr>
        <p:txBody>
          <a:bodyPr wrap="square" rtlCol="0" anchor="ctr"/>
          <a:lstStyle/>
          <a:p>
            <a:pPr marL="0" indent="0" algn="ctr">
              <a:buNone/>
            </a:pPr>
            <a:r>
              <a:rPr lang="en-US" sz="1300" b="1" dirty="0">
                <a:solidFill>
                  <a:srgbClr val="00D4FF"/>
                </a:solidFill>
              </a:rPr>
              <a:t>114K</a:t>
            </a:r>
            <a:endParaRPr lang="en-US" sz="1300" dirty="0"/>
          </a:p>
        </p:txBody>
      </p:sp>
      <p:sp>
        <p:nvSpPr>
          <p:cNvPr id="27" name="Text 25"/>
          <p:cNvSpPr/>
          <p:nvPr/>
        </p:nvSpPr>
        <p:spPr>
          <a:xfrm>
            <a:off x="256032" y="4846320"/>
            <a:ext cx="1609344" cy="164592"/>
          </a:xfrm>
          <a:prstGeom prst="rect">
            <a:avLst/>
          </a:prstGeom>
          <a:noFill/>
          <a:ln/>
        </p:spPr>
        <p:txBody>
          <a:bodyPr wrap="square" rtlCol="0" anchor="ctr"/>
          <a:lstStyle/>
          <a:p>
            <a:pPr marL="0" indent="0" algn="ctr">
              <a:buNone/>
            </a:pPr>
            <a:r>
              <a:rPr lang="en-US" sz="900" dirty="0">
                <a:solidFill>
                  <a:srgbClr val="7A90B0"/>
                </a:solidFill>
              </a:rPr>
              <a:t>Sessions</a:t>
            </a:r>
            <a:endParaRPr lang="en-US" sz="900" dirty="0"/>
          </a:p>
        </p:txBody>
      </p:sp>
      <p:sp>
        <p:nvSpPr>
          <p:cNvPr id="28" name="Shape 26"/>
          <p:cNvSpPr/>
          <p:nvPr/>
        </p:nvSpPr>
        <p:spPr>
          <a:xfrm>
            <a:off x="1993392" y="4608576"/>
            <a:ext cx="1609344" cy="402336"/>
          </a:xfrm>
          <a:prstGeom prst="rect">
            <a:avLst/>
          </a:prstGeom>
          <a:solidFill>
            <a:srgbClr val="0D1829"/>
          </a:solidFill>
          <a:ln w="12700">
            <a:solidFill>
              <a:srgbClr val="1A2E4A"/>
            </a:solidFill>
            <a:prstDash val="solid"/>
          </a:ln>
        </p:spPr>
      </p:sp>
      <p:sp>
        <p:nvSpPr>
          <p:cNvPr id="29" name="Text 27"/>
          <p:cNvSpPr/>
          <p:nvPr/>
        </p:nvSpPr>
        <p:spPr>
          <a:xfrm>
            <a:off x="1993392" y="4626864"/>
            <a:ext cx="1609344" cy="219456"/>
          </a:xfrm>
          <a:prstGeom prst="rect">
            <a:avLst/>
          </a:prstGeom>
          <a:noFill/>
          <a:ln/>
        </p:spPr>
        <p:txBody>
          <a:bodyPr wrap="square" rtlCol="0" anchor="ctr"/>
          <a:lstStyle/>
          <a:p>
            <a:pPr marL="0" indent="0" algn="ctr">
              <a:buNone/>
            </a:pPr>
            <a:r>
              <a:rPr lang="en-US" sz="1300" b="1" dirty="0">
                <a:solidFill>
                  <a:srgbClr val="00D4FF"/>
                </a:solidFill>
              </a:rPr>
              <a:t>65</a:t>
            </a:r>
            <a:endParaRPr lang="en-US" sz="1300" dirty="0"/>
          </a:p>
        </p:txBody>
      </p:sp>
      <p:sp>
        <p:nvSpPr>
          <p:cNvPr id="30" name="Text 28"/>
          <p:cNvSpPr/>
          <p:nvPr/>
        </p:nvSpPr>
        <p:spPr>
          <a:xfrm>
            <a:off x="1993392" y="4846320"/>
            <a:ext cx="1609344" cy="164592"/>
          </a:xfrm>
          <a:prstGeom prst="rect">
            <a:avLst/>
          </a:prstGeom>
          <a:noFill/>
          <a:ln/>
        </p:spPr>
        <p:txBody>
          <a:bodyPr wrap="square" rtlCol="0" anchor="ctr"/>
          <a:lstStyle/>
          <a:p>
            <a:pPr marL="0" indent="0" algn="ctr">
              <a:buNone/>
            </a:pPr>
            <a:r>
              <a:rPr lang="en-US" sz="900" dirty="0">
                <a:solidFill>
                  <a:srgbClr val="7A90B0"/>
                </a:solidFill>
              </a:rPr>
              <a:t>Stations</a:t>
            </a:r>
            <a:endParaRPr lang="en-US" sz="900" dirty="0"/>
          </a:p>
        </p:txBody>
      </p:sp>
      <p:sp>
        <p:nvSpPr>
          <p:cNvPr id="31" name="Shape 29"/>
          <p:cNvSpPr/>
          <p:nvPr/>
        </p:nvSpPr>
        <p:spPr>
          <a:xfrm>
            <a:off x="3730752" y="4608576"/>
            <a:ext cx="1609344" cy="402336"/>
          </a:xfrm>
          <a:prstGeom prst="rect">
            <a:avLst/>
          </a:prstGeom>
          <a:solidFill>
            <a:srgbClr val="0D1829"/>
          </a:solidFill>
          <a:ln w="12700">
            <a:solidFill>
              <a:srgbClr val="1A2E4A"/>
            </a:solidFill>
            <a:prstDash val="solid"/>
          </a:ln>
        </p:spPr>
      </p:sp>
      <p:sp>
        <p:nvSpPr>
          <p:cNvPr id="32" name="Text 30"/>
          <p:cNvSpPr/>
          <p:nvPr/>
        </p:nvSpPr>
        <p:spPr>
          <a:xfrm>
            <a:off x="3730752" y="4626864"/>
            <a:ext cx="1609344" cy="219456"/>
          </a:xfrm>
          <a:prstGeom prst="rect">
            <a:avLst/>
          </a:prstGeom>
          <a:noFill/>
          <a:ln/>
        </p:spPr>
        <p:txBody>
          <a:bodyPr wrap="square" rtlCol="0" anchor="ctr"/>
          <a:lstStyle/>
          <a:p>
            <a:pPr marL="0" indent="0" algn="ctr">
              <a:buNone/>
            </a:pPr>
            <a:r>
              <a:rPr lang="en-US" sz="1300" b="1" dirty="0">
                <a:solidFill>
                  <a:srgbClr val="00D4FF"/>
                </a:solidFill>
              </a:rPr>
              <a:t>zł11.4M</a:t>
            </a:r>
            <a:endParaRPr lang="en-US" sz="1300" dirty="0"/>
          </a:p>
        </p:txBody>
      </p:sp>
      <p:sp>
        <p:nvSpPr>
          <p:cNvPr id="33" name="Text 31"/>
          <p:cNvSpPr/>
          <p:nvPr/>
        </p:nvSpPr>
        <p:spPr>
          <a:xfrm>
            <a:off x="3730752" y="4846320"/>
            <a:ext cx="1609344" cy="164592"/>
          </a:xfrm>
          <a:prstGeom prst="rect">
            <a:avLst/>
          </a:prstGeom>
          <a:noFill/>
          <a:ln/>
        </p:spPr>
        <p:txBody>
          <a:bodyPr wrap="square" rtlCol="0" anchor="ctr"/>
          <a:lstStyle/>
          <a:p>
            <a:pPr marL="0" indent="0" algn="ctr">
              <a:buNone/>
            </a:pPr>
            <a:r>
              <a:rPr lang="en-US" sz="900" dirty="0">
                <a:solidFill>
                  <a:srgbClr val="7A90B0"/>
                </a:solidFill>
              </a:rPr>
              <a:t>Revenue</a:t>
            </a:r>
            <a:endParaRPr lang="en-US" sz="900" dirty="0"/>
          </a:p>
        </p:txBody>
      </p:sp>
      <p:sp>
        <p:nvSpPr>
          <p:cNvPr id="34" name="Shape 32"/>
          <p:cNvSpPr/>
          <p:nvPr/>
        </p:nvSpPr>
        <p:spPr>
          <a:xfrm>
            <a:off x="5468112" y="4608576"/>
            <a:ext cx="1609344" cy="402336"/>
          </a:xfrm>
          <a:prstGeom prst="rect">
            <a:avLst/>
          </a:prstGeom>
          <a:solidFill>
            <a:srgbClr val="0D1829"/>
          </a:solidFill>
          <a:ln w="12700">
            <a:solidFill>
              <a:srgbClr val="1A2E4A"/>
            </a:solidFill>
            <a:prstDash val="solid"/>
          </a:ln>
        </p:spPr>
      </p:sp>
      <p:sp>
        <p:nvSpPr>
          <p:cNvPr id="35" name="Text 33"/>
          <p:cNvSpPr/>
          <p:nvPr/>
        </p:nvSpPr>
        <p:spPr>
          <a:xfrm>
            <a:off x="5468112" y="4626864"/>
            <a:ext cx="1609344" cy="219456"/>
          </a:xfrm>
          <a:prstGeom prst="rect">
            <a:avLst/>
          </a:prstGeom>
          <a:noFill/>
          <a:ln/>
        </p:spPr>
        <p:txBody>
          <a:bodyPr wrap="square" rtlCol="0" anchor="ctr"/>
          <a:lstStyle/>
          <a:p>
            <a:pPr marL="0" indent="0" algn="ctr">
              <a:buNone/>
            </a:pPr>
            <a:r>
              <a:rPr lang="en-US" sz="1300" b="1" dirty="0">
                <a:solidFill>
                  <a:srgbClr val="00D4FF"/>
                </a:solidFill>
              </a:rPr>
              <a:t>18</a:t>
            </a:r>
            <a:endParaRPr lang="en-US" sz="1300" dirty="0"/>
          </a:p>
        </p:txBody>
      </p:sp>
      <p:sp>
        <p:nvSpPr>
          <p:cNvPr id="36" name="Text 34"/>
          <p:cNvSpPr/>
          <p:nvPr/>
        </p:nvSpPr>
        <p:spPr>
          <a:xfrm>
            <a:off x="5468112" y="4846320"/>
            <a:ext cx="1609344" cy="164592"/>
          </a:xfrm>
          <a:prstGeom prst="rect">
            <a:avLst/>
          </a:prstGeom>
          <a:noFill/>
          <a:ln/>
        </p:spPr>
        <p:txBody>
          <a:bodyPr wrap="square" rtlCol="0" anchor="ctr"/>
          <a:lstStyle/>
          <a:p>
            <a:pPr marL="0" indent="0" algn="ctr">
              <a:buNone/>
            </a:pPr>
            <a:r>
              <a:rPr lang="en-US" sz="900" dirty="0">
                <a:solidFill>
                  <a:srgbClr val="7A90B0"/>
                </a:solidFill>
              </a:rPr>
              <a:t>Districts</a:t>
            </a:r>
            <a:endParaRPr lang="en-US" sz="900" dirty="0"/>
          </a:p>
        </p:txBody>
      </p:sp>
      <p:sp>
        <p:nvSpPr>
          <p:cNvPr id="37" name="Shape 35"/>
          <p:cNvSpPr/>
          <p:nvPr/>
        </p:nvSpPr>
        <p:spPr>
          <a:xfrm>
            <a:off x="7205472" y="4608576"/>
            <a:ext cx="1609344" cy="402336"/>
          </a:xfrm>
          <a:prstGeom prst="rect">
            <a:avLst/>
          </a:prstGeom>
          <a:solidFill>
            <a:srgbClr val="0D1829"/>
          </a:solidFill>
          <a:ln w="12700">
            <a:solidFill>
              <a:srgbClr val="1A2E4A"/>
            </a:solidFill>
            <a:prstDash val="solid"/>
          </a:ln>
        </p:spPr>
      </p:sp>
      <p:sp>
        <p:nvSpPr>
          <p:cNvPr id="38" name="Text 36"/>
          <p:cNvSpPr/>
          <p:nvPr/>
        </p:nvSpPr>
        <p:spPr>
          <a:xfrm>
            <a:off x="7205472" y="4626864"/>
            <a:ext cx="1609344" cy="219456"/>
          </a:xfrm>
          <a:prstGeom prst="rect">
            <a:avLst/>
          </a:prstGeom>
          <a:noFill/>
          <a:ln/>
        </p:spPr>
        <p:txBody>
          <a:bodyPr wrap="square" rtlCol="0" anchor="ctr"/>
          <a:lstStyle/>
          <a:p>
            <a:pPr marL="0" indent="0" algn="ctr">
              <a:buNone/>
            </a:pPr>
            <a:r>
              <a:rPr lang="en-US" sz="1300" b="1" dirty="0">
                <a:solidFill>
                  <a:srgbClr val="00D4FF"/>
                </a:solidFill>
              </a:rPr>
              <a:t>8K</a:t>
            </a:r>
            <a:endParaRPr lang="en-US" sz="1300" dirty="0"/>
          </a:p>
        </p:txBody>
      </p:sp>
      <p:sp>
        <p:nvSpPr>
          <p:cNvPr id="39" name="Text 37"/>
          <p:cNvSpPr/>
          <p:nvPr/>
        </p:nvSpPr>
        <p:spPr>
          <a:xfrm>
            <a:off x="7205472" y="4846320"/>
            <a:ext cx="1609344" cy="164592"/>
          </a:xfrm>
          <a:prstGeom prst="rect">
            <a:avLst/>
          </a:prstGeom>
          <a:noFill/>
          <a:ln/>
        </p:spPr>
        <p:txBody>
          <a:bodyPr wrap="square" rtlCol="0" anchor="ctr"/>
          <a:lstStyle/>
          <a:p>
            <a:pPr marL="0" indent="0" algn="ctr">
              <a:buNone/>
            </a:pPr>
            <a:r>
              <a:rPr lang="en-US" sz="900" dirty="0">
                <a:solidFill>
                  <a:srgbClr val="7A90B0"/>
                </a:solidFill>
              </a:rPr>
              <a:t>Customers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4239</Words>
  <Application>Microsoft Office PowerPoint</Application>
  <PresentationFormat>On-screen Show (16:9)</PresentationFormat>
  <Paragraphs>569</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himanshu kr. sharma</cp:lastModifiedBy>
  <cp:revision>2</cp:revision>
  <dcterms:created xsi:type="dcterms:W3CDTF">2026-04-24T14:21:33Z</dcterms:created>
  <dcterms:modified xsi:type="dcterms:W3CDTF">2026-05-12T19:42:06Z</dcterms:modified>
</cp:coreProperties>
</file>